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81" r:id="rId2"/>
    <p:sldId id="257" r:id="rId3"/>
    <p:sldId id="382" r:id="rId4"/>
    <p:sldId id="407" r:id="rId5"/>
    <p:sldId id="408" r:id="rId6"/>
    <p:sldId id="384" r:id="rId7"/>
    <p:sldId id="385" r:id="rId8"/>
    <p:sldId id="387" r:id="rId9"/>
    <p:sldId id="418" r:id="rId10"/>
    <p:sldId id="401" r:id="rId11"/>
    <p:sldId id="402" r:id="rId12"/>
    <p:sldId id="409" r:id="rId13"/>
    <p:sldId id="410" r:id="rId14"/>
    <p:sldId id="412" r:id="rId15"/>
    <p:sldId id="411" r:id="rId16"/>
    <p:sldId id="413" r:id="rId17"/>
    <p:sldId id="419" r:id="rId18"/>
    <p:sldId id="414" r:id="rId19"/>
    <p:sldId id="415" r:id="rId20"/>
    <p:sldId id="416" r:id="rId21"/>
    <p:sldId id="417" r:id="rId22"/>
    <p:sldId id="424" r:id="rId23"/>
    <p:sldId id="420" r:id="rId24"/>
    <p:sldId id="425" r:id="rId25"/>
    <p:sldId id="42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910" autoAdjust="0"/>
  </p:normalViewPr>
  <p:slideViewPr>
    <p:cSldViewPr snapToGrid="0">
      <p:cViewPr varScale="1">
        <p:scale>
          <a:sx n="65" d="100"/>
          <a:sy n="65" d="100"/>
        </p:scale>
        <p:origin x="128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AFE8EE-23C5-4D2D-88F3-10015487119E}" type="datetimeFigureOut">
              <a:rPr lang="en-US" smtClean="0"/>
              <a:t>10/29/2026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59F99F-E0D4-43CE-ADE4-9F983422FA71}" type="slidenum">
              <a:rPr lang="en-US" smtClean="0"/>
              <a:t>‹N°›</a:t>
            </a:fld>
            <a:endParaRPr lang="en-US"/>
          </a:p>
        </p:txBody>
      </p:sp>
    </p:spTree>
    <p:extLst>
      <p:ext uri="{BB962C8B-B14F-4D97-AF65-F5344CB8AC3E}">
        <p14:creationId xmlns:p14="http://schemas.microsoft.com/office/powerpoint/2010/main" val="2876331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Good morning everyone. Imagine a manufacturer in western Denmark whose production depends on electricity every hour. It cannot control electricity prices, but it needs predictable costs. Our project asks a simple question: can price movements in neighboring markets help reduce the risk it faces in DK1? We use optimization to compare three approaches.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We'll start with the company's problem and why DK1 matters, then explain our data and optimization methods. After that, we'll compare the results and finish with what we can conclude from this study.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6" name="Google Shape;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Let's begin with the business problem, before moving to the mathematics.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9BF1145C-BE01-3F76-D0F5-14066866C2B8}"/>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38FAB650-34CF-87DF-E051-1838EDE8FC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74405F3E-3AFD-3E4B-607E-84B519FCAE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Our client is a hypothetical electricity-intensive manufacturer in western Denmark, known as DK1. Sudden price increases can make its electricity expenditure less predictable and put pressure on margins. Management wants to stabilize this exposure, rather than simply chase the lowest possible average price. So we explore whether neighboring electricity markets can act as statistical hedges.</a:t>
            </a:r>
          </a:p>
        </p:txBody>
      </p:sp>
    </p:spTree>
    <p:extLst>
      <p:ext uri="{BB962C8B-B14F-4D97-AF65-F5344CB8AC3E}">
        <p14:creationId xmlns:p14="http://schemas.microsoft.com/office/powerpoint/2010/main" val="3077663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ADA7C921-9417-0DF9-2C88-0C1B97C56A93}"/>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06201E07-3531-7420-DEC2-E8AFE277D3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61E03A8F-CADA-275C-02AF-ADB62D037A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In reality, the company's electricity cost is consumption multiplied by price. Since we don't have its actual hourly consumption or procurement contracts, we focus on something we can measure: hourly changes in DK1 prices. Our research question becomes: can a combination of other markets reduce the variability of those changes?</a:t>
            </a:r>
          </a:p>
        </p:txBody>
      </p:sp>
    </p:spTree>
    <p:extLst>
      <p:ext uri="{BB962C8B-B14F-4D97-AF65-F5344CB8AC3E}">
        <p14:creationId xmlns:p14="http://schemas.microsoft.com/office/powerpoint/2010/main" val="3521939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83c7c63cf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DK1 is particularly interesting because wind generation plays a major role. Wind output varies with weather, influencing electricity supply and sometimes contributing to very low or negative prices. This creates an unpredictable environment for a company that needs electricity continuously.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1A23688-40D7-A876-533A-432BFD4A776F}"/>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E030318D-5E08-81A7-E530-555E6D22B4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34602849-73EC-B349-7A12-9895B7E04F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DK1 is also closely connected to Germany and the Nordic markets. Electricity flows across borders, so their prices often move together. That gives us the idea behind our hedge: use movements in other markets to offset part of DK1's movements.</a:t>
            </a:r>
          </a:p>
        </p:txBody>
      </p:sp>
    </p:spTree>
    <p:extLst>
      <p:ext uri="{BB962C8B-B14F-4D97-AF65-F5344CB8AC3E}">
        <p14:creationId xmlns:p14="http://schemas.microsoft.com/office/powerpoint/2010/main" val="2454536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6718A5F4-450B-F2E9-8886-888F412C5544}"/>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60C228C2-FEBB-2F15-6525-0FB17987DE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2C237C8D-5FE0-C5E0-FA2A-22DDDA3972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Finally, the energy crisis changed the market dramatically. Prices surged and the usual patterns became less stable. That's why we cannot judge a hedge only on the data used to build it. We need to test whether it works on later observations.</a:t>
            </a:r>
          </a:p>
        </p:txBody>
      </p:sp>
    </p:spTree>
    <p:extLst>
      <p:ext uri="{BB962C8B-B14F-4D97-AF65-F5344CB8AC3E}">
        <p14:creationId xmlns:p14="http://schemas.microsoft.com/office/powerpoint/2010/main" val="2385992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8C283C38-B6AE-2966-E6E1-5F76EF3BF005}"/>
            </a:ext>
          </a:extLst>
        </p:cNvPr>
        <p:cNvGrpSpPr/>
        <p:nvPr/>
      </p:nvGrpSpPr>
      <p:grpSpPr>
        <a:xfrm>
          <a:off x="0" y="0"/>
          <a:ext cx="0" cy="0"/>
          <a:chOff x="0" y="0"/>
          <a:chExt cx="0" cy="0"/>
        </a:xfrm>
      </p:grpSpPr>
      <p:sp>
        <p:nvSpPr>
          <p:cNvPr id="75" name="Google Shape;75;p3:notes">
            <a:extLst>
              <a:ext uri="{FF2B5EF4-FFF2-40B4-BE49-F238E27FC236}">
                <a16:creationId xmlns:a16="http://schemas.microsoft.com/office/drawing/2014/main" id="{466C6FD3-E53F-DBC9-BBC2-650110185F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6" name="Google Shape;76;p3:notes">
            <a:extLst>
              <a:ext uri="{FF2B5EF4-FFF2-40B4-BE49-F238E27FC236}">
                <a16:creationId xmlns:a16="http://schemas.microsoft.com/office/drawing/2014/main" id="{BB549388-B556-1518-952D-F258CD70D04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With that context, let's look at the data and translate our idea into an optimization problem.</a:t>
            </a:r>
          </a:p>
        </p:txBody>
      </p:sp>
    </p:spTree>
    <p:extLst>
      <p:ext uri="{BB962C8B-B14F-4D97-AF65-F5344CB8AC3E}">
        <p14:creationId xmlns:p14="http://schemas.microsoft.com/office/powerpoint/2010/main" val="2661590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historical chart shows why price uncertainty matters. Before 2021, DK1 prices were relatively moderate. During the crisis, both average prices and the range of possible outcomes rose sharply. For our manufacturer, that makes electricity costs difficult to anticipate.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second chart measures volatility over time using a rolling 30-day standard deviation. The peaks show that risk is not constant. This motivates two different questions: how can we reduce overall fluctuations, and how can we limit the most extreme upward price movements?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2C33B765-32AB-2700-44E2-0E16EDC0B72D}"/>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F4C16517-13CB-EE8E-145E-5470797D3A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D04D0255-D082-4CF9-1CAB-EC84AF77C5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We use hourly day-ahead prices for five markets: DK1 as the target, and Germany, DK2, NO2 and SE4 as potential hedges. We align timestamps, handle time zones and calculate hourly price changes in euros per megawatt-hour. We use absolute changes because electricity prices can be zero or negative.</a:t>
            </a:r>
          </a:p>
        </p:txBody>
      </p:sp>
    </p:spTree>
    <p:extLst>
      <p:ext uri="{BB962C8B-B14F-4D97-AF65-F5344CB8AC3E}">
        <p14:creationId xmlns:p14="http://schemas.microsoft.com/office/powerpoint/2010/main" val="3890267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798B2B2B-6C76-87C9-1BF5-0746662ACFBB}"/>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2958B5C4-55C2-91B1-4A88-E6941344BE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9416B7FA-7A9B-9DAB-29A8-B666032B5C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correlation matrix gives us an encouraging starting point. DK1 changes are strongly correlated with Germany, at 0.83, and DK2, at 0.84. Norway and Sweden are less correlated. But correlation alone cannot tell us the best combination, so we turn to optimization.</a:t>
            </a:r>
          </a:p>
        </p:txBody>
      </p:sp>
    </p:spTree>
    <p:extLst>
      <p:ext uri="{BB962C8B-B14F-4D97-AF65-F5344CB8AC3E}">
        <p14:creationId xmlns:p14="http://schemas.microsoft.com/office/powerpoint/2010/main" val="166607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6E86693B-C868-37D7-8194-3510306868C3}"/>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616DC6DA-78A2-4CE6-92DD-77A5E8C49C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446A473F-7394-0330-F551-1ED74E98AB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Our first model is minimum variance. We take the DK1 hourly price change and subtract weighted changes from the four other markets. We choose weights to minimize the variance of what remains. Each weight is between zero and one, and their sum cannot exceed one. We estimate on the first 70% of observations and test on the last 30%.</a:t>
            </a:r>
          </a:p>
        </p:txBody>
      </p:sp>
    </p:spTree>
    <p:extLst>
      <p:ext uri="{BB962C8B-B14F-4D97-AF65-F5344CB8AC3E}">
        <p14:creationId xmlns:p14="http://schemas.microsoft.com/office/powerpoint/2010/main" val="2169027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F4A7C25-CC7F-EA56-AAC1-5B337627FF94}"/>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524D131D-0927-A98A-40F9-F2EA320255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74E5AF25-FFB5-11AF-1DA7-92F9EB0337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Minimum variance treats large upward and downward moves as risk. But for a company buying electricity, large upward moves are especially painful. So we also optimize CVaR at 95% and 99%. CVaR focuses on the average outcome in the worst 5% or 1% of upward residual price changes, using the same weight constraints.</a:t>
            </a:r>
          </a:p>
        </p:txBody>
      </p:sp>
    </p:spTree>
    <p:extLst>
      <p:ext uri="{BB962C8B-B14F-4D97-AF65-F5344CB8AC3E}">
        <p14:creationId xmlns:p14="http://schemas.microsoft.com/office/powerpoint/2010/main" val="681370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A8766BF8-F4F7-A7C5-6B55-F2382B7B7C32}"/>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691904A1-35FD-D589-05C2-A0FCEB01CB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1AFDE740-45D2-7ECB-0F5F-D9624F39B4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This histogram makes CVaR intuitive. Most hourly price changes are close to zero, but some increases are much larger. VaR at 95% marks the start of the worst 5% of increases. CVaR measures their average size. In short, VaR gives us the threshold; CVaR tells us how severe those extreme observations are.</a:t>
            </a:r>
          </a:p>
        </p:txBody>
      </p:sp>
    </p:spTree>
    <p:extLst>
      <p:ext uri="{BB962C8B-B14F-4D97-AF65-F5344CB8AC3E}">
        <p14:creationId xmlns:p14="http://schemas.microsoft.com/office/powerpoint/2010/main" val="244611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37B6491-7CC9-A636-567A-D2BF90D96660}"/>
            </a:ext>
          </a:extLst>
        </p:cNvPr>
        <p:cNvGrpSpPr/>
        <p:nvPr/>
      </p:nvGrpSpPr>
      <p:grpSpPr>
        <a:xfrm>
          <a:off x="0" y="0"/>
          <a:ext cx="0" cy="0"/>
          <a:chOff x="0" y="0"/>
          <a:chExt cx="0" cy="0"/>
        </a:xfrm>
      </p:grpSpPr>
      <p:sp>
        <p:nvSpPr>
          <p:cNvPr id="75" name="Google Shape;75;p3:notes">
            <a:extLst>
              <a:ext uri="{FF2B5EF4-FFF2-40B4-BE49-F238E27FC236}">
                <a16:creationId xmlns:a16="http://schemas.microsoft.com/office/drawing/2014/main" id="{A00E024D-4A06-37BB-2F65-3260935945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6" name="Google Shape;76;p3:notes">
            <a:extLst>
              <a:ext uri="{FF2B5EF4-FFF2-40B4-BE49-F238E27FC236}">
                <a16:creationId xmlns:a16="http://schemas.microsoft.com/office/drawing/2014/main" id="{BB314995-8DF6-DB3F-C6A9-6DEFC7A840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Now we can compare the three optimized strategies, using the same held-out test period.</a:t>
            </a:r>
          </a:p>
        </p:txBody>
      </p:sp>
    </p:spTree>
    <p:extLst>
      <p:ext uri="{BB962C8B-B14F-4D97-AF65-F5344CB8AC3E}">
        <p14:creationId xmlns:p14="http://schemas.microsoft.com/office/powerpoint/2010/main" val="1356223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A462392C-BDFF-779F-9CC1-49CC0E965596}"/>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4202D691-0F85-8A1C-1EA8-C3CD5757FA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5AAB2FBE-A09B-1778-6042-302D061DDE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objectives produce different weights. Minimum variance allocates roughly 45% to Germany and 41% to DK2. CVaR 95% favors DK2 more strongly, while CVaR 99% puts more weight on Germany. So changing the objective changes the hedge composition. But does it change the performance just as much?</a:t>
            </a:r>
          </a:p>
        </p:txBody>
      </p:sp>
    </p:spTree>
    <p:extLst>
      <p:ext uri="{BB962C8B-B14F-4D97-AF65-F5344CB8AC3E}">
        <p14:creationId xmlns:p14="http://schemas.microsoft.com/office/powerpoint/2010/main" val="10018290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5AA9C0B-1AF7-08CA-387F-8D8F622325C7}"/>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93B68215-1E6B-8F5B-7192-EBC5FDF7A2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4EACE1AC-D717-EDC6-BE77-BBB920C954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distribution chart gives us the first answer. Compared with unhedged DK1, the hedged hourly changes are much more concentrated around zero. That means the other markets offset a substantial part of DK1's movements in our test data.</a:t>
            </a:r>
          </a:p>
        </p:txBody>
      </p:sp>
    </p:spTree>
    <p:extLst>
      <p:ext uri="{BB962C8B-B14F-4D97-AF65-F5344CB8AC3E}">
        <p14:creationId xmlns:p14="http://schemas.microsoft.com/office/powerpoint/2010/main" val="3065338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AE5ECD8A-C359-4A5B-40B4-E0B017CCDFCF}"/>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0FF222C4-928C-4F77-F831-0BD0D73E53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E474CFC6-59CA-F602-B817-5B736CA3AB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tail-risk results are also strong. Without a hedge, CVaR is about 49.3 euros per megawatt-hour at 95% and 88.2 at 99%. All three strategies reduce these figures sharply. CVaR 95% performs best at the 95% level, reaching 18.25, while minimum variance is best at 99%, reaching 34.62.</a:t>
            </a:r>
          </a:p>
        </p:txBody>
      </p:sp>
    </p:spTree>
    <p:extLst>
      <p:ext uri="{BB962C8B-B14F-4D97-AF65-F5344CB8AC3E}">
        <p14:creationId xmlns:p14="http://schemas.microsoft.com/office/powerpoint/2010/main" val="892247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EAA54AEB-E0FA-2C87-E846-A2A5064534E2}"/>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B41BE7F1-ACD7-3047-6D62-735E9C35C2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ECE66507-DEF6-1F94-4BAD-81EE440B5B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What's surprising is how close the results are. CVaR 95% improves its own tail measure by just 0.072 euros per megawatt-hour compared with minimum variance. So a more specialized objective changes the allocations quite noticeably, but does not necessarily deliver a large improvement out of sample.</a:t>
            </a:r>
          </a:p>
        </p:txBody>
      </p:sp>
    </p:spTree>
    <p:extLst>
      <p:ext uri="{BB962C8B-B14F-4D97-AF65-F5344CB8AC3E}">
        <p14:creationId xmlns:p14="http://schemas.microsoft.com/office/powerpoint/2010/main" val="1154046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9B62F7AF-3AE1-7BB4-392A-76A04364AC0D}"/>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3DAE91DF-3ABC-5E56-0599-998AAAFF54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64906FC6-57AA-419C-E538-B7B2B131A1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Our main finding is that the minimum variance hedge reduces the variance of DK1 hourly price changes by about 85.4% on the test sample. CVaR strategies also perform well, but none dominates across every measure. The cross-market approach matters more here than the choice between these objectives.</a:t>
            </a:r>
          </a:p>
        </p:txBody>
      </p:sp>
    </p:spTree>
    <p:extLst>
      <p:ext uri="{BB962C8B-B14F-4D97-AF65-F5344CB8AC3E}">
        <p14:creationId xmlns:p14="http://schemas.microsoft.com/office/powerpoint/2010/main" val="2276503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54BBF409-7D04-69FE-32E3-8C6CAC7CDBC3}"/>
            </a:ext>
          </a:extLst>
        </p:cNvPr>
        <p:cNvGrpSpPr/>
        <p:nvPr/>
      </p:nvGrpSpPr>
      <p:grpSpPr>
        <a:xfrm>
          <a:off x="0" y="0"/>
          <a:ext cx="0" cy="0"/>
          <a:chOff x="0" y="0"/>
          <a:chExt cx="0" cy="0"/>
        </a:xfrm>
      </p:grpSpPr>
      <p:sp>
        <p:nvSpPr>
          <p:cNvPr id="75" name="Google Shape;75;p3:notes">
            <a:extLst>
              <a:ext uri="{FF2B5EF4-FFF2-40B4-BE49-F238E27FC236}">
                <a16:creationId xmlns:a16="http://schemas.microsoft.com/office/drawing/2014/main" id="{66669ECF-9442-D183-9BE2-223E9EA2DE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6" name="Google Shape;76;p3:notes">
            <a:extLst>
              <a:ext uri="{FF2B5EF4-FFF2-40B4-BE49-F238E27FC236}">
                <a16:creationId xmlns:a16="http://schemas.microsoft.com/office/drawing/2014/main" id="{FD847976-A152-8C16-9154-AF6B82432A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Let's finish by returning to the manufacturer's original question and the limits of what we tested.</a:t>
            </a:r>
          </a:p>
        </p:txBody>
      </p:sp>
    </p:spTree>
    <p:extLst>
      <p:ext uri="{BB962C8B-B14F-4D97-AF65-F5344CB8AC3E}">
        <p14:creationId xmlns:p14="http://schemas.microsoft.com/office/powerpoint/2010/main" val="2868085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FEC91066-696A-2E76-77EA-A73B18F67BCE}"/>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626A89FA-D545-1511-2B63-8E5878901A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E8A65E87-F1DC-CB5E-8D2D-87A9DA02FE1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We built an hourly dataset, estimated three constrained optimization strategies, and evaluated their performance on observations they had not seen. The results show that neighboring market price changes can substantially reduce measured DK1 price-change risk in our sample.</a:t>
            </a:r>
          </a:p>
        </p:txBody>
      </p:sp>
    </p:spTree>
    <p:extLst>
      <p:ext uri="{BB962C8B-B14F-4D97-AF65-F5344CB8AC3E}">
        <p14:creationId xmlns:p14="http://schemas.microsoft.com/office/powerpoint/2010/main" val="22109045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1D4CE2EC-8D33-DAF6-715E-F23FC10C8D5A}"/>
            </a:ext>
          </a:extLst>
        </p:cNvPr>
        <p:cNvGrpSpPr/>
        <p:nvPr/>
      </p:nvGrpSpPr>
      <p:grpSpPr>
        <a:xfrm>
          <a:off x="0" y="0"/>
          <a:ext cx="0" cy="0"/>
          <a:chOff x="0" y="0"/>
          <a:chExt cx="0" cy="0"/>
        </a:xfrm>
      </p:grpSpPr>
      <p:sp>
        <p:nvSpPr>
          <p:cNvPr id="67" name="Google Shape;67;g3b83c7c63cf_0_48:notes">
            <a:extLst>
              <a:ext uri="{FF2B5EF4-FFF2-40B4-BE49-F238E27FC236}">
                <a16:creationId xmlns:a16="http://schemas.microsoft.com/office/drawing/2014/main" id="{F32117EF-03C6-0D61-A72A-DDEE0E3B02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8" name="Google Shape;68;g3b83c7c63cf_0_48:notes">
            <a:extLst>
              <a:ext uri="{FF2B5EF4-FFF2-40B4-BE49-F238E27FC236}">
                <a16:creationId xmlns:a16="http://schemas.microsoft.com/office/drawing/2014/main" id="{EBCDE286-70B9-1119-3114-9DFBACD7057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If we had to retain one benchmark, minimum variance is a strong choice: it is simple, delivers major variance reduction, and even has the lowest observed 99% CVaR. CVaR 95% has a slight edge at its own tail level. Importantly, these are statistical spot-price hedges, not actual trades or proven electricity-bill savings. Our conclusion is that cross-market optimization is promising, and the objective changes allocations more than test-period performance. Thank you.</a:t>
            </a:r>
          </a:p>
        </p:txBody>
      </p:sp>
    </p:spTree>
    <p:extLst>
      <p:ext uri="{BB962C8B-B14F-4D97-AF65-F5344CB8AC3E}">
        <p14:creationId xmlns:p14="http://schemas.microsoft.com/office/powerpoint/2010/main" val="3815335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56FDC8-2C75-5268-2182-B73CA2421C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F9FE4EE9-CCB1-608C-2AE7-34EB45F069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1A12BC23-08F8-7530-2BEC-C8922B356D06}"/>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5" name="Espace réservé du pied de page 4">
            <a:extLst>
              <a:ext uri="{FF2B5EF4-FFF2-40B4-BE49-F238E27FC236}">
                <a16:creationId xmlns:a16="http://schemas.microsoft.com/office/drawing/2014/main" id="{6518BC8C-F9F7-9092-70F1-2E2A71ACC9B0}"/>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DE04020A-56A4-450F-C844-476D4517AD8F}"/>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1680941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C69359-6D38-8041-003A-59CA0EB86EEF}"/>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86E5CDE3-D0BA-D098-5C7C-0BB688D7AAD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71801029-DC36-44BF-7E80-4500BF5DEE7D}"/>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5" name="Espace réservé du pied de page 4">
            <a:extLst>
              <a:ext uri="{FF2B5EF4-FFF2-40B4-BE49-F238E27FC236}">
                <a16:creationId xmlns:a16="http://schemas.microsoft.com/office/drawing/2014/main" id="{3F52EF7A-91DF-3219-66DE-154A6982F60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05B6DB6F-5E55-E8F5-1AB4-A78425E2511D}"/>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2425149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367517-7D39-5860-98BA-3426C5E1B34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215F6CB1-C34E-8490-49A4-BDF637C0B6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20B634C-9D59-579F-4930-2953B44699F5}"/>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5" name="Espace réservé du pied de page 4">
            <a:extLst>
              <a:ext uri="{FF2B5EF4-FFF2-40B4-BE49-F238E27FC236}">
                <a16:creationId xmlns:a16="http://schemas.microsoft.com/office/drawing/2014/main" id="{C553AB42-A3D7-B045-4C9A-DEC8531C453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2D20C93-981A-D4FD-D558-4A1F9ECD1D0D}"/>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54986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E1905E-5E94-C592-F183-BEFE79534F21}"/>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9EFCFC8E-53EA-8276-A858-284AD3500C9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E3608D6D-0E09-6C10-7AC4-F0490716ECB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C018A528-326A-968F-A2F9-B70151650AB9}"/>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6" name="Espace réservé du pied de page 5">
            <a:extLst>
              <a:ext uri="{FF2B5EF4-FFF2-40B4-BE49-F238E27FC236}">
                <a16:creationId xmlns:a16="http://schemas.microsoft.com/office/drawing/2014/main" id="{A2BD446B-6718-901F-BF34-89E9BD3717C0}"/>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CD36E085-7AB4-10D4-6F40-C9BECC000885}"/>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2130244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C26D5A-713B-2070-B002-C80EB4C6F482}"/>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E6C05413-CEC1-F97B-84C9-AB187A9A9A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81EAA32-B8C3-BEE5-9F1C-3F1EBC7B444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8E58AFCC-5343-7215-8770-9C1D73F393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C675EFD-FDC3-FF8D-8E37-EFD014C41D9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E06341CE-AC07-CB16-CE85-735B195AFA24}"/>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8" name="Espace réservé du pied de page 7">
            <a:extLst>
              <a:ext uri="{FF2B5EF4-FFF2-40B4-BE49-F238E27FC236}">
                <a16:creationId xmlns:a16="http://schemas.microsoft.com/office/drawing/2014/main" id="{30793A5E-A52E-F398-5F1B-71467A65268D}"/>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BA87CD8C-FA7D-926C-E59E-FF80C965AB12}"/>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2453528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5C40A4-39C0-1971-FB0A-0874C5C0AF13}"/>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F102D864-7F54-84ED-917F-91279568BC9A}"/>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4" name="Espace réservé du pied de page 3">
            <a:extLst>
              <a:ext uri="{FF2B5EF4-FFF2-40B4-BE49-F238E27FC236}">
                <a16:creationId xmlns:a16="http://schemas.microsoft.com/office/drawing/2014/main" id="{E2DE637C-7480-4D5D-2713-2EF13270A2F2}"/>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A121CDFE-275A-2B38-8356-710893C05B2C}"/>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158474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C85036D-02D9-2F43-F512-5FA43D805268}"/>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3" name="Espace réservé du pied de page 2">
            <a:extLst>
              <a:ext uri="{FF2B5EF4-FFF2-40B4-BE49-F238E27FC236}">
                <a16:creationId xmlns:a16="http://schemas.microsoft.com/office/drawing/2014/main" id="{A2D10D23-3C7B-B6E2-6062-33DDDB7AEBF9}"/>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154FC6B0-692F-A4D2-CCC0-0C8EB84196B4}"/>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3047743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102987-B10E-7E01-0BA3-B25A31712DB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6D20F7C9-7089-CE8D-C8C7-40D535D66E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11A82FCD-50AA-1351-A000-8B2F51CDB6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6F2C246-082F-76CD-1092-B1E120BA738A}"/>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6" name="Espace réservé du pied de page 5">
            <a:extLst>
              <a:ext uri="{FF2B5EF4-FFF2-40B4-BE49-F238E27FC236}">
                <a16:creationId xmlns:a16="http://schemas.microsoft.com/office/drawing/2014/main" id="{AAE529FA-28B4-0EAB-E9AA-BD363ABB422E}"/>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B7292794-C29F-9B5C-3F48-AEC314486630}"/>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2603560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082913-C96B-B91D-D3B3-8799F795A97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F2E0696D-D2C2-4D57-CD8B-F0D7133D4BE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5671AE0F-5946-5EDD-3B5E-C36D00AB3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BC60FA3-6DDD-7DDA-2A2A-308516EB4A06}"/>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6" name="Espace réservé du pied de page 5">
            <a:extLst>
              <a:ext uri="{FF2B5EF4-FFF2-40B4-BE49-F238E27FC236}">
                <a16:creationId xmlns:a16="http://schemas.microsoft.com/office/drawing/2014/main" id="{7D75C015-258E-9E4B-C89E-FCCF7A2E4F38}"/>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AAE0FAFF-0480-01F6-8AC2-09E32D229A0B}"/>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1262601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E89B98-53DE-FD3E-E12F-42E89DD5E5EB}"/>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15868984-0F63-6700-9D96-D04656409D1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91EA038E-A2EF-2FC9-884C-1BFD87BDBF4B}"/>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5" name="Espace réservé du pied de page 4">
            <a:extLst>
              <a:ext uri="{FF2B5EF4-FFF2-40B4-BE49-F238E27FC236}">
                <a16:creationId xmlns:a16="http://schemas.microsoft.com/office/drawing/2014/main" id="{D32C2844-D2F1-E1B9-0181-542BC02C974D}"/>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AE5DE5D-5716-10EE-796A-ECE12E13A6CA}"/>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331812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C61B981-0DCF-BAAE-1D80-77E23CF8419C}"/>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DF598D01-FF77-E164-994D-8D1B121AF43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6DF51227-C300-E59C-3301-7363C469C367}"/>
              </a:ext>
            </a:extLst>
          </p:cNvPr>
          <p:cNvSpPr>
            <a:spLocks noGrp="1"/>
          </p:cNvSpPr>
          <p:nvPr>
            <p:ph type="dt" sz="half" idx="10"/>
          </p:nvPr>
        </p:nvSpPr>
        <p:spPr/>
        <p:txBody>
          <a:bodyPr/>
          <a:lstStyle/>
          <a:p>
            <a:fld id="{107550D6-67AF-4C1D-A2F8-B885D2E138E0}" type="datetimeFigureOut">
              <a:rPr lang="en-US" smtClean="0"/>
              <a:t>10/29/2026</a:t>
            </a:fld>
            <a:endParaRPr lang="en-US"/>
          </a:p>
        </p:txBody>
      </p:sp>
      <p:sp>
        <p:nvSpPr>
          <p:cNvPr id="5" name="Espace réservé du pied de page 4">
            <a:extLst>
              <a:ext uri="{FF2B5EF4-FFF2-40B4-BE49-F238E27FC236}">
                <a16:creationId xmlns:a16="http://schemas.microsoft.com/office/drawing/2014/main" id="{6DAA385C-D960-0860-6FF4-BB6DBE79F40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60386B64-D348-E32F-B609-89BAD2CF9705}"/>
              </a:ext>
            </a:extLst>
          </p:cNvPr>
          <p:cNvSpPr>
            <a:spLocks noGrp="1"/>
          </p:cNvSpPr>
          <p:nvPr>
            <p:ph type="sldNum" sz="quarter" idx="12"/>
          </p:nvPr>
        </p:nvSpPr>
        <p:spPr/>
        <p:txBody>
          <a:bodyPr/>
          <a:lstStyle/>
          <a:p>
            <a:fld id="{D34FDC64-D606-4700-92C5-C2CE9037D79B}" type="slidenum">
              <a:rPr lang="en-US" smtClean="0"/>
              <a:t>‹N°›</a:t>
            </a:fld>
            <a:endParaRPr lang="en-US"/>
          </a:p>
        </p:txBody>
      </p:sp>
    </p:spTree>
    <p:extLst>
      <p:ext uri="{BB962C8B-B14F-4D97-AF65-F5344CB8AC3E}">
        <p14:creationId xmlns:p14="http://schemas.microsoft.com/office/powerpoint/2010/main" val="3476130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74263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0205D95-5D1C-2912-4CDB-486FB337EB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0F4EA02F-D69C-9E51-F11E-FB0EB59822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9108C67A-A624-0EB1-A6CC-1EA7A7A93F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7550D6-67AF-4C1D-A2F8-B885D2E138E0}" type="datetimeFigureOut">
              <a:rPr lang="en-US" smtClean="0"/>
              <a:t>10/29/2026</a:t>
            </a:fld>
            <a:endParaRPr lang="en-US"/>
          </a:p>
        </p:txBody>
      </p:sp>
      <p:sp>
        <p:nvSpPr>
          <p:cNvPr id="5" name="Espace réservé du pied de page 4">
            <a:extLst>
              <a:ext uri="{FF2B5EF4-FFF2-40B4-BE49-F238E27FC236}">
                <a16:creationId xmlns:a16="http://schemas.microsoft.com/office/drawing/2014/main" id="{5B376189-E227-DB62-3C1B-C1D9D3D22A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F86DC5D4-779B-125A-0551-D5C6E38B67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4FDC64-D606-4700-92C5-C2CE9037D79B}" type="slidenum">
              <a:rPr lang="en-US" smtClean="0"/>
              <a:t>‹N°›</a:t>
            </a:fld>
            <a:endParaRPr lang="en-US"/>
          </a:p>
        </p:txBody>
      </p:sp>
    </p:spTree>
    <p:extLst>
      <p:ext uri="{BB962C8B-B14F-4D97-AF65-F5344CB8AC3E}">
        <p14:creationId xmlns:p14="http://schemas.microsoft.com/office/powerpoint/2010/main" val="1188309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33" y="2229307"/>
            <a:ext cx="12192000" cy="1991711"/>
          </a:xfrm>
          <a:prstGeom prst="rect">
            <a:avLst/>
          </a:prstGeom>
          <a:solidFill>
            <a:srgbClr val="7030A0"/>
          </a:solidFill>
          <a:ln>
            <a:noFill/>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55" name="Google Shape;55;p1"/>
          <p:cNvSpPr txBox="1"/>
          <p:nvPr/>
        </p:nvSpPr>
        <p:spPr>
          <a:xfrm>
            <a:off x="1126566" y="2103629"/>
            <a:ext cx="9938800" cy="1235600"/>
          </a:xfrm>
          <a:prstGeom prst="rect">
            <a:avLst/>
          </a:prstGeom>
          <a:noFill/>
          <a:ln>
            <a:noFill/>
          </a:ln>
          <a:effectLst>
            <a:outerShdw blurRad="28575" dist="19050" dir="5400000" algn="bl" rotWithShape="0">
              <a:srgbClr val="000000">
                <a:alpha val="29411"/>
              </a:srgbClr>
            </a:outerShdw>
          </a:effectLst>
        </p:spPr>
        <p:txBody>
          <a:bodyPr spcFirstLastPara="1" wrap="square" lIns="121900" tIns="121900" rIns="121900" bIns="121900" anchor="ctr" anchorCtr="0">
            <a:noAutofit/>
          </a:bodyPr>
          <a:lstStyle/>
          <a:p>
            <a:pPr algn="ctr">
              <a:lnSpc>
                <a:spcPct val="105000"/>
              </a:lnSpc>
            </a:pPr>
            <a:r>
              <a:rPr lang="en-US" sz="2800" b="1" dirty="0">
                <a:solidFill>
                  <a:srgbClr val="FFFFFF"/>
                </a:solidFill>
                <a:latin typeface="Cambria" pitchFamily="34" charset="0"/>
                <a:ea typeface="Cambria" pitchFamily="34" charset="-122"/>
                <a:cs typeface="Cambria" pitchFamily="34" charset="-120"/>
              </a:rPr>
              <a:t>Minimum Variance Hedging of Electricity Price Risk</a:t>
            </a:r>
          </a:p>
        </p:txBody>
      </p:sp>
      <p:sp>
        <p:nvSpPr>
          <p:cNvPr id="56" name="Google Shape;56;p1"/>
          <p:cNvSpPr txBox="1"/>
          <p:nvPr/>
        </p:nvSpPr>
        <p:spPr>
          <a:xfrm>
            <a:off x="132522" y="6078640"/>
            <a:ext cx="11926956" cy="904459"/>
          </a:xfrm>
          <a:prstGeom prst="rect">
            <a:avLst/>
          </a:prstGeom>
          <a:noFill/>
          <a:ln>
            <a:noFill/>
          </a:ln>
          <a:effectLst>
            <a:outerShdw blurRad="28575" dist="19050" dir="5400000" algn="bl" rotWithShape="0">
              <a:srgbClr val="000000">
                <a:alpha val="29411"/>
              </a:srgbClr>
            </a:outerShdw>
          </a:effectLst>
        </p:spPr>
        <p:txBody>
          <a:bodyPr spcFirstLastPara="1" wrap="square" lIns="121900" tIns="121900" rIns="121900" bIns="121900" anchor="t" anchorCtr="0">
            <a:noAutofit/>
          </a:bodyPr>
          <a:lstStyle/>
          <a:p>
            <a:pPr algn="ctr">
              <a:lnSpc>
                <a:spcPct val="90000"/>
              </a:lnSpc>
              <a:buClr>
                <a:srgbClr val="000000"/>
              </a:buClr>
              <a:buSzPts val="1100"/>
            </a:pPr>
            <a:r>
              <a:rPr lang="fr" sz="900" b="1" dirty="0">
                <a:latin typeface="Open Sans"/>
                <a:ea typeface="Open Sans"/>
                <a:cs typeface="Open Sans"/>
                <a:sym typeface="Open Sans"/>
              </a:rPr>
              <a:t>Groupe A</a:t>
            </a:r>
          </a:p>
          <a:p>
            <a:pPr algn="ctr">
              <a:lnSpc>
                <a:spcPct val="90000"/>
              </a:lnSpc>
              <a:buClr>
                <a:srgbClr val="000000"/>
              </a:buClr>
              <a:buSzPts val="1100"/>
            </a:pPr>
            <a:endParaRPr lang="fr" sz="900" b="1" dirty="0">
              <a:latin typeface="Open Sans"/>
              <a:ea typeface="Open Sans"/>
              <a:cs typeface="Open Sans"/>
              <a:sym typeface="Open Sans"/>
            </a:endParaRPr>
          </a:p>
          <a:p>
            <a:pPr algn="ctr">
              <a:lnSpc>
                <a:spcPct val="90000"/>
              </a:lnSpc>
              <a:buClr>
                <a:srgbClr val="000000"/>
              </a:buClr>
              <a:buSzPts val="1100"/>
            </a:pPr>
            <a:r>
              <a:rPr lang="fr" sz="900" b="1" dirty="0">
                <a:latin typeface="Open Sans"/>
                <a:ea typeface="Open Sans"/>
                <a:cs typeface="Open Sans"/>
                <a:sym typeface="Open Sans"/>
              </a:rPr>
              <a:t>Akram BENAISSA    -    Rania BESSROUR    -    </a:t>
            </a:r>
            <a:r>
              <a:rPr lang="en-US" sz="900" b="1" dirty="0">
                <a:latin typeface="Open Sans"/>
                <a:ea typeface="Open Sans"/>
                <a:cs typeface="Open Sans"/>
                <a:sym typeface="Open Sans"/>
              </a:rPr>
              <a:t>HENIN Baptiste</a:t>
            </a:r>
            <a:r>
              <a:rPr lang="fr" sz="900" b="1" dirty="0">
                <a:latin typeface="Open Sans"/>
                <a:ea typeface="Open Sans"/>
                <a:cs typeface="Open Sans"/>
                <a:sym typeface="Open Sans"/>
              </a:rPr>
              <a:t>    -    </a:t>
            </a:r>
            <a:r>
              <a:rPr lang="en-US" sz="900" b="1" dirty="0">
                <a:latin typeface="Open Sans"/>
                <a:ea typeface="Open Sans"/>
                <a:cs typeface="Open Sans"/>
                <a:sym typeface="Open Sans"/>
              </a:rPr>
              <a:t>Mon-</a:t>
            </a:r>
            <a:r>
              <a:rPr lang="en-US" sz="900" b="1" dirty="0" err="1">
                <a:latin typeface="Open Sans"/>
                <a:ea typeface="Open Sans"/>
                <a:cs typeface="Open Sans"/>
                <a:sym typeface="Open Sans"/>
              </a:rPr>
              <a:t>desir</a:t>
            </a:r>
            <a:r>
              <a:rPr lang="en-US" sz="900" b="1" dirty="0">
                <a:latin typeface="Open Sans"/>
                <a:ea typeface="Open Sans"/>
                <a:cs typeface="Open Sans"/>
                <a:sym typeface="Open Sans"/>
              </a:rPr>
              <a:t> </a:t>
            </a:r>
            <a:r>
              <a:rPr lang="en-US" sz="900" b="1" dirty="0" err="1">
                <a:latin typeface="Open Sans"/>
                <a:ea typeface="Open Sans"/>
                <a:cs typeface="Open Sans"/>
                <a:sym typeface="Open Sans"/>
              </a:rPr>
              <a:t>honce</a:t>
            </a:r>
            <a:r>
              <a:rPr lang="en-US" sz="900" b="1" dirty="0">
                <a:latin typeface="Open Sans"/>
                <a:ea typeface="Open Sans"/>
                <a:cs typeface="Open Sans"/>
                <a:sym typeface="Open Sans"/>
              </a:rPr>
              <a:t> ABDIAS MADOU</a:t>
            </a:r>
            <a:r>
              <a:rPr lang="fr" sz="900" b="1" dirty="0">
                <a:latin typeface="Open Sans"/>
                <a:ea typeface="Open Sans"/>
                <a:cs typeface="Open Sans"/>
                <a:sym typeface="Open Sans"/>
              </a:rPr>
              <a:t>    -    </a:t>
            </a:r>
            <a:r>
              <a:rPr lang="en-US" sz="900" b="1" dirty="0">
                <a:latin typeface="Open Sans"/>
                <a:ea typeface="Open Sans"/>
                <a:cs typeface="Open Sans"/>
                <a:sym typeface="Open Sans"/>
              </a:rPr>
              <a:t>Lilian NKWEMFO TCHAMI </a:t>
            </a:r>
          </a:p>
          <a:p>
            <a:pPr algn="ctr">
              <a:lnSpc>
                <a:spcPct val="100000"/>
              </a:lnSpc>
              <a:buClr>
                <a:srgbClr val="000000"/>
              </a:buClr>
              <a:buSzPts val="1100"/>
            </a:pPr>
            <a:endParaRPr lang="fr" sz="900" b="1" dirty="0">
              <a:latin typeface="Open Sans"/>
              <a:ea typeface="Open Sans"/>
              <a:cs typeface="Open Sans"/>
              <a:sym typeface="Open Sans"/>
            </a:endParaRPr>
          </a:p>
          <a:p>
            <a:pPr algn="ctr">
              <a:lnSpc>
                <a:spcPct val="90000"/>
              </a:lnSpc>
              <a:buClr>
                <a:srgbClr val="000000"/>
              </a:buClr>
              <a:buSzPts val="1100"/>
            </a:pPr>
            <a:endParaRPr sz="900" b="1" dirty="0">
              <a:latin typeface="Open Sans"/>
              <a:ea typeface="Open Sans"/>
              <a:cs typeface="Open Sans"/>
              <a:sym typeface="Open Sans"/>
            </a:endParaRPr>
          </a:p>
        </p:txBody>
      </p:sp>
      <p:sp>
        <p:nvSpPr>
          <p:cNvPr id="57" name="Google Shape;57;p1"/>
          <p:cNvSpPr txBox="1"/>
          <p:nvPr/>
        </p:nvSpPr>
        <p:spPr>
          <a:xfrm>
            <a:off x="5520859" y="4928505"/>
            <a:ext cx="1150216" cy="468000"/>
          </a:xfrm>
          <a:prstGeom prst="rect">
            <a:avLst/>
          </a:prstGeom>
          <a:noFill/>
          <a:ln>
            <a:noFill/>
          </a:ln>
          <a:effectLst>
            <a:outerShdw blurRad="57150" dist="19050" dir="5400000" algn="bl" rotWithShape="0">
              <a:srgbClr val="000000">
                <a:alpha val="50196"/>
              </a:srgbClr>
            </a:outerShdw>
          </a:effectLst>
        </p:spPr>
        <p:txBody>
          <a:bodyPr spcFirstLastPara="1" wrap="square" lIns="121900" tIns="121900" rIns="121900" bIns="121900" anchor="t" anchorCtr="0">
            <a:noAutofit/>
          </a:bodyPr>
          <a:lstStyle/>
          <a:p>
            <a:pPr>
              <a:buClr>
                <a:srgbClr val="000000"/>
              </a:buClr>
              <a:buSzPts val="1200"/>
            </a:pPr>
            <a:r>
              <a:rPr lang="fr" sz="1600" dirty="0">
                <a:solidFill>
                  <a:schemeClr val="dk1"/>
                </a:solidFill>
                <a:latin typeface="Times New Roman"/>
                <a:ea typeface="Times New Roman"/>
                <a:cs typeface="Times New Roman"/>
                <a:sym typeface="Times New Roman"/>
              </a:rPr>
              <a:t>2026/2027</a:t>
            </a:r>
            <a:endParaRPr sz="1600" dirty="0">
              <a:solidFill>
                <a:schemeClr val="dk1"/>
              </a:solidFill>
              <a:latin typeface="Times New Roman"/>
              <a:ea typeface="Times New Roman"/>
              <a:cs typeface="Times New Roman"/>
              <a:sym typeface="Times New Roman"/>
            </a:endParaRPr>
          </a:p>
        </p:txBody>
      </p:sp>
      <p:sp>
        <p:nvSpPr>
          <p:cNvPr id="58" name="Google Shape;58;p1"/>
          <p:cNvSpPr/>
          <p:nvPr/>
        </p:nvSpPr>
        <p:spPr>
          <a:xfrm rot="10800000" flipH="1">
            <a:off x="1999800" y="3620805"/>
            <a:ext cx="8192400" cy="21600"/>
          </a:xfrm>
          <a:prstGeom prst="rect">
            <a:avLst/>
          </a:prstGeom>
          <a:solidFill>
            <a:schemeClr val="lt1"/>
          </a:solidFill>
          <a:ln>
            <a:noFill/>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61" name="Google Shape;61;p1"/>
          <p:cNvSpPr txBox="1"/>
          <p:nvPr/>
        </p:nvSpPr>
        <p:spPr>
          <a:xfrm>
            <a:off x="4060367" y="4453577"/>
            <a:ext cx="4071200" cy="627200"/>
          </a:xfrm>
          <a:prstGeom prst="rect">
            <a:avLst/>
          </a:prstGeom>
          <a:noFill/>
          <a:ln>
            <a:noFill/>
          </a:ln>
          <a:effectLst>
            <a:outerShdw blurRad="57150" dist="19050" dir="5400000" algn="bl" rotWithShape="0">
              <a:srgbClr val="000000">
                <a:alpha val="50199"/>
              </a:srgbClr>
            </a:outerShdw>
          </a:effectLst>
        </p:spPr>
        <p:txBody>
          <a:bodyPr spcFirstLastPara="1" wrap="square" lIns="121900" tIns="121900" rIns="121900" bIns="121900" anchor="t" anchorCtr="0">
            <a:noAutofit/>
          </a:bodyPr>
          <a:lstStyle/>
          <a:p>
            <a:pPr algn="ctr">
              <a:spcBef>
                <a:spcPts val="800"/>
              </a:spcBef>
              <a:spcAft>
                <a:spcPts val="800"/>
              </a:spcAft>
              <a:buClr>
                <a:schemeClr val="dk1"/>
              </a:buClr>
              <a:buSzPts val="1100"/>
            </a:pPr>
            <a:r>
              <a:rPr lang="fr" sz="1467" b="1" dirty="0">
                <a:latin typeface="Times New Roman"/>
                <a:ea typeface="Times New Roman"/>
                <a:cs typeface="Times New Roman"/>
                <a:sym typeface="Times New Roman"/>
              </a:rPr>
              <a:t>Master 2 Finance &amp; Big Data</a:t>
            </a:r>
            <a:endParaRPr sz="1467" b="1" dirty="0">
              <a:latin typeface="Times New Roman"/>
              <a:ea typeface="Times New Roman"/>
              <a:cs typeface="Times New Roman"/>
              <a:sym typeface="Times New Roman"/>
            </a:endParaRPr>
          </a:p>
        </p:txBody>
      </p:sp>
      <p:sp>
        <p:nvSpPr>
          <p:cNvPr id="3" name="ZoneTexte 2">
            <a:extLst>
              <a:ext uri="{FF2B5EF4-FFF2-40B4-BE49-F238E27FC236}">
                <a16:creationId xmlns:a16="http://schemas.microsoft.com/office/drawing/2014/main" id="{3B20F878-5DC3-ECB5-08BD-F3E4B1402872}"/>
              </a:ext>
            </a:extLst>
          </p:cNvPr>
          <p:cNvSpPr txBox="1"/>
          <p:nvPr/>
        </p:nvSpPr>
        <p:spPr>
          <a:xfrm>
            <a:off x="1178531" y="3040368"/>
            <a:ext cx="9834869" cy="369588"/>
          </a:xfrm>
          <a:prstGeom prst="rect">
            <a:avLst/>
          </a:prstGeom>
          <a:noFill/>
        </p:spPr>
        <p:txBody>
          <a:bodyPr wrap="square">
            <a:spAutoFit/>
          </a:bodyPr>
          <a:lstStyle/>
          <a:p>
            <a:pPr marL="0" indent="0" algn="ctr">
              <a:lnSpc>
                <a:spcPct val="105000"/>
              </a:lnSpc>
              <a:buNone/>
            </a:pPr>
            <a:r>
              <a:rPr lang="en-US" b="1" dirty="0">
                <a:solidFill>
                  <a:srgbClr val="FFFFFF"/>
                </a:solidFill>
                <a:latin typeface="Cambria" pitchFamily="34" charset="0"/>
                <a:ea typeface="Cambria" pitchFamily="34" charset="-122"/>
                <a:cs typeface="Cambria" pitchFamily="34" charset="-120"/>
              </a:rPr>
              <a:t>A Cross-Market Analysis of Nordic &amp; European Electricity Markets</a:t>
            </a:r>
            <a:endParaRPr lang="en-US" sz="1600" dirty="0"/>
          </a:p>
        </p:txBody>
      </p:sp>
      <p:pic>
        <p:nvPicPr>
          <p:cNvPr id="4" name="Image 3">
            <a:extLst>
              <a:ext uri="{FF2B5EF4-FFF2-40B4-BE49-F238E27FC236}">
                <a16:creationId xmlns:a16="http://schemas.microsoft.com/office/drawing/2014/main" id="{EA7DEE0B-2BEE-0786-BC70-E214F48EDD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9170" y="672218"/>
            <a:ext cx="2513593" cy="782007"/>
          </a:xfrm>
          <a:prstGeom prst="rect">
            <a:avLst/>
          </a:prstGeom>
        </p:spPr>
      </p:pic>
      <p:sp>
        <p:nvSpPr>
          <p:cNvPr id="6" name="ZoneTexte 5">
            <a:extLst>
              <a:ext uri="{FF2B5EF4-FFF2-40B4-BE49-F238E27FC236}">
                <a16:creationId xmlns:a16="http://schemas.microsoft.com/office/drawing/2014/main" id="{C079BEB5-7977-A3F7-01D6-C8A3CAC5D080}"/>
              </a:ext>
            </a:extLst>
          </p:cNvPr>
          <p:cNvSpPr txBox="1"/>
          <p:nvPr/>
        </p:nvSpPr>
        <p:spPr>
          <a:xfrm>
            <a:off x="1178531" y="3753344"/>
            <a:ext cx="9834869" cy="338747"/>
          </a:xfrm>
          <a:prstGeom prst="rect">
            <a:avLst/>
          </a:prstGeom>
          <a:noFill/>
        </p:spPr>
        <p:txBody>
          <a:bodyPr wrap="square">
            <a:spAutoFit/>
          </a:bodyPr>
          <a:lstStyle/>
          <a:p>
            <a:pPr marL="0" indent="0" algn="ctr">
              <a:lnSpc>
                <a:spcPct val="105000"/>
              </a:lnSpc>
              <a:buNone/>
            </a:pPr>
            <a:r>
              <a:rPr lang="en-US" sz="1600" dirty="0">
                <a:solidFill>
                  <a:srgbClr val="FFFFFF"/>
                </a:solidFill>
                <a:latin typeface="Cambria" pitchFamily="34" charset="0"/>
                <a:ea typeface="Cambria" pitchFamily="34" charset="-122"/>
                <a:cs typeface="Cambria" pitchFamily="34" charset="-120"/>
              </a:rPr>
              <a:t>Using Historical Day-Ahead Prices (2015-2025)</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621792"/>
            <a:ext cx="11155680" cy="713232"/>
          </a:xfrm>
          <a:prstGeom prst="rect">
            <a:avLst/>
          </a:prstGeom>
          <a:noFill/>
          <a:ln/>
        </p:spPr>
        <p:txBody>
          <a:bodyPr wrap="square" lIns="0" tIns="0" rIns="0" bIns="0" rtlCol="0" anchor="ctr"/>
          <a:lstStyle/>
          <a:p>
            <a:pPr marL="0" indent="0">
              <a:lnSpc>
                <a:spcPct val="102000"/>
              </a:lnSpc>
              <a:buNone/>
            </a:pPr>
            <a:r>
              <a:rPr lang="en-US" sz="2900" b="1" dirty="0">
                <a:solidFill>
                  <a:srgbClr val="13314F"/>
                </a:solidFill>
                <a:latin typeface="Cambria" pitchFamily="34" charset="0"/>
                <a:ea typeface="Cambria" pitchFamily="34" charset="-122"/>
                <a:cs typeface="Cambria" pitchFamily="34" charset="-120"/>
              </a:rPr>
              <a:t>ROADMAP</a:t>
            </a:r>
            <a:endParaRPr lang="en-US" sz="2900" dirty="0"/>
          </a:p>
        </p:txBody>
      </p:sp>
      <p:sp>
        <p:nvSpPr>
          <p:cNvPr id="4" name="Shape 2"/>
          <p:cNvSpPr/>
          <p:nvPr/>
        </p:nvSpPr>
        <p:spPr>
          <a:xfrm>
            <a:off x="548640" y="1655064"/>
            <a:ext cx="475488" cy="475488"/>
          </a:xfrm>
          <a:prstGeom prst="ellipse">
            <a:avLst/>
          </a:prstGeom>
          <a:solidFill>
            <a:srgbClr val="13314F"/>
          </a:solidFill>
          <a:ln/>
        </p:spPr>
        <p:txBody>
          <a:bodyPr/>
          <a:lstStyle/>
          <a:p>
            <a:endParaRPr lang="en-US"/>
          </a:p>
        </p:txBody>
      </p:sp>
      <p:sp>
        <p:nvSpPr>
          <p:cNvPr id="5" name="Text 3"/>
          <p:cNvSpPr/>
          <p:nvPr/>
        </p:nvSpPr>
        <p:spPr>
          <a:xfrm>
            <a:off x="548640" y="1655064"/>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34440" y="1700784"/>
            <a:ext cx="6309360" cy="384048"/>
          </a:xfrm>
          <a:prstGeom prst="rect">
            <a:avLst/>
          </a:prstGeom>
          <a:noFill/>
          <a:ln/>
        </p:spPr>
        <p:txBody>
          <a:bodyPr wrap="square" lIns="0" tIns="0" rIns="0" bIns="0" rtlCol="0" anchor="ctr"/>
          <a:lstStyle/>
          <a:p>
            <a:pPr marL="0" indent="0">
              <a:buNone/>
            </a:pPr>
            <a:r>
              <a:rPr lang="en-US" sz="1650" b="1" dirty="0">
                <a:solidFill>
                  <a:srgbClr val="13314F"/>
                </a:solidFill>
                <a:latin typeface="Cambria" pitchFamily="34" charset="0"/>
                <a:ea typeface="Cambria" pitchFamily="34" charset="-122"/>
                <a:cs typeface="Cambria" pitchFamily="34" charset="-120"/>
              </a:rPr>
              <a:t>Motivation and </a:t>
            </a:r>
            <a:r>
              <a:rPr lang="en-US" sz="1650" b="1" dirty="0" err="1">
                <a:solidFill>
                  <a:srgbClr val="13314F"/>
                </a:solidFill>
                <a:latin typeface="Cambria" pitchFamily="34" charset="0"/>
                <a:ea typeface="Cambria" pitchFamily="34" charset="-122"/>
                <a:cs typeface="Cambria" pitchFamily="34" charset="-120"/>
              </a:rPr>
              <a:t>Optimisation</a:t>
            </a:r>
            <a:r>
              <a:rPr lang="en-US" sz="1650" b="1" dirty="0">
                <a:solidFill>
                  <a:srgbClr val="13314F"/>
                </a:solidFill>
                <a:latin typeface="Cambria" pitchFamily="34" charset="0"/>
                <a:ea typeface="Cambria" pitchFamily="34" charset="-122"/>
                <a:cs typeface="Cambria" pitchFamily="34" charset="-120"/>
              </a:rPr>
              <a:t> Problem</a:t>
            </a:r>
            <a:endParaRPr lang="en-US" sz="1650" dirty="0"/>
          </a:p>
        </p:txBody>
      </p:sp>
      <p:sp>
        <p:nvSpPr>
          <p:cNvPr id="8" name="Shape 6"/>
          <p:cNvSpPr/>
          <p:nvPr/>
        </p:nvSpPr>
        <p:spPr>
          <a:xfrm>
            <a:off x="786384" y="2130552"/>
            <a:ext cx="0" cy="365760"/>
          </a:xfrm>
          <a:prstGeom prst="line">
            <a:avLst/>
          </a:prstGeom>
          <a:noFill/>
          <a:ln w="15875">
            <a:solidFill>
              <a:srgbClr val="CBD3DA"/>
            </a:solidFill>
            <a:prstDash val="dash"/>
          </a:ln>
        </p:spPr>
        <p:txBody>
          <a:bodyPr/>
          <a:lstStyle/>
          <a:p>
            <a:endParaRPr lang="en-US"/>
          </a:p>
        </p:txBody>
      </p:sp>
      <p:sp>
        <p:nvSpPr>
          <p:cNvPr id="9" name="Shape 7"/>
          <p:cNvSpPr/>
          <p:nvPr/>
        </p:nvSpPr>
        <p:spPr>
          <a:xfrm>
            <a:off x="548640" y="2551176"/>
            <a:ext cx="475488" cy="475488"/>
          </a:xfrm>
          <a:prstGeom prst="ellipse">
            <a:avLst/>
          </a:prstGeom>
          <a:solidFill>
            <a:srgbClr val="13314F"/>
          </a:solidFill>
          <a:ln/>
        </p:spPr>
        <p:txBody>
          <a:bodyPr/>
          <a:lstStyle/>
          <a:p>
            <a:endParaRPr lang="en-US"/>
          </a:p>
        </p:txBody>
      </p:sp>
      <p:sp>
        <p:nvSpPr>
          <p:cNvPr id="10" name="Text 8"/>
          <p:cNvSpPr/>
          <p:nvPr/>
        </p:nvSpPr>
        <p:spPr>
          <a:xfrm>
            <a:off x="548640" y="2551176"/>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1234440" y="2596896"/>
            <a:ext cx="6309360" cy="384048"/>
          </a:xfrm>
          <a:prstGeom prst="rect">
            <a:avLst/>
          </a:prstGeom>
          <a:noFill/>
          <a:ln/>
        </p:spPr>
        <p:txBody>
          <a:bodyPr wrap="square" lIns="0" tIns="0" rIns="0" bIns="0" rtlCol="0" anchor="ctr"/>
          <a:lstStyle/>
          <a:p>
            <a:pPr marL="0" indent="0">
              <a:buNone/>
            </a:pPr>
            <a:r>
              <a:rPr lang="en-US" sz="1650" b="1" dirty="0">
                <a:solidFill>
                  <a:srgbClr val="13314F"/>
                </a:solidFill>
                <a:latin typeface="Cambria" pitchFamily="34" charset="0"/>
                <a:ea typeface="Cambria" pitchFamily="34" charset="-122"/>
                <a:cs typeface="Cambria" pitchFamily="34" charset="-120"/>
              </a:rPr>
              <a:t>Data and Methodology</a:t>
            </a:r>
            <a:endParaRPr lang="en-US" sz="1650" dirty="0"/>
          </a:p>
        </p:txBody>
      </p:sp>
      <p:sp>
        <p:nvSpPr>
          <p:cNvPr id="13" name="Shape 11"/>
          <p:cNvSpPr/>
          <p:nvPr/>
        </p:nvSpPr>
        <p:spPr>
          <a:xfrm>
            <a:off x="786384" y="3026664"/>
            <a:ext cx="0" cy="365760"/>
          </a:xfrm>
          <a:prstGeom prst="line">
            <a:avLst/>
          </a:prstGeom>
          <a:noFill/>
          <a:ln w="15875">
            <a:solidFill>
              <a:srgbClr val="CBD3DA"/>
            </a:solidFill>
            <a:prstDash val="dash"/>
          </a:ln>
        </p:spPr>
        <p:txBody>
          <a:bodyPr/>
          <a:lstStyle/>
          <a:p>
            <a:endParaRPr lang="en-US"/>
          </a:p>
        </p:txBody>
      </p:sp>
      <p:sp>
        <p:nvSpPr>
          <p:cNvPr id="14" name="Shape 12"/>
          <p:cNvSpPr/>
          <p:nvPr/>
        </p:nvSpPr>
        <p:spPr>
          <a:xfrm>
            <a:off x="548640" y="3447288"/>
            <a:ext cx="475488" cy="475488"/>
          </a:xfrm>
          <a:prstGeom prst="ellipse">
            <a:avLst/>
          </a:prstGeom>
          <a:solidFill>
            <a:srgbClr val="13314F"/>
          </a:solidFill>
          <a:ln/>
        </p:spPr>
        <p:txBody>
          <a:bodyPr/>
          <a:lstStyle/>
          <a:p>
            <a:endParaRPr lang="en-US"/>
          </a:p>
        </p:txBody>
      </p:sp>
      <p:sp>
        <p:nvSpPr>
          <p:cNvPr id="15" name="Text 13"/>
          <p:cNvSpPr/>
          <p:nvPr/>
        </p:nvSpPr>
        <p:spPr>
          <a:xfrm>
            <a:off x="548640" y="344728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234440" y="3493008"/>
            <a:ext cx="6309360" cy="384048"/>
          </a:xfrm>
          <a:prstGeom prst="rect">
            <a:avLst/>
          </a:prstGeom>
          <a:noFill/>
          <a:ln/>
        </p:spPr>
        <p:txBody>
          <a:bodyPr wrap="square" lIns="0" tIns="0" rIns="0" bIns="0" rtlCol="0" anchor="ctr"/>
          <a:lstStyle/>
          <a:p>
            <a:pPr marL="0" indent="0">
              <a:buNone/>
            </a:pPr>
            <a:r>
              <a:rPr lang="en-US" sz="1650" b="1" dirty="0">
                <a:solidFill>
                  <a:srgbClr val="13314F"/>
                </a:solidFill>
                <a:latin typeface="Cambria" pitchFamily="34" charset="0"/>
                <a:ea typeface="Cambria" pitchFamily="34" charset="-122"/>
                <a:cs typeface="Cambria" pitchFamily="34" charset="-120"/>
              </a:rPr>
              <a:t>Variance &amp; CVaR Results </a:t>
            </a:r>
            <a:endParaRPr lang="en-US" sz="1650" dirty="0"/>
          </a:p>
        </p:txBody>
      </p:sp>
      <p:sp>
        <p:nvSpPr>
          <p:cNvPr id="18" name="Shape 16"/>
          <p:cNvSpPr/>
          <p:nvPr/>
        </p:nvSpPr>
        <p:spPr>
          <a:xfrm>
            <a:off x="786384" y="3922776"/>
            <a:ext cx="0" cy="365760"/>
          </a:xfrm>
          <a:prstGeom prst="line">
            <a:avLst/>
          </a:prstGeom>
          <a:noFill/>
          <a:ln w="15875">
            <a:solidFill>
              <a:srgbClr val="CBD3DA"/>
            </a:solidFill>
            <a:prstDash val="dash"/>
          </a:ln>
        </p:spPr>
        <p:txBody>
          <a:bodyPr/>
          <a:lstStyle/>
          <a:p>
            <a:endParaRPr lang="en-US"/>
          </a:p>
        </p:txBody>
      </p:sp>
      <p:sp>
        <p:nvSpPr>
          <p:cNvPr id="19" name="Shape 17"/>
          <p:cNvSpPr/>
          <p:nvPr/>
        </p:nvSpPr>
        <p:spPr>
          <a:xfrm>
            <a:off x="548640" y="4343400"/>
            <a:ext cx="475488" cy="475488"/>
          </a:xfrm>
          <a:prstGeom prst="ellipse">
            <a:avLst/>
          </a:prstGeom>
          <a:solidFill>
            <a:srgbClr val="13314F"/>
          </a:solidFill>
          <a:ln/>
        </p:spPr>
        <p:txBody>
          <a:bodyPr/>
          <a:lstStyle/>
          <a:p>
            <a:endParaRPr lang="en-US"/>
          </a:p>
        </p:txBody>
      </p:sp>
      <p:sp>
        <p:nvSpPr>
          <p:cNvPr id="20" name="Text 18"/>
          <p:cNvSpPr/>
          <p:nvPr/>
        </p:nvSpPr>
        <p:spPr>
          <a:xfrm>
            <a:off x="548640" y="4343400"/>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1234440" y="4389120"/>
            <a:ext cx="6309360" cy="384048"/>
          </a:xfrm>
          <a:prstGeom prst="rect">
            <a:avLst/>
          </a:prstGeom>
          <a:noFill/>
          <a:ln/>
        </p:spPr>
        <p:txBody>
          <a:bodyPr wrap="square" lIns="0" tIns="0" rIns="0" bIns="0" rtlCol="0" anchor="ctr"/>
          <a:lstStyle/>
          <a:p>
            <a:pPr marL="0" indent="0">
              <a:buNone/>
            </a:pPr>
            <a:r>
              <a:rPr lang="fr-FR" sz="1650" b="1" dirty="0">
                <a:solidFill>
                  <a:srgbClr val="13314F"/>
                </a:solidFill>
                <a:latin typeface="Cambria" pitchFamily="34" charset="0"/>
                <a:ea typeface="Cambria" pitchFamily="34" charset="-122"/>
              </a:rPr>
              <a:t>C</a:t>
            </a:r>
            <a:r>
              <a:rPr lang="en-US" sz="1650" b="1" dirty="0" err="1">
                <a:solidFill>
                  <a:srgbClr val="13314F"/>
                </a:solidFill>
                <a:latin typeface="Cambria" pitchFamily="34" charset="0"/>
                <a:ea typeface="Cambria" pitchFamily="34" charset="-122"/>
              </a:rPr>
              <a:t>onclusion</a:t>
            </a:r>
            <a:r>
              <a:rPr lang="en-US" sz="1650" b="1" dirty="0">
                <a:solidFill>
                  <a:srgbClr val="13314F"/>
                </a:solidFill>
                <a:latin typeface="Cambria" pitchFamily="34" charset="0"/>
                <a:ea typeface="Cambria" pitchFamily="34" charset="-122"/>
              </a:rPr>
              <a:t> &amp; Limitations</a:t>
            </a:r>
            <a:endParaRPr lang="en-US" sz="1650" dirty="0"/>
          </a:p>
        </p:txBody>
      </p:sp>
      <p:sp>
        <p:nvSpPr>
          <p:cNvPr id="25" name="Text 23"/>
          <p:cNvSpPr/>
          <p:nvPr/>
        </p:nvSpPr>
        <p:spPr>
          <a:xfrm>
            <a:off x="548640" y="5239512"/>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4" name="Google Shape;81;p3">
            <a:extLst>
              <a:ext uri="{FF2B5EF4-FFF2-40B4-BE49-F238E27FC236}">
                <a16:creationId xmlns:a16="http://schemas.microsoft.com/office/drawing/2014/main" id="{346E6F74-0459-38F9-FB37-3498C6FA8244}"/>
              </a:ext>
            </a:extLst>
          </p:cNvPr>
          <p:cNvSpPr txBox="1">
            <a:spLocks/>
          </p:cNvSpPr>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6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ct val="100000"/>
            </a:pPr>
            <a:fld id="{00000000-1234-1234-1234-123412341234}" type="slidenum">
              <a:rPr lang="fr" smtClean="0">
                <a:solidFill>
                  <a:schemeClr val="lt1"/>
                </a:solidFill>
                <a:latin typeface="Arial"/>
                <a:ea typeface="Arial"/>
                <a:cs typeface="Arial"/>
                <a:sym typeface="Arial"/>
              </a:rPr>
              <a:pPr algn="ctr">
                <a:buSzPct val="100000"/>
              </a:pPr>
              <a:t>2</a:t>
            </a:fld>
            <a:endParaRPr lang="fr">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p:nvPr/>
        </p:nvSpPr>
        <p:spPr>
          <a:xfrm>
            <a:off x="1879833" y="2069200"/>
            <a:ext cx="8542800" cy="2719600"/>
          </a:xfrm>
          <a:prstGeom prst="rect">
            <a:avLst/>
          </a:prstGeom>
          <a:solidFill>
            <a:srgbClr val="073763"/>
          </a:solidFill>
          <a:ln>
            <a:noFill/>
          </a:ln>
          <a:effectLst>
            <a:outerShdw blurRad="57150" dist="28575" dir="5400000" algn="bl" rotWithShape="0">
              <a:srgbClr val="000000">
                <a:alpha val="29409"/>
              </a:srgbClr>
            </a:outerShdw>
          </a:effectLst>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79" name="Google Shape;79;p3"/>
          <p:cNvSpPr txBox="1">
            <a:spLocks noGrp="1"/>
          </p:cNvSpPr>
          <p:nvPr>
            <p:ph type="ctrTitle"/>
          </p:nvPr>
        </p:nvSpPr>
        <p:spPr>
          <a:xfrm>
            <a:off x="2215633" y="2794384"/>
            <a:ext cx="9399000" cy="1269200"/>
          </a:xfrm>
          <a:prstGeom prst="rect">
            <a:avLst/>
          </a:prstGeom>
          <a:noFill/>
          <a:ln>
            <a:noFill/>
          </a:ln>
          <a:effectLst>
            <a:outerShdw blurRad="57150" dist="19050" dir="5400000" algn="bl" rotWithShape="0">
              <a:srgbClr val="000000">
                <a:alpha val="49411"/>
              </a:srgbClr>
            </a:outerShdw>
          </a:effectLst>
        </p:spPr>
        <p:txBody>
          <a:bodyPr spcFirstLastPara="1" wrap="square" lIns="121900" tIns="121900" rIns="121900" bIns="121900" anchor="ctr" anchorCtr="0">
            <a:noAutofit/>
          </a:bodyPr>
          <a:lstStyle/>
          <a:p>
            <a:r>
              <a:rPr lang="fr" sz="2800" b="1" dirty="0">
                <a:solidFill>
                  <a:schemeClr val="lt1"/>
                </a:solidFill>
                <a:latin typeface="Open Sans"/>
                <a:ea typeface="Open Sans"/>
                <a:cs typeface="Open Sans"/>
                <a:sym typeface="Open Sans"/>
              </a:rPr>
              <a:t>Motivation and Optimisation Problem</a:t>
            </a:r>
            <a:endParaRPr sz="2800" b="1" dirty="0">
              <a:solidFill>
                <a:schemeClr val="lt1"/>
              </a:solidFill>
              <a:latin typeface="Open Sans"/>
              <a:ea typeface="Open Sans"/>
              <a:cs typeface="Open Sans"/>
              <a:sym typeface="Open Sans"/>
            </a:endParaRPr>
          </a:p>
        </p:txBody>
      </p:sp>
      <p:pic>
        <p:nvPicPr>
          <p:cNvPr id="80" name="Google Shape;80;p3" title="point-dinterrogation-sur-un-fond-noir-circulaire.png"/>
          <p:cNvPicPr preferRelativeResize="0"/>
          <p:nvPr/>
        </p:nvPicPr>
        <p:blipFill rotWithShape="1">
          <a:blip r:embed="rId3">
            <a:alphaModFix/>
            <a:lum bright="70000" contrast="-70000"/>
          </a:blip>
          <a:srcRect/>
          <a:stretch/>
        </p:blipFill>
        <p:spPr>
          <a:xfrm>
            <a:off x="2306868" y="2901185"/>
            <a:ext cx="1055633" cy="1055633"/>
          </a:xfrm>
          <a:prstGeom prst="rect">
            <a:avLst/>
          </a:prstGeom>
          <a:noFill/>
          <a:ln>
            <a:noFill/>
          </a:ln>
        </p:spPr>
      </p:pic>
      <p:sp>
        <p:nvSpPr>
          <p:cNvPr id="81" name="Google Shape;81;p3"/>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3</a:t>
            </a:fld>
            <a:endParaRPr>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CF1477DF-7C9A-A458-1CCB-20CEC6C1DD8B}"/>
            </a:ext>
          </a:extLst>
        </p:cNvPr>
        <p:cNvGrpSpPr/>
        <p:nvPr/>
      </p:nvGrpSpPr>
      <p:grpSpPr>
        <a:xfrm>
          <a:off x="0" y="0"/>
          <a:ext cx="0" cy="0"/>
          <a:chOff x="0" y="0"/>
          <a:chExt cx="0" cy="0"/>
        </a:xfrm>
      </p:grpSpPr>
      <p:sp>
        <p:nvSpPr>
          <p:cNvPr id="75" name="Google Shape;75;g3b83c7c63cf_0_48">
            <a:extLst>
              <a:ext uri="{FF2B5EF4-FFF2-40B4-BE49-F238E27FC236}">
                <a16:creationId xmlns:a16="http://schemas.microsoft.com/office/drawing/2014/main" id="{15886058-CDEF-7A02-7EA6-51B116B14954}"/>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Motivation and </a:t>
            </a:r>
            <a:r>
              <a:rPr lang="en-US" sz="3200" b="1" dirty="0" err="1">
                <a:solidFill>
                  <a:srgbClr val="000000"/>
                </a:solidFill>
                <a:latin typeface="Open Sans"/>
                <a:ea typeface="Open Sans"/>
                <a:cs typeface="Open Sans"/>
                <a:sym typeface="Open Sans"/>
              </a:rPr>
              <a:t>Optimisation</a:t>
            </a:r>
            <a:r>
              <a:rPr lang="en-US" sz="3200" b="1" dirty="0">
                <a:solidFill>
                  <a:srgbClr val="000000"/>
                </a:solidFill>
                <a:latin typeface="Open Sans"/>
                <a:ea typeface="Open Sans"/>
                <a:cs typeface="Open Sans"/>
                <a:sym typeface="Open Sans"/>
              </a:rPr>
              <a:t> Problem</a:t>
            </a:r>
            <a:endParaRPr sz="3200" b="1" dirty="0">
              <a:solidFill>
                <a:srgbClr val="000000"/>
              </a:solidFill>
              <a:latin typeface="Open Sans"/>
              <a:ea typeface="Open Sans"/>
              <a:cs typeface="Open Sans"/>
              <a:sym typeface="Open Sans"/>
            </a:endParaRPr>
          </a:p>
        </p:txBody>
      </p:sp>
      <p:sp>
        <p:nvSpPr>
          <p:cNvPr id="76" name="Google Shape;76;g3b83c7c63cf_0_48">
            <a:extLst>
              <a:ext uri="{FF2B5EF4-FFF2-40B4-BE49-F238E27FC236}">
                <a16:creationId xmlns:a16="http://schemas.microsoft.com/office/drawing/2014/main" id="{DBB45143-230A-A263-06EC-821DEC453C3B}"/>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8B9E72A4-6F16-3030-F2CD-ADFA1CDA4A61}"/>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The client: an industrial company in DK1</a:t>
            </a:r>
          </a:p>
        </p:txBody>
      </p:sp>
      <p:sp>
        <p:nvSpPr>
          <p:cNvPr id="4" name="Google Shape;81;p3">
            <a:extLst>
              <a:ext uri="{FF2B5EF4-FFF2-40B4-BE49-F238E27FC236}">
                <a16:creationId xmlns:a16="http://schemas.microsoft.com/office/drawing/2014/main" id="{8B774200-C6BE-601B-3842-DD276AFE495B}"/>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4</a:t>
            </a:fld>
            <a:endParaRPr>
              <a:solidFill>
                <a:schemeClr val="lt1"/>
              </a:solidFill>
              <a:latin typeface="Arial"/>
              <a:ea typeface="Arial"/>
              <a:cs typeface="Arial"/>
              <a:sym typeface="Arial"/>
            </a:endParaRPr>
          </a:p>
        </p:txBody>
      </p:sp>
      <p:sp>
        <p:nvSpPr>
          <p:cNvPr id="6" name="TextBox 4">
            <a:extLst>
              <a:ext uri="{FF2B5EF4-FFF2-40B4-BE49-F238E27FC236}">
                <a16:creationId xmlns:a16="http://schemas.microsoft.com/office/drawing/2014/main" id="{58FFC65E-A714-C474-81D7-03C3927F1ED9}"/>
              </a:ext>
            </a:extLst>
          </p:cNvPr>
          <p:cNvSpPr txBox="1"/>
          <p:nvPr/>
        </p:nvSpPr>
        <p:spPr>
          <a:xfrm>
            <a:off x="3174785" y="1829387"/>
            <a:ext cx="6086270" cy="323165"/>
          </a:xfrm>
          <a:prstGeom prst="rect">
            <a:avLst/>
          </a:prstGeom>
          <a:noFill/>
        </p:spPr>
        <p:txBody>
          <a:bodyPr wrap="square" lIns="45720" rIns="45720">
            <a:spAutoFit/>
          </a:bodyPr>
          <a:lstStyle/>
          <a:p>
            <a:pPr>
              <a:defRPr sz="1500" b="0">
                <a:solidFill>
                  <a:srgbClr val="5F5B67"/>
                </a:solidFill>
                <a:latin typeface="Aptos"/>
              </a:defRPr>
            </a:pPr>
            <a:r>
              <a:rPr dirty="0"/>
              <a:t>A hypothetical Danish manufacturer with electricity-intensive operations</a:t>
            </a:r>
          </a:p>
        </p:txBody>
      </p:sp>
      <p:sp>
        <p:nvSpPr>
          <p:cNvPr id="10" name="Rounded Rectangle 8">
            <a:extLst>
              <a:ext uri="{FF2B5EF4-FFF2-40B4-BE49-F238E27FC236}">
                <a16:creationId xmlns:a16="http://schemas.microsoft.com/office/drawing/2014/main" id="{42A7745B-2714-CE3F-D661-C6332592EE7D}"/>
              </a:ext>
            </a:extLst>
          </p:cNvPr>
          <p:cNvSpPr/>
          <p:nvPr/>
        </p:nvSpPr>
        <p:spPr>
          <a:xfrm>
            <a:off x="685800" y="2359854"/>
            <a:ext cx="3429000" cy="32461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0B596C59-D490-7ED0-DBD2-8DF4E449B5BA}"/>
              </a:ext>
            </a:extLst>
          </p:cNvPr>
          <p:cNvSpPr/>
          <p:nvPr/>
        </p:nvSpPr>
        <p:spPr>
          <a:xfrm>
            <a:off x="685800" y="2359854"/>
            <a:ext cx="68580" cy="3246120"/>
          </a:xfrm>
          <a:prstGeom prst="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0">
            <a:extLst>
              <a:ext uri="{FF2B5EF4-FFF2-40B4-BE49-F238E27FC236}">
                <a16:creationId xmlns:a16="http://schemas.microsoft.com/office/drawing/2014/main" id="{B9B50324-8790-66CB-BE4F-82E4E59308F2}"/>
              </a:ext>
            </a:extLst>
          </p:cNvPr>
          <p:cNvSpPr txBox="1"/>
          <p:nvPr/>
        </p:nvSpPr>
        <p:spPr>
          <a:xfrm>
            <a:off x="886968" y="2561022"/>
            <a:ext cx="3017520" cy="457200"/>
          </a:xfrm>
          <a:prstGeom prst="rect">
            <a:avLst/>
          </a:prstGeom>
          <a:noFill/>
        </p:spPr>
        <p:txBody>
          <a:bodyPr wrap="square" lIns="45720" rIns="45720">
            <a:spAutoFit/>
          </a:bodyPr>
          <a:lstStyle/>
          <a:p>
            <a:pPr>
              <a:defRPr sz="1900" b="1">
                <a:solidFill>
                  <a:srgbClr val="2E1B4C"/>
                </a:solidFill>
                <a:latin typeface="Aptos"/>
              </a:defRPr>
            </a:pPr>
            <a:r>
              <a:t>Business model</a:t>
            </a:r>
          </a:p>
        </p:txBody>
      </p:sp>
      <p:sp>
        <p:nvSpPr>
          <p:cNvPr id="16" name="TextBox 11">
            <a:extLst>
              <a:ext uri="{FF2B5EF4-FFF2-40B4-BE49-F238E27FC236}">
                <a16:creationId xmlns:a16="http://schemas.microsoft.com/office/drawing/2014/main" id="{48C92E35-52C2-6AD4-A6A1-2625474968A8}"/>
              </a:ext>
            </a:extLst>
          </p:cNvPr>
          <p:cNvSpPr txBox="1"/>
          <p:nvPr/>
        </p:nvSpPr>
        <p:spPr>
          <a:xfrm>
            <a:off x="886968" y="3109662"/>
            <a:ext cx="3008376" cy="2377439"/>
          </a:xfrm>
          <a:prstGeom prst="rect">
            <a:avLst/>
          </a:prstGeom>
          <a:noFill/>
        </p:spPr>
        <p:txBody>
          <a:bodyPr wrap="square" lIns="45720" rIns="45720">
            <a:spAutoFit/>
          </a:bodyPr>
          <a:lstStyle/>
          <a:p>
            <a:pPr>
              <a:defRPr sz="1600" b="0">
                <a:solidFill>
                  <a:srgbClr val="5F5B67"/>
                </a:solidFill>
                <a:latin typeface="Aptos"/>
              </a:defRPr>
            </a:pPr>
            <a:r>
              <a:t>Production requires continuous electricity consumption. The company purchases power at prices linked to the DK1 market.</a:t>
            </a:r>
          </a:p>
        </p:txBody>
      </p:sp>
      <p:sp>
        <p:nvSpPr>
          <p:cNvPr id="18" name="Rounded Rectangle 12">
            <a:extLst>
              <a:ext uri="{FF2B5EF4-FFF2-40B4-BE49-F238E27FC236}">
                <a16:creationId xmlns:a16="http://schemas.microsoft.com/office/drawing/2014/main" id="{2E428C94-5B42-F03D-C107-270F5024E4FE}"/>
              </a:ext>
            </a:extLst>
          </p:cNvPr>
          <p:cNvSpPr/>
          <p:nvPr/>
        </p:nvSpPr>
        <p:spPr>
          <a:xfrm>
            <a:off x="4370832" y="2359854"/>
            <a:ext cx="3429000" cy="32461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40D081ED-B41C-2A28-C0E6-AB37163F8D60}"/>
              </a:ext>
            </a:extLst>
          </p:cNvPr>
          <p:cNvSpPr/>
          <p:nvPr/>
        </p:nvSpPr>
        <p:spPr>
          <a:xfrm>
            <a:off x="4370832" y="2359854"/>
            <a:ext cx="68580" cy="3246120"/>
          </a:xfrm>
          <a:prstGeom prst="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14">
            <a:extLst>
              <a:ext uri="{FF2B5EF4-FFF2-40B4-BE49-F238E27FC236}">
                <a16:creationId xmlns:a16="http://schemas.microsoft.com/office/drawing/2014/main" id="{95BD2565-3C57-0B99-71EA-882941A4FEA9}"/>
              </a:ext>
            </a:extLst>
          </p:cNvPr>
          <p:cNvSpPr txBox="1"/>
          <p:nvPr/>
        </p:nvSpPr>
        <p:spPr>
          <a:xfrm>
            <a:off x="4572000" y="2561022"/>
            <a:ext cx="3017520" cy="457200"/>
          </a:xfrm>
          <a:prstGeom prst="rect">
            <a:avLst/>
          </a:prstGeom>
          <a:noFill/>
        </p:spPr>
        <p:txBody>
          <a:bodyPr wrap="square" lIns="45720" rIns="45720">
            <a:spAutoFit/>
          </a:bodyPr>
          <a:lstStyle/>
          <a:p>
            <a:pPr>
              <a:defRPr sz="1900" b="1">
                <a:solidFill>
                  <a:srgbClr val="2E1B4C"/>
                </a:solidFill>
                <a:latin typeface="Aptos"/>
              </a:defRPr>
            </a:pPr>
            <a:r>
              <a:t>Financial exposure</a:t>
            </a:r>
          </a:p>
        </p:txBody>
      </p:sp>
      <p:sp>
        <p:nvSpPr>
          <p:cNvPr id="24" name="TextBox 15">
            <a:extLst>
              <a:ext uri="{FF2B5EF4-FFF2-40B4-BE49-F238E27FC236}">
                <a16:creationId xmlns:a16="http://schemas.microsoft.com/office/drawing/2014/main" id="{D9BE3A8F-8097-DCD3-C1D4-04F0391490CE}"/>
              </a:ext>
            </a:extLst>
          </p:cNvPr>
          <p:cNvSpPr txBox="1"/>
          <p:nvPr/>
        </p:nvSpPr>
        <p:spPr>
          <a:xfrm>
            <a:off x="4572000" y="3109662"/>
            <a:ext cx="3008376" cy="2377439"/>
          </a:xfrm>
          <a:prstGeom prst="rect">
            <a:avLst/>
          </a:prstGeom>
          <a:noFill/>
        </p:spPr>
        <p:txBody>
          <a:bodyPr wrap="square" lIns="45720" rIns="45720">
            <a:spAutoFit/>
          </a:bodyPr>
          <a:lstStyle/>
          <a:p>
            <a:pPr>
              <a:defRPr sz="1600" b="0">
                <a:solidFill>
                  <a:srgbClr val="5F5B67"/>
                </a:solidFill>
                <a:latin typeface="Aptos"/>
              </a:defRPr>
            </a:pPr>
            <a:r>
              <a:t>Hourly price fluctuations create uncertainty in procurement expenditure and operating margins.</a:t>
            </a:r>
          </a:p>
        </p:txBody>
      </p:sp>
      <p:sp>
        <p:nvSpPr>
          <p:cNvPr id="26" name="Rounded Rectangle 16">
            <a:extLst>
              <a:ext uri="{FF2B5EF4-FFF2-40B4-BE49-F238E27FC236}">
                <a16:creationId xmlns:a16="http://schemas.microsoft.com/office/drawing/2014/main" id="{0B8FF7BE-E006-B051-6587-22554DC05A61}"/>
              </a:ext>
            </a:extLst>
          </p:cNvPr>
          <p:cNvSpPr/>
          <p:nvPr/>
        </p:nvSpPr>
        <p:spPr>
          <a:xfrm>
            <a:off x="8055864" y="2359854"/>
            <a:ext cx="3429000" cy="32461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FDCD4AB2-9A68-3FEF-203E-740472FA3AA0}"/>
              </a:ext>
            </a:extLst>
          </p:cNvPr>
          <p:cNvSpPr/>
          <p:nvPr/>
        </p:nvSpPr>
        <p:spPr>
          <a:xfrm>
            <a:off x="8055864" y="2359854"/>
            <a:ext cx="68580" cy="3246120"/>
          </a:xfrm>
          <a:prstGeom prst="rect">
            <a:avLst/>
          </a:prstGeom>
          <a:solidFill>
            <a:srgbClr val="C49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18">
            <a:extLst>
              <a:ext uri="{FF2B5EF4-FFF2-40B4-BE49-F238E27FC236}">
                <a16:creationId xmlns:a16="http://schemas.microsoft.com/office/drawing/2014/main" id="{C57D42C6-62BA-4EE3-76AB-053BADFCAD7B}"/>
              </a:ext>
            </a:extLst>
          </p:cNvPr>
          <p:cNvSpPr txBox="1"/>
          <p:nvPr/>
        </p:nvSpPr>
        <p:spPr>
          <a:xfrm>
            <a:off x="8257032" y="2561022"/>
            <a:ext cx="3017520" cy="457200"/>
          </a:xfrm>
          <a:prstGeom prst="rect">
            <a:avLst/>
          </a:prstGeom>
          <a:noFill/>
        </p:spPr>
        <p:txBody>
          <a:bodyPr wrap="square" lIns="45720" rIns="45720">
            <a:spAutoFit/>
          </a:bodyPr>
          <a:lstStyle/>
          <a:p>
            <a:pPr>
              <a:defRPr sz="1900" b="1">
                <a:solidFill>
                  <a:srgbClr val="2E1B4C"/>
                </a:solidFill>
                <a:latin typeface="Aptos"/>
              </a:defRPr>
            </a:pPr>
            <a:r>
              <a:t>Management mandate</a:t>
            </a:r>
          </a:p>
        </p:txBody>
      </p:sp>
      <p:sp>
        <p:nvSpPr>
          <p:cNvPr id="65" name="TextBox 19">
            <a:extLst>
              <a:ext uri="{FF2B5EF4-FFF2-40B4-BE49-F238E27FC236}">
                <a16:creationId xmlns:a16="http://schemas.microsoft.com/office/drawing/2014/main" id="{C8A6B619-668C-DD51-407D-7BFF4A8A1A8A}"/>
              </a:ext>
            </a:extLst>
          </p:cNvPr>
          <p:cNvSpPr txBox="1"/>
          <p:nvPr/>
        </p:nvSpPr>
        <p:spPr>
          <a:xfrm>
            <a:off x="8257032" y="3109662"/>
            <a:ext cx="3008376" cy="2377439"/>
          </a:xfrm>
          <a:prstGeom prst="rect">
            <a:avLst/>
          </a:prstGeom>
          <a:noFill/>
        </p:spPr>
        <p:txBody>
          <a:bodyPr wrap="square" lIns="45720" rIns="45720">
            <a:spAutoFit/>
          </a:bodyPr>
          <a:lstStyle/>
          <a:p>
            <a:pPr>
              <a:defRPr sz="1600" b="0">
                <a:solidFill>
                  <a:srgbClr val="5F5B67"/>
                </a:solidFill>
                <a:latin typeface="Aptos"/>
              </a:defRPr>
            </a:pPr>
            <a:r>
              <a:t>Explore whether neighboring electricity markets can help stabilize the company’s price exposure.</a:t>
            </a:r>
          </a:p>
        </p:txBody>
      </p:sp>
      <p:sp>
        <p:nvSpPr>
          <p:cNvPr id="68" name="TextBox 20">
            <a:extLst>
              <a:ext uri="{FF2B5EF4-FFF2-40B4-BE49-F238E27FC236}">
                <a16:creationId xmlns:a16="http://schemas.microsoft.com/office/drawing/2014/main" id="{082DC299-BADF-D440-9899-524D0E039576}"/>
              </a:ext>
            </a:extLst>
          </p:cNvPr>
          <p:cNvSpPr txBox="1"/>
          <p:nvPr/>
        </p:nvSpPr>
        <p:spPr>
          <a:xfrm>
            <a:off x="960120" y="5898582"/>
            <a:ext cx="10515600" cy="384721"/>
          </a:xfrm>
          <a:prstGeom prst="rect">
            <a:avLst/>
          </a:prstGeom>
          <a:noFill/>
        </p:spPr>
        <p:txBody>
          <a:bodyPr wrap="square" lIns="45720" rIns="45720">
            <a:spAutoFit/>
          </a:bodyPr>
          <a:lstStyle/>
          <a:p>
            <a:pPr algn="ctr">
              <a:defRPr sz="1900" b="1">
                <a:solidFill>
                  <a:srgbClr val="4E287F"/>
                </a:solidFill>
                <a:latin typeface="Aptos"/>
              </a:defRPr>
            </a:pPr>
            <a:r>
              <a:rPr dirty="0"/>
              <a:t>The goal is lower cost variability</a:t>
            </a:r>
            <a:r>
              <a:rPr lang="fr-FR" dirty="0"/>
              <a:t>, </a:t>
            </a:r>
            <a:r>
              <a:rPr dirty="0"/>
              <a:t>not necessarily lower average electricity prices.</a:t>
            </a:r>
          </a:p>
        </p:txBody>
      </p:sp>
    </p:spTree>
    <p:extLst>
      <p:ext uri="{BB962C8B-B14F-4D97-AF65-F5344CB8AC3E}">
        <p14:creationId xmlns:p14="http://schemas.microsoft.com/office/powerpoint/2010/main" val="649486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E5A1C395-BD56-2B98-F031-A165878A55EE}"/>
            </a:ext>
          </a:extLst>
        </p:cNvPr>
        <p:cNvGrpSpPr/>
        <p:nvPr/>
      </p:nvGrpSpPr>
      <p:grpSpPr>
        <a:xfrm>
          <a:off x="0" y="0"/>
          <a:ext cx="0" cy="0"/>
          <a:chOff x="0" y="0"/>
          <a:chExt cx="0" cy="0"/>
        </a:xfrm>
      </p:grpSpPr>
      <p:sp>
        <p:nvSpPr>
          <p:cNvPr id="75" name="Google Shape;75;g3b83c7c63cf_0_48">
            <a:extLst>
              <a:ext uri="{FF2B5EF4-FFF2-40B4-BE49-F238E27FC236}">
                <a16:creationId xmlns:a16="http://schemas.microsoft.com/office/drawing/2014/main" id="{148D03C7-BC72-AC5B-50E5-40C3537D8F75}"/>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Motivation and </a:t>
            </a:r>
            <a:r>
              <a:rPr lang="en-US" sz="3200" b="1" dirty="0" err="1">
                <a:solidFill>
                  <a:srgbClr val="000000"/>
                </a:solidFill>
                <a:latin typeface="Open Sans"/>
                <a:ea typeface="Open Sans"/>
                <a:cs typeface="Open Sans"/>
                <a:sym typeface="Open Sans"/>
              </a:rPr>
              <a:t>Optimisation</a:t>
            </a:r>
            <a:r>
              <a:rPr lang="en-US" sz="3200" b="1" dirty="0">
                <a:solidFill>
                  <a:srgbClr val="000000"/>
                </a:solidFill>
                <a:latin typeface="Open Sans"/>
                <a:ea typeface="Open Sans"/>
                <a:cs typeface="Open Sans"/>
                <a:sym typeface="Open Sans"/>
              </a:rPr>
              <a:t> Problem</a:t>
            </a:r>
            <a:endParaRPr sz="3200" b="1" dirty="0">
              <a:solidFill>
                <a:srgbClr val="000000"/>
              </a:solidFill>
              <a:latin typeface="Open Sans"/>
              <a:ea typeface="Open Sans"/>
              <a:cs typeface="Open Sans"/>
              <a:sym typeface="Open Sans"/>
            </a:endParaRPr>
          </a:p>
        </p:txBody>
      </p:sp>
      <p:sp>
        <p:nvSpPr>
          <p:cNvPr id="76" name="Google Shape;76;g3b83c7c63cf_0_48">
            <a:extLst>
              <a:ext uri="{FF2B5EF4-FFF2-40B4-BE49-F238E27FC236}">
                <a16:creationId xmlns:a16="http://schemas.microsoft.com/office/drawing/2014/main" id="{DA4D324A-9EDA-2B3E-A824-5B2B3E21001B}"/>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91B8BA32-DBE3-F826-FDA8-FD27424B64CF}"/>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The client: an industrial company in DK1</a:t>
            </a:r>
          </a:p>
        </p:txBody>
      </p:sp>
      <p:sp>
        <p:nvSpPr>
          <p:cNvPr id="4" name="Google Shape;81;p3">
            <a:extLst>
              <a:ext uri="{FF2B5EF4-FFF2-40B4-BE49-F238E27FC236}">
                <a16:creationId xmlns:a16="http://schemas.microsoft.com/office/drawing/2014/main" id="{5A4ED8E2-67C8-E42D-5869-1EDB00E00C60}"/>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5</a:t>
            </a:fld>
            <a:endParaRPr>
              <a:solidFill>
                <a:schemeClr val="lt1"/>
              </a:solidFill>
              <a:latin typeface="Arial"/>
              <a:ea typeface="Arial"/>
              <a:cs typeface="Arial"/>
              <a:sym typeface="Arial"/>
            </a:endParaRPr>
          </a:p>
        </p:txBody>
      </p:sp>
      <p:sp>
        <p:nvSpPr>
          <p:cNvPr id="6" name="TextBox 4">
            <a:extLst>
              <a:ext uri="{FF2B5EF4-FFF2-40B4-BE49-F238E27FC236}">
                <a16:creationId xmlns:a16="http://schemas.microsoft.com/office/drawing/2014/main" id="{8C308DF8-47D5-F8AF-F438-CB69FB59A10D}"/>
              </a:ext>
            </a:extLst>
          </p:cNvPr>
          <p:cNvSpPr txBox="1"/>
          <p:nvPr/>
        </p:nvSpPr>
        <p:spPr>
          <a:xfrm>
            <a:off x="1064631" y="2240555"/>
            <a:ext cx="7633892" cy="323165"/>
          </a:xfrm>
          <a:prstGeom prst="rect">
            <a:avLst/>
          </a:prstGeom>
          <a:noFill/>
        </p:spPr>
        <p:txBody>
          <a:bodyPr wrap="square" lIns="45720" rIns="45720">
            <a:spAutoFit/>
          </a:bodyPr>
          <a:lstStyle/>
          <a:p>
            <a:pPr>
              <a:defRPr sz="1500" b="0">
                <a:solidFill>
                  <a:srgbClr val="5F5B67"/>
                </a:solidFill>
                <a:latin typeface="Aptos"/>
              </a:defRPr>
            </a:pPr>
            <a:r>
              <a:rPr lang="en-US" dirty="0"/>
              <a:t>We start with hourly price changes before modelling real procurement cash flows</a:t>
            </a:r>
          </a:p>
        </p:txBody>
      </p:sp>
      <p:sp>
        <p:nvSpPr>
          <p:cNvPr id="7" name="Rounded Rectangle 8">
            <a:extLst>
              <a:ext uri="{FF2B5EF4-FFF2-40B4-BE49-F238E27FC236}">
                <a16:creationId xmlns:a16="http://schemas.microsoft.com/office/drawing/2014/main" id="{770E6276-2CDE-6C85-5A91-48CE6B157866}"/>
              </a:ext>
            </a:extLst>
          </p:cNvPr>
          <p:cNvSpPr/>
          <p:nvPr/>
        </p:nvSpPr>
        <p:spPr>
          <a:xfrm>
            <a:off x="878762" y="2700997"/>
            <a:ext cx="5074920" cy="246888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a:extLst>
              <a:ext uri="{FF2B5EF4-FFF2-40B4-BE49-F238E27FC236}">
                <a16:creationId xmlns:a16="http://schemas.microsoft.com/office/drawing/2014/main" id="{339AE6AD-820A-4CAB-752B-D32045223998}"/>
              </a:ext>
            </a:extLst>
          </p:cNvPr>
          <p:cNvSpPr txBox="1"/>
          <p:nvPr/>
        </p:nvSpPr>
        <p:spPr>
          <a:xfrm>
            <a:off x="1162225" y="3002749"/>
            <a:ext cx="4572000" cy="411480"/>
          </a:xfrm>
          <a:prstGeom prst="rect">
            <a:avLst/>
          </a:prstGeom>
          <a:noFill/>
        </p:spPr>
        <p:txBody>
          <a:bodyPr wrap="square" lIns="45720" rIns="45720">
            <a:spAutoFit/>
          </a:bodyPr>
          <a:lstStyle/>
          <a:p>
            <a:pPr>
              <a:defRPr sz="2100" b="1">
                <a:solidFill>
                  <a:srgbClr val="2E1B4C"/>
                </a:solidFill>
                <a:latin typeface="Aptos"/>
              </a:defRPr>
            </a:pPr>
            <a:r>
              <a:t>Electricity procurement cost</a:t>
            </a:r>
          </a:p>
        </p:txBody>
      </p:sp>
      <p:sp>
        <p:nvSpPr>
          <p:cNvPr id="13" name="TextBox 10">
            <a:extLst>
              <a:ext uri="{FF2B5EF4-FFF2-40B4-BE49-F238E27FC236}">
                <a16:creationId xmlns:a16="http://schemas.microsoft.com/office/drawing/2014/main" id="{B0C41723-A5CA-7CA1-4C7E-3F138AD3AB6B}"/>
              </a:ext>
            </a:extLst>
          </p:cNvPr>
          <p:cNvSpPr txBox="1"/>
          <p:nvPr/>
        </p:nvSpPr>
        <p:spPr>
          <a:xfrm>
            <a:off x="1162225" y="3615397"/>
            <a:ext cx="4572000" cy="594360"/>
          </a:xfrm>
          <a:prstGeom prst="rect">
            <a:avLst/>
          </a:prstGeom>
          <a:noFill/>
        </p:spPr>
        <p:txBody>
          <a:bodyPr wrap="square" lIns="45720" rIns="45720">
            <a:spAutoFit/>
          </a:bodyPr>
          <a:lstStyle/>
          <a:p>
            <a:pPr>
              <a:defRPr sz="2100" b="1">
                <a:solidFill>
                  <a:srgbClr val="4E287F"/>
                </a:solidFill>
                <a:latin typeface="Aptos"/>
              </a:defRPr>
            </a:pPr>
            <a:r>
              <a:t>Costₜ = Consumptionₜ × DK1 priceₜ</a:t>
            </a:r>
          </a:p>
        </p:txBody>
      </p:sp>
      <p:sp>
        <p:nvSpPr>
          <p:cNvPr id="17" name="TextBox 11">
            <a:extLst>
              <a:ext uri="{FF2B5EF4-FFF2-40B4-BE49-F238E27FC236}">
                <a16:creationId xmlns:a16="http://schemas.microsoft.com/office/drawing/2014/main" id="{D6055ED4-ED2B-BF8E-C257-DB57013237E6}"/>
              </a:ext>
            </a:extLst>
          </p:cNvPr>
          <p:cNvSpPr txBox="1"/>
          <p:nvPr/>
        </p:nvSpPr>
        <p:spPr>
          <a:xfrm>
            <a:off x="1162225" y="4456645"/>
            <a:ext cx="4572000" cy="475488"/>
          </a:xfrm>
          <a:prstGeom prst="rect">
            <a:avLst/>
          </a:prstGeom>
          <a:noFill/>
        </p:spPr>
        <p:txBody>
          <a:bodyPr wrap="square" lIns="45720" rIns="45720">
            <a:spAutoFit/>
          </a:bodyPr>
          <a:lstStyle/>
          <a:p>
            <a:pPr>
              <a:defRPr sz="1500" b="0">
                <a:solidFill>
                  <a:srgbClr val="5F5B67"/>
                </a:solidFill>
                <a:latin typeface="Aptos"/>
              </a:defRPr>
            </a:pPr>
            <a:r>
              <a:t>Actual costs also depend on load volumes and contract terms.</a:t>
            </a:r>
          </a:p>
        </p:txBody>
      </p:sp>
      <p:sp>
        <p:nvSpPr>
          <p:cNvPr id="21" name="Rounded Rectangle 12">
            <a:extLst>
              <a:ext uri="{FF2B5EF4-FFF2-40B4-BE49-F238E27FC236}">
                <a16:creationId xmlns:a16="http://schemas.microsoft.com/office/drawing/2014/main" id="{F4FDE4CB-B666-73AD-1980-AC4C7F3E0FC1}"/>
              </a:ext>
            </a:extLst>
          </p:cNvPr>
          <p:cNvSpPr/>
          <p:nvPr/>
        </p:nvSpPr>
        <p:spPr>
          <a:xfrm>
            <a:off x="6420026" y="2700997"/>
            <a:ext cx="5074920" cy="246888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13">
            <a:extLst>
              <a:ext uri="{FF2B5EF4-FFF2-40B4-BE49-F238E27FC236}">
                <a16:creationId xmlns:a16="http://schemas.microsoft.com/office/drawing/2014/main" id="{A8E6ACD9-F809-2B21-F1A5-CAC0B3542130}"/>
              </a:ext>
            </a:extLst>
          </p:cNvPr>
          <p:cNvSpPr txBox="1"/>
          <p:nvPr/>
        </p:nvSpPr>
        <p:spPr>
          <a:xfrm>
            <a:off x="6712634" y="3002749"/>
            <a:ext cx="4572000" cy="411480"/>
          </a:xfrm>
          <a:prstGeom prst="rect">
            <a:avLst/>
          </a:prstGeom>
          <a:noFill/>
        </p:spPr>
        <p:txBody>
          <a:bodyPr wrap="square" lIns="45720" rIns="45720">
            <a:spAutoFit/>
          </a:bodyPr>
          <a:lstStyle/>
          <a:p>
            <a:pPr>
              <a:defRPr sz="2100" b="1">
                <a:solidFill>
                  <a:srgbClr val="2E1B4C"/>
                </a:solidFill>
                <a:latin typeface="Aptos"/>
              </a:defRPr>
            </a:pPr>
            <a:r>
              <a:t>What this study measures</a:t>
            </a:r>
          </a:p>
        </p:txBody>
      </p:sp>
      <p:sp>
        <p:nvSpPr>
          <p:cNvPr id="29" name="TextBox 14">
            <a:extLst>
              <a:ext uri="{FF2B5EF4-FFF2-40B4-BE49-F238E27FC236}">
                <a16:creationId xmlns:a16="http://schemas.microsoft.com/office/drawing/2014/main" id="{B8C204C4-77F1-BAE2-4911-387A1B4F8E99}"/>
              </a:ext>
            </a:extLst>
          </p:cNvPr>
          <p:cNvSpPr txBox="1"/>
          <p:nvPr/>
        </p:nvSpPr>
        <p:spPr>
          <a:xfrm>
            <a:off x="6712634" y="3615397"/>
            <a:ext cx="4389120" cy="594360"/>
          </a:xfrm>
          <a:prstGeom prst="rect">
            <a:avLst/>
          </a:prstGeom>
          <a:noFill/>
        </p:spPr>
        <p:txBody>
          <a:bodyPr wrap="square" lIns="45720" rIns="45720">
            <a:spAutoFit/>
          </a:bodyPr>
          <a:lstStyle/>
          <a:p>
            <a:pPr>
              <a:defRPr sz="2300" b="1">
                <a:solidFill>
                  <a:srgbClr val="4E287F"/>
                </a:solidFill>
                <a:latin typeface="Aptos"/>
              </a:defRPr>
            </a:pPr>
            <a:r>
              <a:t>ΔPₜ = Pₜ − Pₜ₋₁</a:t>
            </a:r>
          </a:p>
        </p:txBody>
      </p:sp>
      <p:sp>
        <p:nvSpPr>
          <p:cNvPr id="64" name="TextBox 15">
            <a:extLst>
              <a:ext uri="{FF2B5EF4-FFF2-40B4-BE49-F238E27FC236}">
                <a16:creationId xmlns:a16="http://schemas.microsoft.com/office/drawing/2014/main" id="{AC670B87-CAE4-096D-4A7D-5826B16C1F2B}"/>
              </a:ext>
            </a:extLst>
          </p:cNvPr>
          <p:cNvSpPr txBox="1"/>
          <p:nvPr/>
        </p:nvSpPr>
        <p:spPr>
          <a:xfrm>
            <a:off x="6712634" y="4456645"/>
            <a:ext cx="4572000" cy="475488"/>
          </a:xfrm>
          <a:prstGeom prst="rect">
            <a:avLst/>
          </a:prstGeom>
          <a:noFill/>
        </p:spPr>
        <p:txBody>
          <a:bodyPr wrap="square" lIns="45720" rIns="45720">
            <a:spAutoFit/>
          </a:bodyPr>
          <a:lstStyle/>
          <a:p>
            <a:pPr>
              <a:defRPr sz="1500" b="0">
                <a:solidFill>
                  <a:srgbClr val="5F5B67"/>
                </a:solidFill>
                <a:latin typeface="Aptos"/>
              </a:defRPr>
            </a:pPr>
            <a:r>
              <a:t>Risk = variance of hourly DK1 price changes.</a:t>
            </a:r>
          </a:p>
        </p:txBody>
      </p:sp>
      <p:sp>
        <p:nvSpPr>
          <p:cNvPr id="67" name="TextBox 16">
            <a:extLst>
              <a:ext uri="{FF2B5EF4-FFF2-40B4-BE49-F238E27FC236}">
                <a16:creationId xmlns:a16="http://schemas.microsoft.com/office/drawing/2014/main" id="{AC56719B-6684-FAE4-1F84-11E9469BA85C}"/>
              </a:ext>
            </a:extLst>
          </p:cNvPr>
          <p:cNvSpPr txBox="1"/>
          <p:nvPr/>
        </p:nvSpPr>
        <p:spPr>
          <a:xfrm>
            <a:off x="1101160" y="5515436"/>
            <a:ext cx="10149840" cy="804672"/>
          </a:xfrm>
          <a:prstGeom prst="rect">
            <a:avLst/>
          </a:prstGeom>
          <a:noFill/>
        </p:spPr>
        <p:txBody>
          <a:bodyPr wrap="square" lIns="45720" rIns="45720">
            <a:spAutoFit/>
          </a:bodyPr>
          <a:lstStyle/>
          <a:p>
            <a:pPr algn="ctr">
              <a:defRPr sz="2300" b="1">
                <a:solidFill>
                  <a:srgbClr val="2E1B4C"/>
                </a:solidFill>
                <a:latin typeface="Aptos"/>
              </a:defRPr>
            </a:pPr>
            <a:r>
              <a:rPr dirty="0"/>
              <a:t>Research question: Can cross-market price movements reduce DK1 price-change variance?</a:t>
            </a:r>
          </a:p>
        </p:txBody>
      </p:sp>
    </p:spTree>
    <p:extLst>
      <p:ext uri="{BB962C8B-B14F-4D97-AF65-F5344CB8AC3E}">
        <p14:creationId xmlns:p14="http://schemas.microsoft.com/office/powerpoint/2010/main" val="7956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6" name="Google Shape;76;g3b83c7c63cf_0_48"/>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Why DK1 is a demanding hedging environment</a:t>
            </a:r>
            <a:endParaRPr sz="1867" b="1" dirty="0">
              <a:solidFill>
                <a:srgbClr val="000000"/>
              </a:solidFill>
              <a:latin typeface="Arial"/>
              <a:ea typeface="Arial"/>
              <a:cs typeface="Arial"/>
              <a:sym typeface="Arial"/>
            </a:endParaRPr>
          </a:p>
        </p:txBody>
      </p:sp>
      <p:sp>
        <p:nvSpPr>
          <p:cNvPr id="2" name="Google Shape;289;p11">
            <a:extLst>
              <a:ext uri="{FF2B5EF4-FFF2-40B4-BE49-F238E27FC236}">
                <a16:creationId xmlns:a16="http://schemas.microsoft.com/office/drawing/2014/main" id="{C0D596AD-FFD7-7A50-369E-C1946F6399BD}"/>
              </a:ext>
            </a:extLst>
          </p:cNvPr>
          <p:cNvSpPr/>
          <p:nvPr/>
        </p:nvSpPr>
        <p:spPr>
          <a:xfrm>
            <a:off x="5251950" y="3116600"/>
            <a:ext cx="1681200" cy="1418700"/>
          </a:xfrm>
          <a:prstGeom prst="ellipse">
            <a:avLst/>
          </a:prstGeom>
          <a:noFill/>
          <a:ln w="29350" cap="flat" cmpd="sng">
            <a:solidFill>
              <a:srgbClr val="595959"/>
            </a:solidFill>
            <a:prstDash val="solid"/>
            <a:round/>
            <a:headEnd type="none" w="sm" len="sm"/>
            <a:tailEnd type="none" w="sm" len="sm"/>
          </a:ln>
          <a:effectLst>
            <a:outerShdw blurRad="44024" dist="19566" dir="5400000" algn="bl" rotWithShape="0">
              <a:srgbClr val="000000">
                <a:alpha val="49019"/>
              </a:srgbClr>
            </a:outerShdw>
          </a:effectLst>
        </p:spPr>
        <p:txBody>
          <a:bodyPr spcFirstLastPara="1" wrap="square" lIns="93900" tIns="93900" rIns="93900" bIns="93900" anchor="ctr" anchorCtr="0">
            <a:noAutofit/>
          </a:bodyPr>
          <a:lstStyle/>
          <a:p>
            <a:pPr marL="0" marR="0" lvl="0" indent="0" algn="ctr" rtl="0">
              <a:lnSpc>
                <a:spcPct val="100000"/>
              </a:lnSpc>
              <a:spcBef>
                <a:spcPts val="0"/>
              </a:spcBef>
              <a:spcAft>
                <a:spcPts val="0"/>
              </a:spcAft>
              <a:buClr>
                <a:srgbClr val="000000"/>
              </a:buClr>
              <a:buSzPts val="1438"/>
              <a:buFont typeface="Arial"/>
              <a:buNone/>
            </a:pPr>
            <a:endParaRPr sz="1437" b="0" i="0" u="none" strike="noStrike" cap="none">
              <a:solidFill>
                <a:srgbClr val="000000"/>
              </a:solidFill>
              <a:latin typeface="Arial"/>
              <a:ea typeface="Arial"/>
              <a:cs typeface="Arial"/>
              <a:sym typeface="Arial"/>
            </a:endParaRPr>
          </a:p>
        </p:txBody>
      </p:sp>
      <p:sp>
        <p:nvSpPr>
          <p:cNvPr id="3" name="Google Shape;293;p11">
            <a:extLst>
              <a:ext uri="{FF2B5EF4-FFF2-40B4-BE49-F238E27FC236}">
                <a16:creationId xmlns:a16="http://schemas.microsoft.com/office/drawing/2014/main" id="{5941CACD-335D-9F9E-049D-EC13831FC07C}"/>
              </a:ext>
            </a:extLst>
          </p:cNvPr>
          <p:cNvSpPr/>
          <p:nvPr/>
        </p:nvSpPr>
        <p:spPr>
          <a:xfrm>
            <a:off x="2439257" y="2758020"/>
            <a:ext cx="2472900" cy="292200"/>
          </a:xfrm>
          <a:prstGeom prst="roundRect">
            <a:avLst>
              <a:gd name="adj" fmla="val 16667"/>
            </a:avLst>
          </a:prstGeom>
          <a:solidFill>
            <a:schemeClr val="accent1">
              <a:lumMod val="75000"/>
            </a:schemeClr>
          </a:solidFill>
          <a:ln>
            <a:solidFill>
              <a:srgbClr val="FF0000"/>
            </a:solid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200" b="1" i="0" u="none" strike="noStrike" cap="none" dirty="0">
                <a:solidFill>
                  <a:srgbClr val="FFFFFF"/>
                </a:solidFill>
                <a:latin typeface="Open Sans"/>
                <a:ea typeface="Open Sans"/>
                <a:cs typeface="Open Sans"/>
                <a:sym typeface="Open Sans"/>
              </a:rPr>
              <a:t>High renewable penetration</a:t>
            </a:r>
            <a:endParaRPr sz="1200" b="1" i="0" u="none" strike="noStrike" cap="none" dirty="0">
              <a:solidFill>
                <a:srgbClr val="FFFFFF"/>
              </a:solidFill>
              <a:latin typeface="Open Sans"/>
              <a:ea typeface="Open Sans"/>
              <a:cs typeface="Open Sans"/>
              <a:sym typeface="Open Sans"/>
            </a:endParaRPr>
          </a:p>
        </p:txBody>
      </p:sp>
      <p:sp>
        <p:nvSpPr>
          <p:cNvPr id="7" name="Google Shape;297;p11">
            <a:extLst>
              <a:ext uri="{FF2B5EF4-FFF2-40B4-BE49-F238E27FC236}">
                <a16:creationId xmlns:a16="http://schemas.microsoft.com/office/drawing/2014/main" id="{9830A3FE-7AF2-477E-0299-7EF17FA7B1BB}"/>
              </a:ext>
            </a:extLst>
          </p:cNvPr>
          <p:cNvSpPr txBox="1"/>
          <p:nvPr/>
        </p:nvSpPr>
        <p:spPr>
          <a:xfrm>
            <a:off x="5412600" y="3525500"/>
            <a:ext cx="1359900" cy="600900"/>
          </a:xfrm>
          <a:prstGeom prst="rect">
            <a:avLst/>
          </a:prstGeom>
          <a:noFill/>
          <a:ln>
            <a:noFill/>
          </a:ln>
        </p:spPr>
        <p:txBody>
          <a:bodyPr spcFirstLastPara="1" wrap="square" lIns="93900" tIns="93900" rIns="93900" bIns="93900" anchor="ctr" anchorCtr="0">
            <a:noAutofit/>
          </a:bodyPr>
          <a:lstStyle/>
          <a:p>
            <a:pPr marL="0" lvl="0" indent="0" algn="ctr" rtl="0">
              <a:spcBef>
                <a:spcPts val="0"/>
              </a:spcBef>
              <a:spcAft>
                <a:spcPts val="0"/>
              </a:spcAft>
              <a:buClr>
                <a:schemeClr val="dk1"/>
              </a:buClr>
              <a:buSzPts val="1335"/>
              <a:buFont typeface="Arial"/>
              <a:buNone/>
            </a:pPr>
            <a:r>
              <a:rPr lang="fr" sz="1435" b="1" dirty="0">
                <a:solidFill>
                  <a:schemeClr val="dk2"/>
                </a:solidFill>
                <a:latin typeface="Open Sans"/>
                <a:ea typeface="Open Sans"/>
                <a:cs typeface="Open Sans"/>
                <a:sym typeface="Open Sans"/>
              </a:rPr>
              <a:t>DK1</a:t>
            </a:r>
            <a:endParaRPr sz="1435" b="1" dirty="0">
              <a:solidFill>
                <a:srgbClr val="595959"/>
              </a:solidFill>
              <a:latin typeface="Open Sans"/>
              <a:ea typeface="Open Sans"/>
              <a:cs typeface="Open Sans"/>
              <a:sym typeface="Open Sans"/>
            </a:endParaRPr>
          </a:p>
        </p:txBody>
      </p:sp>
      <p:cxnSp>
        <p:nvCxnSpPr>
          <p:cNvPr id="30" name="Google Shape;298;p11">
            <a:extLst>
              <a:ext uri="{FF2B5EF4-FFF2-40B4-BE49-F238E27FC236}">
                <a16:creationId xmlns:a16="http://schemas.microsoft.com/office/drawing/2014/main" id="{50148BB0-4288-325F-56A9-D860157E4E02}"/>
              </a:ext>
            </a:extLst>
          </p:cNvPr>
          <p:cNvCxnSpPr>
            <a:stCxn id="3" idx="3"/>
            <a:endCxn id="2" idx="1"/>
          </p:cNvCxnSpPr>
          <p:nvPr/>
        </p:nvCxnSpPr>
        <p:spPr>
          <a:xfrm>
            <a:off x="4912157" y="2904120"/>
            <a:ext cx="585900" cy="420300"/>
          </a:xfrm>
          <a:prstGeom prst="straightConnector1">
            <a:avLst/>
          </a:prstGeom>
          <a:noFill/>
          <a:ln w="19050" cap="flat" cmpd="sng">
            <a:solidFill>
              <a:srgbClr val="595959"/>
            </a:solidFill>
            <a:prstDash val="solid"/>
            <a:round/>
            <a:headEnd type="none" w="sm" len="sm"/>
            <a:tailEnd type="none" w="sm" len="sm"/>
          </a:ln>
          <a:effectLst>
            <a:outerShdw blurRad="42863" dist="19050" dir="5400000" algn="bl" rotWithShape="0">
              <a:srgbClr val="000000">
                <a:alpha val="49019"/>
              </a:srgbClr>
            </a:outerShdw>
          </a:effectLst>
        </p:spPr>
      </p:cxnSp>
      <p:sp>
        <p:nvSpPr>
          <p:cNvPr id="66" name="Google Shape;305;p11">
            <a:extLst>
              <a:ext uri="{FF2B5EF4-FFF2-40B4-BE49-F238E27FC236}">
                <a16:creationId xmlns:a16="http://schemas.microsoft.com/office/drawing/2014/main" id="{1CDE8969-2081-9012-3E3D-BDEA8420689E}"/>
              </a:ext>
            </a:extLst>
          </p:cNvPr>
          <p:cNvSpPr/>
          <p:nvPr/>
        </p:nvSpPr>
        <p:spPr>
          <a:xfrm>
            <a:off x="2439250" y="3193307"/>
            <a:ext cx="2472900" cy="688200"/>
          </a:xfrm>
          <a:prstGeom prst="roundRect">
            <a:avLst>
              <a:gd name="adj" fmla="val 16667"/>
            </a:avLst>
          </a:prstGeom>
          <a:solidFill>
            <a:srgbClr val="EEEEEE"/>
          </a:solidFill>
          <a:ln>
            <a:solidFill>
              <a:srgbClr val="FF0000"/>
            </a:solid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000" dirty="0">
                <a:solidFill>
                  <a:schemeClr val="dk2"/>
                </a:solidFill>
                <a:latin typeface="Open Sans"/>
                <a:ea typeface="Open Sans"/>
                <a:cs typeface="Open Sans"/>
                <a:sym typeface="Open Sans"/>
              </a:rPr>
              <a:t>Wind-driven variability and negative-price episodes</a:t>
            </a:r>
            <a:endParaRPr sz="1000" dirty="0">
              <a:solidFill>
                <a:srgbClr val="595959"/>
              </a:solidFill>
              <a:latin typeface="Open Sans"/>
              <a:ea typeface="Open Sans"/>
              <a:cs typeface="Open Sans"/>
              <a:sym typeface="Open Sans"/>
            </a:endParaRPr>
          </a:p>
        </p:txBody>
      </p:sp>
      <p:pic>
        <p:nvPicPr>
          <p:cNvPr id="72" name="Image 71">
            <a:extLst>
              <a:ext uri="{FF2B5EF4-FFF2-40B4-BE49-F238E27FC236}">
                <a16:creationId xmlns:a16="http://schemas.microsoft.com/office/drawing/2014/main" id="{822A8D48-EDDC-C7F8-6370-C98E322D254F}"/>
              </a:ext>
            </a:extLst>
          </p:cNvPr>
          <p:cNvPicPr>
            <a:picLocks noChangeAspect="1"/>
          </p:cNvPicPr>
          <p:nvPr/>
        </p:nvPicPr>
        <p:blipFill>
          <a:blip r:embed="rId3"/>
          <a:stretch>
            <a:fillRect/>
          </a:stretch>
        </p:blipFill>
        <p:spPr>
          <a:xfrm>
            <a:off x="425089" y="4126400"/>
            <a:ext cx="4780018" cy="2129518"/>
          </a:xfrm>
          <a:prstGeom prst="rect">
            <a:avLst/>
          </a:prstGeom>
        </p:spPr>
      </p:pic>
      <p:sp>
        <p:nvSpPr>
          <p:cNvPr id="74" name="ZoneTexte 73">
            <a:extLst>
              <a:ext uri="{FF2B5EF4-FFF2-40B4-BE49-F238E27FC236}">
                <a16:creationId xmlns:a16="http://schemas.microsoft.com/office/drawing/2014/main" id="{26A8F010-C716-5A95-CE38-5335A98FE630}"/>
              </a:ext>
            </a:extLst>
          </p:cNvPr>
          <p:cNvSpPr txBox="1"/>
          <p:nvPr/>
        </p:nvSpPr>
        <p:spPr>
          <a:xfrm>
            <a:off x="5251950" y="4741151"/>
            <a:ext cx="4215323" cy="646331"/>
          </a:xfrm>
          <a:prstGeom prst="rect">
            <a:avLst/>
          </a:prstGeom>
          <a:noFill/>
        </p:spPr>
        <p:txBody>
          <a:bodyPr wrap="square">
            <a:spAutoFit/>
          </a:bodyPr>
          <a:lstStyle/>
          <a:p>
            <a:r>
              <a:rPr lang="en-US" sz="1400" dirty="0"/>
              <a:t>High wind penetration is associated with stronger price variability and more frequent negative-price episodes.</a:t>
            </a:r>
            <a:br>
              <a:rPr lang="en-US" sz="1400" dirty="0"/>
            </a:br>
            <a:r>
              <a:rPr lang="en-US" sz="800" i="1" dirty="0"/>
              <a:t>Sources: Unger et al. (2018); </a:t>
            </a:r>
            <a:r>
              <a:rPr lang="en-US" sz="800" i="1" dirty="0" err="1"/>
              <a:t>Grohnheit</a:t>
            </a:r>
            <a:r>
              <a:rPr lang="en-US" sz="800" i="1" dirty="0"/>
              <a:t> &amp; Sneum (2023).</a:t>
            </a:r>
            <a:endParaRPr lang="en-US" sz="1400" dirty="0"/>
          </a:p>
        </p:txBody>
      </p:sp>
      <p:sp>
        <p:nvSpPr>
          <p:cNvPr id="4" name="Google Shape;81;p3">
            <a:extLst>
              <a:ext uri="{FF2B5EF4-FFF2-40B4-BE49-F238E27FC236}">
                <a16:creationId xmlns:a16="http://schemas.microsoft.com/office/drawing/2014/main" id="{AB284ED1-44B7-17F4-E075-37FFC9883D77}"/>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6</a:t>
            </a:fld>
            <a:endParaRPr>
              <a:solidFill>
                <a:schemeClr val="lt1"/>
              </a:solidFill>
              <a:latin typeface="Arial"/>
              <a:ea typeface="Arial"/>
              <a:cs typeface="Arial"/>
              <a:sym typeface="Arial"/>
            </a:endParaRPr>
          </a:p>
        </p:txBody>
      </p:sp>
      <p:sp>
        <p:nvSpPr>
          <p:cNvPr id="9" name="ZoneTexte 8">
            <a:extLst>
              <a:ext uri="{FF2B5EF4-FFF2-40B4-BE49-F238E27FC236}">
                <a16:creationId xmlns:a16="http://schemas.microsoft.com/office/drawing/2014/main" id="{174B0773-8F72-7D49-6F4B-E74477618CAE}"/>
              </a:ext>
            </a:extLst>
          </p:cNvPr>
          <p:cNvSpPr txBox="1"/>
          <p:nvPr/>
        </p:nvSpPr>
        <p:spPr>
          <a:xfrm>
            <a:off x="2021541" y="6125953"/>
            <a:ext cx="1819836" cy="215444"/>
          </a:xfrm>
          <a:prstGeom prst="rect">
            <a:avLst/>
          </a:prstGeom>
          <a:noFill/>
        </p:spPr>
        <p:txBody>
          <a:bodyPr wrap="square">
            <a:spAutoFit/>
          </a:bodyPr>
          <a:lstStyle/>
          <a:p>
            <a:r>
              <a:rPr lang="en-US" sz="800" i="1" dirty="0"/>
              <a:t>Source: Author’s calculations.</a:t>
            </a:r>
          </a:p>
        </p:txBody>
      </p:sp>
      <p:sp>
        <p:nvSpPr>
          <p:cNvPr id="6" name="Google Shape;75;g3b83c7c63cf_0_48">
            <a:extLst>
              <a:ext uri="{FF2B5EF4-FFF2-40B4-BE49-F238E27FC236}">
                <a16:creationId xmlns:a16="http://schemas.microsoft.com/office/drawing/2014/main" id="{6D2BE656-D2BF-2264-972F-EC215A373B53}"/>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Motivation and </a:t>
            </a:r>
            <a:r>
              <a:rPr lang="en-US" sz="3200" b="1" dirty="0" err="1">
                <a:solidFill>
                  <a:srgbClr val="000000"/>
                </a:solidFill>
                <a:latin typeface="Open Sans"/>
                <a:ea typeface="Open Sans"/>
                <a:cs typeface="Open Sans"/>
                <a:sym typeface="Open Sans"/>
              </a:rPr>
              <a:t>Optimisation</a:t>
            </a:r>
            <a:r>
              <a:rPr lang="en-US" sz="3200" b="1" dirty="0">
                <a:solidFill>
                  <a:srgbClr val="000000"/>
                </a:solidFill>
                <a:latin typeface="Open Sans"/>
                <a:ea typeface="Open Sans"/>
                <a:cs typeface="Open Sans"/>
                <a:sym typeface="Open Sans"/>
              </a:rPr>
              <a:t> Problem</a:t>
            </a:r>
            <a:endParaRPr sz="3200" b="1" dirty="0">
              <a:solidFill>
                <a:srgbClr val="000000"/>
              </a:solidFill>
              <a:latin typeface="Open Sans"/>
              <a:ea typeface="Open Sans"/>
              <a:cs typeface="Open Sans"/>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D79FFC43-3BC2-873B-95F4-5CE9A558422B}"/>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26FDD9DA-92B9-C118-124C-5AB843CB9FCA}"/>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353E6392-F78E-E50B-6F71-AD5A29B4AA4A}"/>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Why DK1 is a demanding hedging environment</a:t>
            </a:r>
            <a:endParaRPr sz="1867" b="1" dirty="0">
              <a:solidFill>
                <a:srgbClr val="000000"/>
              </a:solidFill>
              <a:latin typeface="Arial"/>
              <a:ea typeface="Arial"/>
              <a:cs typeface="Arial"/>
              <a:sym typeface="Arial"/>
            </a:endParaRPr>
          </a:p>
        </p:txBody>
      </p:sp>
      <p:sp>
        <p:nvSpPr>
          <p:cNvPr id="2" name="Google Shape;289;p11">
            <a:extLst>
              <a:ext uri="{FF2B5EF4-FFF2-40B4-BE49-F238E27FC236}">
                <a16:creationId xmlns:a16="http://schemas.microsoft.com/office/drawing/2014/main" id="{6E50FB28-1878-F36F-E5FE-D0D1D22C5900}"/>
              </a:ext>
            </a:extLst>
          </p:cNvPr>
          <p:cNvSpPr/>
          <p:nvPr/>
        </p:nvSpPr>
        <p:spPr>
          <a:xfrm>
            <a:off x="3570750" y="2377587"/>
            <a:ext cx="1681200" cy="1418700"/>
          </a:xfrm>
          <a:prstGeom prst="ellipse">
            <a:avLst/>
          </a:prstGeom>
          <a:noFill/>
          <a:ln w="29350" cap="flat" cmpd="sng">
            <a:solidFill>
              <a:srgbClr val="595959"/>
            </a:solidFill>
            <a:prstDash val="solid"/>
            <a:round/>
            <a:headEnd type="none" w="sm" len="sm"/>
            <a:tailEnd type="none" w="sm" len="sm"/>
          </a:ln>
          <a:effectLst>
            <a:outerShdw blurRad="44024" dist="19566" dir="5400000" algn="bl" rotWithShape="0">
              <a:srgbClr val="000000">
                <a:alpha val="49019"/>
              </a:srgbClr>
            </a:outerShdw>
          </a:effectLst>
        </p:spPr>
        <p:txBody>
          <a:bodyPr spcFirstLastPara="1" wrap="square" lIns="93900" tIns="93900" rIns="93900" bIns="93900" anchor="ctr" anchorCtr="0">
            <a:noAutofit/>
          </a:bodyPr>
          <a:lstStyle/>
          <a:p>
            <a:pPr marL="0" marR="0" lvl="0" indent="0" algn="ctr" rtl="0">
              <a:lnSpc>
                <a:spcPct val="100000"/>
              </a:lnSpc>
              <a:spcBef>
                <a:spcPts val="0"/>
              </a:spcBef>
              <a:spcAft>
                <a:spcPts val="0"/>
              </a:spcAft>
              <a:buClr>
                <a:srgbClr val="000000"/>
              </a:buClr>
              <a:buSzPts val="1438"/>
              <a:buFont typeface="Arial"/>
              <a:buNone/>
            </a:pPr>
            <a:endParaRPr sz="1437" b="0" i="0" u="none" strike="noStrike" cap="none">
              <a:solidFill>
                <a:srgbClr val="000000"/>
              </a:solidFill>
              <a:latin typeface="Arial"/>
              <a:ea typeface="Arial"/>
              <a:cs typeface="Arial"/>
              <a:sym typeface="Arial"/>
            </a:endParaRPr>
          </a:p>
        </p:txBody>
      </p:sp>
      <p:sp>
        <p:nvSpPr>
          <p:cNvPr id="3" name="Google Shape;293;p11">
            <a:extLst>
              <a:ext uri="{FF2B5EF4-FFF2-40B4-BE49-F238E27FC236}">
                <a16:creationId xmlns:a16="http://schemas.microsoft.com/office/drawing/2014/main" id="{9DBAC1E0-AB5D-ABEC-B462-1324811F8FB7}"/>
              </a:ext>
            </a:extLst>
          </p:cNvPr>
          <p:cNvSpPr/>
          <p:nvPr/>
        </p:nvSpPr>
        <p:spPr>
          <a:xfrm>
            <a:off x="758057" y="2019007"/>
            <a:ext cx="2472900" cy="292200"/>
          </a:xfrm>
          <a:prstGeom prst="roundRect">
            <a:avLst>
              <a:gd name="adj" fmla="val 16667"/>
            </a:avLst>
          </a:prstGeom>
          <a:solidFill>
            <a:schemeClr val="accent1">
              <a:lumMod val="75000"/>
            </a:schemeClr>
          </a:solidFill>
          <a:ln>
            <a:no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200" b="1" i="0" u="none" strike="noStrike" cap="none" dirty="0">
                <a:solidFill>
                  <a:srgbClr val="FFFFFF"/>
                </a:solidFill>
                <a:latin typeface="Open Sans"/>
                <a:ea typeface="Open Sans"/>
                <a:cs typeface="Open Sans"/>
                <a:sym typeface="Open Sans"/>
              </a:rPr>
              <a:t>High renewable penetration</a:t>
            </a:r>
            <a:endParaRPr sz="1200" b="1" i="0" u="none" strike="noStrike" cap="none" dirty="0">
              <a:solidFill>
                <a:srgbClr val="FFFFFF"/>
              </a:solidFill>
              <a:latin typeface="Open Sans"/>
              <a:ea typeface="Open Sans"/>
              <a:cs typeface="Open Sans"/>
              <a:sym typeface="Open Sans"/>
            </a:endParaRPr>
          </a:p>
        </p:txBody>
      </p:sp>
      <p:sp>
        <p:nvSpPr>
          <p:cNvPr id="5" name="Google Shape;295;p11">
            <a:extLst>
              <a:ext uri="{FF2B5EF4-FFF2-40B4-BE49-F238E27FC236}">
                <a16:creationId xmlns:a16="http://schemas.microsoft.com/office/drawing/2014/main" id="{FDE056DA-A93D-6629-664E-B6FB6F24D06A}"/>
              </a:ext>
            </a:extLst>
          </p:cNvPr>
          <p:cNvSpPr/>
          <p:nvPr/>
        </p:nvSpPr>
        <p:spPr>
          <a:xfrm>
            <a:off x="5609550" y="2019019"/>
            <a:ext cx="2472900" cy="292200"/>
          </a:xfrm>
          <a:prstGeom prst="roundRect">
            <a:avLst>
              <a:gd name="adj" fmla="val 16667"/>
            </a:avLst>
          </a:prstGeom>
          <a:solidFill>
            <a:schemeClr val="accent1">
              <a:lumMod val="75000"/>
            </a:schemeClr>
          </a:solidFill>
          <a:ln>
            <a:solidFill>
              <a:srgbClr val="FF0000"/>
            </a:solid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algn="ctr">
              <a:buClr>
                <a:srgbClr val="000000"/>
              </a:buClr>
              <a:buSzPts val="1400"/>
            </a:pPr>
            <a:r>
              <a:rPr lang="en-US" sz="1200" b="1" dirty="0">
                <a:solidFill>
                  <a:srgbClr val="FFFFFF"/>
                </a:solidFill>
                <a:latin typeface="Open Sans"/>
                <a:ea typeface="Open Sans"/>
                <a:cs typeface="Open Sans"/>
                <a:sym typeface="Open Sans"/>
              </a:rPr>
              <a:t>Strong market integration</a:t>
            </a:r>
            <a:endParaRPr sz="1200" b="1" dirty="0">
              <a:solidFill>
                <a:srgbClr val="FFFFFF"/>
              </a:solidFill>
              <a:latin typeface="Open Sans"/>
              <a:ea typeface="Open Sans"/>
              <a:cs typeface="Open Sans"/>
              <a:sym typeface="Open Sans"/>
            </a:endParaRPr>
          </a:p>
        </p:txBody>
      </p:sp>
      <p:sp>
        <p:nvSpPr>
          <p:cNvPr id="7" name="Google Shape;297;p11">
            <a:extLst>
              <a:ext uri="{FF2B5EF4-FFF2-40B4-BE49-F238E27FC236}">
                <a16:creationId xmlns:a16="http://schemas.microsoft.com/office/drawing/2014/main" id="{FDF58E82-EB65-B2DA-761D-5CF558DC2454}"/>
              </a:ext>
            </a:extLst>
          </p:cNvPr>
          <p:cNvSpPr txBox="1"/>
          <p:nvPr/>
        </p:nvSpPr>
        <p:spPr>
          <a:xfrm>
            <a:off x="3731400" y="2786487"/>
            <a:ext cx="1359900" cy="600900"/>
          </a:xfrm>
          <a:prstGeom prst="rect">
            <a:avLst/>
          </a:prstGeom>
          <a:noFill/>
          <a:ln>
            <a:noFill/>
          </a:ln>
        </p:spPr>
        <p:txBody>
          <a:bodyPr spcFirstLastPara="1" wrap="square" lIns="93900" tIns="93900" rIns="93900" bIns="93900" anchor="ctr" anchorCtr="0">
            <a:noAutofit/>
          </a:bodyPr>
          <a:lstStyle/>
          <a:p>
            <a:pPr marL="0" lvl="0" indent="0" algn="ctr" rtl="0">
              <a:spcBef>
                <a:spcPts val="0"/>
              </a:spcBef>
              <a:spcAft>
                <a:spcPts val="0"/>
              </a:spcAft>
              <a:buClr>
                <a:schemeClr val="dk1"/>
              </a:buClr>
              <a:buSzPts val="1335"/>
              <a:buFont typeface="Arial"/>
              <a:buNone/>
            </a:pPr>
            <a:r>
              <a:rPr lang="fr" sz="1435" b="1" dirty="0">
                <a:solidFill>
                  <a:schemeClr val="dk2"/>
                </a:solidFill>
                <a:latin typeface="Open Sans"/>
                <a:ea typeface="Open Sans"/>
                <a:cs typeface="Open Sans"/>
                <a:sym typeface="Open Sans"/>
              </a:rPr>
              <a:t>DK1</a:t>
            </a:r>
            <a:endParaRPr sz="1435" b="1" dirty="0">
              <a:solidFill>
                <a:srgbClr val="595959"/>
              </a:solidFill>
              <a:latin typeface="Open Sans"/>
              <a:ea typeface="Open Sans"/>
              <a:cs typeface="Open Sans"/>
              <a:sym typeface="Open Sans"/>
            </a:endParaRPr>
          </a:p>
        </p:txBody>
      </p:sp>
      <p:cxnSp>
        <p:nvCxnSpPr>
          <p:cNvPr id="30" name="Google Shape;298;p11">
            <a:extLst>
              <a:ext uri="{FF2B5EF4-FFF2-40B4-BE49-F238E27FC236}">
                <a16:creationId xmlns:a16="http://schemas.microsoft.com/office/drawing/2014/main" id="{D6D5E73F-67E9-5628-AEA5-37110D308BD7}"/>
              </a:ext>
            </a:extLst>
          </p:cNvPr>
          <p:cNvCxnSpPr>
            <a:cxnSpLocks/>
            <a:stCxn id="3" idx="3"/>
            <a:endCxn id="2" idx="1"/>
          </p:cNvCxnSpPr>
          <p:nvPr/>
        </p:nvCxnSpPr>
        <p:spPr>
          <a:xfrm>
            <a:off x="3230957" y="2165107"/>
            <a:ext cx="585900" cy="420300"/>
          </a:xfrm>
          <a:prstGeom prst="straightConnector1">
            <a:avLst/>
          </a:prstGeom>
          <a:noFill/>
          <a:ln w="19050" cap="flat" cmpd="sng">
            <a:solidFill>
              <a:srgbClr val="595959"/>
            </a:solidFill>
            <a:prstDash val="solid"/>
            <a:round/>
            <a:headEnd type="none" w="sm" len="sm"/>
            <a:tailEnd type="none" w="sm" len="sm"/>
          </a:ln>
          <a:effectLst>
            <a:outerShdw blurRad="42863" dist="19050" dir="5400000" algn="bl" rotWithShape="0">
              <a:srgbClr val="000000">
                <a:alpha val="49019"/>
              </a:srgbClr>
            </a:outerShdw>
          </a:effectLst>
        </p:spPr>
      </p:cxnSp>
      <p:cxnSp>
        <p:nvCxnSpPr>
          <p:cNvPr id="64" name="Google Shape;301;p11">
            <a:extLst>
              <a:ext uri="{FF2B5EF4-FFF2-40B4-BE49-F238E27FC236}">
                <a16:creationId xmlns:a16="http://schemas.microsoft.com/office/drawing/2014/main" id="{5FB5800E-0F45-A95D-C255-DC99C50B1D8F}"/>
              </a:ext>
            </a:extLst>
          </p:cNvPr>
          <p:cNvCxnSpPr>
            <a:stCxn id="5" idx="1"/>
            <a:endCxn id="2" idx="7"/>
          </p:cNvCxnSpPr>
          <p:nvPr/>
        </p:nvCxnSpPr>
        <p:spPr>
          <a:xfrm flipH="1">
            <a:off x="5005650" y="2165119"/>
            <a:ext cx="603900" cy="420300"/>
          </a:xfrm>
          <a:prstGeom prst="straightConnector1">
            <a:avLst/>
          </a:prstGeom>
          <a:noFill/>
          <a:ln w="19050" cap="flat" cmpd="sng">
            <a:solidFill>
              <a:srgbClr val="595959"/>
            </a:solidFill>
            <a:prstDash val="solid"/>
            <a:round/>
            <a:headEnd type="none" w="sm" len="sm"/>
            <a:tailEnd type="none" w="sm" len="sm"/>
          </a:ln>
          <a:effectLst>
            <a:outerShdw blurRad="42863" dist="19050" dir="5400000" algn="bl" rotWithShape="0">
              <a:srgbClr val="000000">
                <a:alpha val="49019"/>
              </a:srgbClr>
            </a:outerShdw>
          </a:effectLst>
        </p:spPr>
      </p:cxnSp>
      <p:sp>
        <p:nvSpPr>
          <p:cNvPr id="66" name="Google Shape;305;p11">
            <a:extLst>
              <a:ext uri="{FF2B5EF4-FFF2-40B4-BE49-F238E27FC236}">
                <a16:creationId xmlns:a16="http://schemas.microsoft.com/office/drawing/2014/main" id="{B36C8079-EEBA-007F-E163-FD9B16C5BE87}"/>
              </a:ext>
            </a:extLst>
          </p:cNvPr>
          <p:cNvSpPr/>
          <p:nvPr/>
        </p:nvSpPr>
        <p:spPr>
          <a:xfrm>
            <a:off x="758050" y="2454294"/>
            <a:ext cx="2472900" cy="688200"/>
          </a:xfrm>
          <a:prstGeom prst="roundRect">
            <a:avLst>
              <a:gd name="adj" fmla="val 16667"/>
            </a:avLst>
          </a:prstGeom>
          <a:solidFill>
            <a:srgbClr val="EEEEEE"/>
          </a:solidFill>
          <a:ln>
            <a:no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000" dirty="0">
                <a:solidFill>
                  <a:schemeClr val="dk2"/>
                </a:solidFill>
                <a:latin typeface="Open Sans"/>
                <a:ea typeface="Open Sans"/>
                <a:cs typeface="Open Sans"/>
                <a:sym typeface="Open Sans"/>
              </a:rPr>
              <a:t>Wind-driven variability and negative-price episodes</a:t>
            </a:r>
            <a:endParaRPr sz="1000" dirty="0">
              <a:solidFill>
                <a:srgbClr val="595959"/>
              </a:solidFill>
              <a:latin typeface="Open Sans"/>
              <a:ea typeface="Open Sans"/>
              <a:cs typeface="Open Sans"/>
              <a:sym typeface="Open Sans"/>
            </a:endParaRPr>
          </a:p>
        </p:txBody>
      </p:sp>
      <p:sp>
        <p:nvSpPr>
          <p:cNvPr id="67" name="Google Shape;306;p11">
            <a:extLst>
              <a:ext uri="{FF2B5EF4-FFF2-40B4-BE49-F238E27FC236}">
                <a16:creationId xmlns:a16="http://schemas.microsoft.com/office/drawing/2014/main" id="{5F39294B-17C2-D045-5AC7-A860DE04E257}"/>
              </a:ext>
            </a:extLst>
          </p:cNvPr>
          <p:cNvSpPr/>
          <p:nvPr/>
        </p:nvSpPr>
        <p:spPr>
          <a:xfrm>
            <a:off x="5613750" y="2454307"/>
            <a:ext cx="2472900" cy="688200"/>
          </a:xfrm>
          <a:prstGeom prst="roundRect">
            <a:avLst>
              <a:gd name="adj" fmla="val 16667"/>
            </a:avLst>
          </a:prstGeom>
          <a:solidFill>
            <a:srgbClr val="EEEEEE"/>
          </a:solidFill>
          <a:ln>
            <a:solidFill>
              <a:srgbClr val="FF0000"/>
            </a:solid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000" dirty="0">
                <a:solidFill>
                  <a:schemeClr val="dk2"/>
                </a:solidFill>
                <a:latin typeface="Open Sans"/>
                <a:ea typeface="Open Sans"/>
                <a:cs typeface="Open Sans"/>
                <a:sym typeface="Open Sans"/>
              </a:rPr>
              <a:t>Nordic and Continental market exposure</a:t>
            </a:r>
            <a:endParaRPr sz="1000" dirty="0">
              <a:solidFill>
                <a:srgbClr val="595959"/>
              </a:solidFill>
              <a:latin typeface="Open Sans"/>
              <a:ea typeface="Open Sans"/>
              <a:cs typeface="Open Sans"/>
              <a:sym typeface="Open Sans"/>
            </a:endParaRPr>
          </a:p>
        </p:txBody>
      </p:sp>
      <p:pic>
        <p:nvPicPr>
          <p:cNvPr id="8" name="Image 7">
            <a:extLst>
              <a:ext uri="{FF2B5EF4-FFF2-40B4-BE49-F238E27FC236}">
                <a16:creationId xmlns:a16="http://schemas.microsoft.com/office/drawing/2014/main" id="{0D9E185E-2FFD-543D-095C-D3D2710093C3}"/>
              </a:ext>
            </a:extLst>
          </p:cNvPr>
          <p:cNvPicPr>
            <a:picLocks noChangeAspect="1"/>
          </p:cNvPicPr>
          <p:nvPr/>
        </p:nvPicPr>
        <p:blipFill>
          <a:blip r:embed="rId3"/>
          <a:stretch>
            <a:fillRect/>
          </a:stretch>
        </p:blipFill>
        <p:spPr>
          <a:xfrm>
            <a:off x="5696292" y="3461589"/>
            <a:ext cx="1962633" cy="2456183"/>
          </a:xfrm>
          <a:prstGeom prst="rect">
            <a:avLst/>
          </a:prstGeom>
        </p:spPr>
      </p:pic>
      <p:sp>
        <p:nvSpPr>
          <p:cNvPr id="10" name="ZoneTexte 9">
            <a:extLst>
              <a:ext uri="{FF2B5EF4-FFF2-40B4-BE49-F238E27FC236}">
                <a16:creationId xmlns:a16="http://schemas.microsoft.com/office/drawing/2014/main" id="{C405AC62-6C43-0F29-4539-731B9938D682}"/>
              </a:ext>
            </a:extLst>
          </p:cNvPr>
          <p:cNvSpPr txBox="1"/>
          <p:nvPr/>
        </p:nvSpPr>
        <p:spPr>
          <a:xfrm>
            <a:off x="5883905" y="5917772"/>
            <a:ext cx="1587406" cy="253916"/>
          </a:xfrm>
          <a:prstGeom prst="rect">
            <a:avLst/>
          </a:prstGeom>
          <a:noFill/>
        </p:spPr>
        <p:txBody>
          <a:bodyPr wrap="square">
            <a:spAutoFit/>
          </a:bodyPr>
          <a:lstStyle/>
          <a:p>
            <a:pPr algn="l"/>
            <a:r>
              <a:rPr lang="en-US" sz="1050" b="0" i="0" u="none" strike="noStrike" baseline="0" dirty="0">
                <a:solidFill>
                  <a:srgbClr val="000000"/>
                </a:solidFill>
                <a:latin typeface="LMRoman12-Regular"/>
              </a:rPr>
              <a:t>Source: Energinet (</a:t>
            </a:r>
            <a:r>
              <a:rPr lang="en-US" sz="1050" b="0" i="0" u="none" strike="noStrike" baseline="0" dirty="0">
                <a:solidFill>
                  <a:srgbClr val="0000B3"/>
                </a:solidFill>
                <a:latin typeface="LMRoman12-Regular"/>
              </a:rPr>
              <a:t>2024</a:t>
            </a:r>
            <a:r>
              <a:rPr lang="en-US" sz="1050" b="0" i="0" u="none" strike="noStrike" baseline="0" dirty="0">
                <a:solidFill>
                  <a:srgbClr val="000000"/>
                </a:solidFill>
                <a:latin typeface="LMRoman12-Regular"/>
              </a:rPr>
              <a:t>)</a:t>
            </a:r>
            <a:endParaRPr lang="en-US" sz="1400" dirty="0"/>
          </a:p>
        </p:txBody>
      </p:sp>
      <p:pic>
        <p:nvPicPr>
          <p:cNvPr id="12" name="Image 11">
            <a:extLst>
              <a:ext uri="{FF2B5EF4-FFF2-40B4-BE49-F238E27FC236}">
                <a16:creationId xmlns:a16="http://schemas.microsoft.com/office/drawing/2014/main" id="{6C5235B2-C8BF-D875-F4CD-B5510C5BA8E8}"/>
              </a:ext>
            </a:extLst>
          </p:cNvPr>
          <p:cNvPicPr>
            <a:picLocks noChangeAspect="1"/>
          </p:cNvPicPr>
          <p:nvPr/>
        </p:nvPicPr>
        <p:blipFill>
          <a:blip r:embed="rId4"/>
          <a:stretch>
            <a:fillRect/>
          </a:stretch>
        </p:blipFill>
        <p:spPr>
          <a:xfrm>
            <a:off x="8082450" y="3087767"/>
            <a:ext cx="4026592" cy="3375367"/>
          </a:xfrm>
          <a:prstGeom prst="rect">
            <a:avLst/>
          </a:prstGeom>
        </p:spPr>
      </p:pic>
      <p:sp>
        <p:nvSpPr>
          <p:cNvPr id="4" name="Google Shape;81;p3">
            <a:extLst>
              <a:ext uri="{FF2B5EF4-FFF2-40B4-BE49-F238E27FC236}">
                <a16:creationId xmlns:a16="http://schemas.microsoft.com/office/drawing/2014/main" id="{756745BB-4A9F-3B3D-870E-1567B0D6DDC9}"/>
              </a:ext>
            </a:extLst>
          </p:cNvPr>
          <p:cNvSpPr txBox="1">
            <a:spLocks noGrp="1"/>
          </p:cNvSpPr>
          <p:nvPr>
            <p:ph type="sldNum" idx="12"/>
          </p:nvPr>
        </p:nvSpPr>
        <p:spPr>
          <a:xfrm>
            <a:off x="11778400" y="65477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7</a:t>
            </a:fld>
            <a:endParaRPr>
              <a:solidFill>
                <a:schemeClr val="lt1"/>
              </a:solidFill>
              <a:latin typeface="Arial"/>
              <a:ea typeface="Arial"/>
              <a:cs typeface="Arial"/>
              <a:sym typeface="Arial"/>
            </a:endParaRPr>
          </a:p>
        </p:txBody>
      </p:sp>
      <p:sp>
        <p:nvSpPr>
          <p:cNvPr id="9" name="ZoneTexte 8">
            <a:extLst>
              <a:ext uri="{FF2B5EF4-FFF2-40B4-BE49-F238E27FC236}">
                <a16:creationId xmlns:a16="http://schemas.microsoft.com/office/drawing/2014/main" id="{9739EBCE-A1F2-F5C7-D26B-F70E095F0F63}"/>
              </a:ext>
            </a:extLst>
          </p:cNvPr>
          <p:cNvSpPr txBox="1"/>
          <p:nvPr/>
        </p:nvSpPr>
        <p:spPr>
          <a:xfrm>
            <a:off x="9575042" y="6440045"/>
            <a:ext cx="1819836" cy="215444"/>
          </a:xfrm>
          <a:prstGeom prst="rect">
            <a:avLst/>
          </a:prstGeom>
          <a:noFill/>
        </p:spPr>
        <p:txBody>
          <a:bodyPr wrap="square">
            <a:spAutoFit/>
          </a:bodyPr>
          <a:lstStyle/>
          <a:p>
            <a:r>
              <a:rPr lang="en-US" sz="800" i="1" dirty="0"/>
              <a:t>Source: Author’s calculations.</a:t>
            </a:r>
          </a:p>
        </p:txBody>
      </p:sp>
      <p:sp>
        <p:nvSpPr>
          <p:cNvPr id="11" name="Google Shape;75;g3b83c7c63cf_0_48">
            <a:extLst>
              <a:ext uri="{FF2B5EF4-FFF2-40B4-BE49-F238E27FC236}">
                <a16:creationId xmlns:a16="http://schemas.microsoft.com/office/drawing/2014/main" id="{EFCE8A07-1996-6DAA-4CC9-2754CB555DA1}"/>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Motivation and </a:t>
            </a:r>
            <a:r>
              <a:rPr lang="en-US" sz="3200" b="1" dirty="0" err="1">
                <a:solidFill>
                  <a:srgbClr val="000000"/>
                </a:solidFill>
                <a:latin typeface="Open Sans"/>
                <a:ea typeface="Open Sans"/>
                <a:cs typeface="Open Sans"/>
                <a:sym typeface="Open Sans"/>
              </a:rPr>
              <a:t>Optimisation</a:t>
            </a:r>
            <a:r>
              <a:rPr lang="en-US" sz="3200" b="1" dirty="0">
                <a:solidFill>
                  <a:srgbClr val="000000"/>
                </a:solidFill>
                <a:latin typeface="Open Sans"/>
                <a:ea typeface="Open Sans"/>
                <a:cs typeface="Open Sans"/>
                <a:sym typeface="Open Sans"/>
              </a:rPr>
              <a:t> Problem</a:t>
            </a:r>
            <a:endParaRPr sz="3200" b="1" dirty="0">
              <a:solidFill>
                <a:srgbClr val="000000"/>
              </a:solidFill>
              <a:latin typeface="Open Sans"/>
              <a:ea typeface="Open Sans"/>
              <a:cs typeface="Open Sans"/>
              <a:sym typeface="Open Sans"/>
            </a:endParaRPr>
          </a:p>
        </p:txBody>
      </p:sp>
    </p:spTree>
    <p:extLst>
      <p:ext uri="{BB962C8B-B14F-4D97-AF65-F5344CB8AC3E}">
        <p14:creationId xmlns:p14="http://schemas.microsoft.com/office/powerpoint/2010/main" val="2504572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C94CF196-3BBC-D1C7-F157-2AD28B63772B}"/>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B9A7C2A4-FB93-7B0F-D59C-16CF90BD6F8D}"/>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E1DA0A84-9F09-2242-11C2-E9BDEE486F47}"/>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Why DK1 is a demanding hedging environment</a:t>
            </a:r>
            <a:endParaRPr sz="1867" b="1" dirty="0">
              <a:solidFill>
                <a:srgbClr val="000000"/>
              </a:solidFill>
              <a:latin typeface="Arial"/>
              <a:ea typeface="Arial"/>
              <a:cs typeface="Arial"/>
              <a:sym typeface="Arial"/>
            </a:endParaRPr>
          </a:p>
        </p:txBody>
      </p:sp>
      <p:sp>
        <p:nvSpPr>
          <p:cNvPr id="2" name="Google Shape;289;p11">
            <a:extLst>
              <a:ext uri="{FF2B5EF4-FFF2-40B4-BE49-F238E27FC236}">
                <a16:creationId xmlns:a16="http://schemas.microsoft.com/office/drawing/2014/main" id="{4C002E68-6A6C-18D2-A925-5F3970AEEABF}"/>
              </a:ext>
            </a:extLst>
          </p:cNvPr>
          <p:cNvSpPr/>
          <p:nvPr/>
        </p:nvSpPr>
        <p:spPr>
          <a:xfrm>
            <a:off x="5251950" y="3116600"/>
            <a:ext cx="1681200" cy="1418700"/>
          </a:xfrm>
          <a:prstGeom prst="ellipse">
            <a:avLst/>
          </a:prstGeom>
          <a:noFill/>
          <a:ln w="29350" cap="flat" cmpd="sng">
            <a:solidFill>
              <a:srgbClr val="595959"/>
            </a:solidFill>
            <a:prstDash val="solid"/>
            <a:round/>
            <a:headEnd type="none" w="sm" len="sm"/>
            <a:tailEnd type="none" w="sm" len="sm"/>
          </a:ln>
          <a:effectLst>
            <a:outerShdw blurRad="44024" dist="19566" dir="5400000" algn="bl" rotWithShape="0">
              <a:srgbClr val="000000">
                <a:alpha val="49019"/>
              </a:srgbClr>
            </a:outerShdw>
          </a:effectLst>
        </p:spPr>
        <p:txBody>
          <a:bodyPr spcFirstLastPara="1" wrap="square" lIns="93900" tIns="93900" rIns="93900" bIns="93900" anchor="ctr" anchorCtr="0">
            <a:noAutofit/>
          </a:bodyPr>
          <a:lstStyle/>
          <a:p>
            <a:pPr marL="0" marR="0" lvl="0" indent="0" algn="ctr" rtl="0">
              <a:lnSpc>
                <a:spcPct val="100000"/>
              </a:lnSpc>
              <a:spcBef>
                <a:spcPts val="0"/>
              </a:spcBef>
              <a:spcAft>
                <a:spcPts val="0"/>
              </a:spcAft>
              <a:buClr>
                <a:srgbClr val="000000"/>
              </a:buClr>
              <a:buSzPts val="1438"/>
              <a:buFont typeface="Arial"/>
              <a:buNone/>
            </a:pPr>
            <a:endParaRPr sz="1437" b="0" i="0" u="none" strike="noStrike" cap="none">
              <a:solidFill>
                <a:srgbClr val="000000"/>
              </a:solidFill>
              <a:latin typeface="Arial"/>
              <a:ea typeface="Arial"/>
              <a:cs typeface="Arial"/>
              <a:sym typeface="Arial"/>
            </a:endParaRPr>
          </a:p>
        </p:txBody>
      </p:sp>
      <p:sp>
        <p:nvSpPr>
          <p:cNvPr id="3" name="Google Shape;293;p11">
            <a:extLst>
              <a:ext uri="{FF2B5EF4-FFF2-40B4-BE49-F238E27FC236}">
                <a16:creationId xmlns:a16="http://schemas.microsoft.com/office/drawing/2014/main" id="{F4017973-1113-541B-AB5A-2C2722C38E77}"/>
              </a:ext>
            </a:extLst>
          </p:cNvPr>
          <p:cNvSpPr/>
          <p:nvPr/>
        </p:nvSpPr>
        <p:spPr>
          <a:xfrm>
            <a:off x="2439257" y="2758020"/>
            <a:ext cx="2472900" cy="292200"/>
          </a:xfrm>
          <a:prstGeom prst="roundRect">
            <a:avLst>
              <a:gd name="adj" fmla="val 16667"/>
            </a:avLst>
          </a:prstGeom>
          <a:solidFill>
            <a:schemeClr val="accent1">
              <a:lumMod val="75000"/>
            </a:schemeClr>
          </a:solidFill>
          <a:ln>
            <a:no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200" b="1" i="0" u="none" strike="noStrike" cap="none" dirty="0">
                <a:solidFill>
                  <a:srgbClr val="FFFFFF"/>
                </a:solidFill>
                <a:latin typeface="Open Sans"/>
                <a:ea typeface="Open Sans"/>
                <a:cs typeface="Open Sans"/>
                <a:sym typeface="Open Sans"/>
              </a:rPr>
              <a:t>High renewable penetration</a:t>
            </a:r>
            <a:endParaRPr sz="1200" b="1" i="0" u="none" strike="noStrike" cap="none" dirty="0">
              <a:solidFill>
                <a:srgbClr val="FFFFFF"/>
              </a:solidFill>
              <a:latin typeface="Open Sans"/>
              <a:ea typeface="Open Sans"/>
              <a:cs typeface="Open Sans"/>
              <a:sym typeface="Open Sans"/>
            </a:endParaRPr>
          </a:p>
        </p:txBody>
      </p:sp>
      <p:sp>
        <p:nvSpPr>
          <p:cNvPr id="4" name="Google Shape;294;p11">
            <a:extLst>
              <a:ext uri="{FF2B5EF4-FFF2-40B4-BE49-F238E27FC236}">
                <a16:creationId xmlns:a16="http://schemas.microsoft.com/office/drawing/2014/main" id="{8E9BECEB-C91F-7C14-A89A-92CD72F9B614}"/>
              </a:ext>
            </a:extLst>
          </p:cNvPr>
          <p:cNvSpPr/>
          <p:nvPr/>
        </p:nvSpPr>
        <p:spPr>
          <a:xfrm>
            <a:off x="4916350" y="5067300"/>
            <a:ext cx="2472900" cy="292200"/>
          </a:xfrm>
          <a:prstGeom prst="roundRect">
            <a:avLst>
              <a:gd name="adj" fmla="val 16667"/>
            </a:avLst>
          </a:prstGeom>
          <a:solidFill>
            <a:schemeClr val="accent1">
              <a:lumMod val="75000"/>
            </a:schemeClr>
          </a:solidFill>
          <a:ln>
            <a:solidFill>
              <a:srgbClr val="FF0000"/>
            </a:solid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algn="ctr">
              <a:buClr>
                <a:srgbClr val="000000"/>
              </a:buClr>
              <a:buSzPts val="1400"/>
            </a:pPr>
            <a:r>
              <a:rPr lang="en-US" sz="1200" b="1" dirty="0">
                <a:solidFill>
                  <a:srgbClr val="FFFFFF"/>
                </a:solidFill>
                <a:latin typeface="Open Sans"/>
                <a:ea typeface="Open Sans"/>
                <a:cs typeface="Open Sans"/>
                <a:sym typeface="Open Sans"/>
              </a:rPr>
              <a:t>Structural instability</a:t>
            </a:r>
            <a:endParaRPr sz="1200" b="1" dirty="0">
              <a:solidFill>
                <a:srgbClr val="FFFFFF"/>
              </a:solidFill>
              <a:latin typeface="Open Sans"/>
              <a:ea typeface="Open Sans"/>
              <a:cs typeface="Open Sans"/>
              <a:sym typeface="Open Sans"/>
            </a:endParaRPr>
          </a:p>
        </p:txBody>
      </p:sp>
      <p:sp>
        <p:nvSpPr>
          <p:cNvPr id="5" name="Google Shape;295;p11">
            <a:extLst>
              <a:ext uri="{FF2B5EF4-FFF2-40B4-BE49-F238E27FC236}">
                <a16:creationId xmlns:a16="http://schemas.microsoft.com/office/drawing/2014/main" id="{55737D9F-E69A-BE1A-BF6F-3026FC680265}"/>
              </a:ext>
            </a:extLst>
          </p:cNvPr>
          <p:cNvSpPr/>
          <p:nvPr/>
        </p:nvSpPr>
        <p:spPr>
          <a:xfrm>
            <a:off x="7290750" y="2758032"/>
            <a:ext cx="2472900" cy="292200"/>
          </a:xfrm>
          <a:prstGeom prst="roundRect">
            <a:avLst>
              <a:gd name="adj" fmla="val 16667"/>
            </a:avLst>
          </a:prstGeom>
          <a:solidFill>
            <a:schemeClr val="accent1">
              <a:lumMod val="75000"/>
            </a:schemeClr>
          </a:solidFill>
          <a:ln>
            <a:no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algn="ctr">
              <a:buClr>
                <a:srgbClr val="000000"/>
              </a:buClr>
              <a:buSzPts val="1400"/>
            </a:pPr>
            <a:r>
              <a:rPr lang="en-US" sz="1200" b="1" dirty="0">
                <a:solidFill>
                  <a:srgbClr val="FFFFFF"/>
                </a:solidFill>
                <a:latin typeface="Open Sans"/>
                <a:ea typeface="Open Sans"/>
                <a:cs typeface="Open Sans"/>
                <a:sym typeface="Open Sans"/>
              </a:rPr>
              <a:t>Strong market integration</a:t>
            </a:r>
            <a:endParaRPr sz="1200" b="1" dirty="0">
              <a:solidFill>
                <a:srgbClr val="FFFFFF"/>
              </a:solidFill>
              <a:latin typeface="Open Sans"/>
              <a:ea typeface="Open Sans"/>
              <a:cs typeface="Open Sans"/>
              <a:sym typeface="Open Sans"/>
            </a:endParaRPr>
          </a:p>
        </p:txBody>
      </p:sp>
      <p:sp>
        <p:nvSpPr>
          <p:cNvPr id="7" name="Google Shape;297;p11">
            <a:extLst>
              <a:ext uri="{FF2B5EF4-FFF2-40B4-BE49-F238E27FC236}">
                <a16:creationId xmlns:a16="http://schemas.microsoft.com/office/drawing/2014/main" id="{5F62D533-5176-8A53-9EDA-9EE48919FA61}"/>
              </a:ext>
            </a:extLst>
          </p:cNvPr>
          <p:cNvSpPr txBox="1"/>
          <p:nvPr/>
        </p:nvSpPr>
        <p:spPr>
          <a:xfrm>
            <a:off x="5412600" y="3525500"/>
            <a:ext cx="1359900" cy="600900"/>
          </a:xfrm>
          <a:prstGeom prst="rect">
            <a:avLst/>
          </a:prstGeom>
          <a:noFill/>
          <a:ln>
            <a:noFill/>
          </a:ln>
        </p:spPr>
        <p:txBody>
          <a:bodyPr spcFirstLastPara="1" wrap="square" lIns="93900" tIns="93900" rIns="93900" bIns="93900" anchor="ctr" anchorCtr="0">
            <a:noAutofit/>
          </a:bodyPr>
          <a:lstStyle/>
          <a:p>
            <a:pPr marL="0" lvl="0" indent="0" algn="ctr" rtl="0">
              <a:spcBef>
                <a:spcPts val="0"/>
              </a:spcBef>
              <a:spcAft>
                <a:spcPts val="0"/>
              </a:spcAft>
              <a:buClr>
                <a:schemeClr val="dk1"/>
              </a:buClr>
              <a:buSzPts val="1335"/>
              <a:buFont typeface="Arial"/>
              <a:buNone/>
            </a:pPr>
            <a:r>
              <a:rPr lang="fr" sz="1435" b="1" dirty="0">
                <a:solidFill>
                  <a:schemeClr val="dk2"/>
                </a:solidFill>
                <a:latin typeface="Open Sans"/>
                <a:ea typeface="Open Sans"/>
                <a:cs typeface="Open Sans"/>
                <a:sym typeface="Open Sans"/>
              </a:rPr>
              <a:t>DK1</a:t>
            </a:r>
            <a:endParaRPr sz="1435" b="1" dirty="0">
              <a:solidFill>
                <a:srgbClr val="595959"/>
              </a:solidFill>
              <a:latin typeface="Open Sans"/>
              <a:ea typeface="Open Sans"/>
              <a:cs typeface="Open Sans"/>
              <a:sym typeface="Open Sans"/>
            </a:endParaRPr>
          </a:p>
        </p:txBody>
      </p:sp>
      <p:cxnSp>
        <p:nvCxnSpPr>
          <p:cNvPr id="30" name="Google Shape;298;p11">
            <a:extLst>
              <a:ext uri="{FF2B5EF4-FFF2-40B4-BE49-F238E27FC236}">
                <a16:creationId xmlns:a16="http://schemas.microsoft.com/office/drawing/2014/main" id="{A0503EA2-AB4C-59C8-770A-D9E4D9219847}"/>
              </a:ext>
            </a:extLst>
          </p:cNvPr>
          <p:cNvCxnSpPr>
            <a:stCxn id="3" idx="3"/>
            <a:endCxn id="2" idx="1"/>
          </p:cNvCxnSpPr>
          <p:nvPr/>
        </p:nvCxnSpPr>
        <p:spPr>
          <a:xfrm>
            <a:off x="4912157" y="2904120"/>
            <a:ext cx="585900" cy="420300"/>
          </a:xfrm>
          <a:prstGeom prst="straightConnector1">
            <a:avLst/>
          </a:prstGeom>
          <a:noFill/>
          <a:ln w="19050" cap="flat" cmpd="sng">
            <a:solidFill>
              <a:srgbClr val="595959"/>
            </a:solidFill>
            <a:prstDash val="solid"/>
            <a:round/>
            <a:headEnd type="none" w="sm" len="sm"/>
            <a:tailEnd type="none" w="sm" len="sm"/>
          </a:ln>
          <a:effectLst>
            <a:outerShdw blurRad="42863" dist="19050" dir="5400000" algn="bl" rotWithShape="0">
              <a:srgbClr val="000000">
                <a:alpha val="49019"/>
              </a:srgbClr>
            </a:outerShdw>
          </a:effectLst>
        </p:spPr>
      </p:cxnSp>
      <p:cxnSp>
        <p:nvCxnSpPr>
          <p:cNvPr id="31" name="Google Shape;299;p11">
            <a:extLst>
              <a:ext uri="{FF2B5EF4-FFF2-40B4-BE49-F238E27FC236}">
                <a16:creationId xmlns:a16="http://schemas.microsoft.com/office/drawing/2014/main" id="{A2A8396F-B91D-2B9F-245E-286DC7F35731}"/>
              </a:ext>
            </a:extLst>
          </p:cNvPr>
          <p:cNvCxnSpPr>
            <a:cxnSpLocks/>
          </p:cNvCxnSpPr>
          <p:nvPr/>
        </p:nvCxnSpPr>
        <p:spPr>
          <a:xfrm>
            <a:off x="6143968" y="4548657"/>
            <a:ext cx="0" cy="518643"/>
          </a:xfrm>
          <a:prstGeom prst="straightConnector1">
            <a:avLst/>
          </a:prstGeom>
          <a:noFill/>
          <a:ln w="19050" cap="flat" cmpd="sng">
            <a:solidFill>
              <a:srgbClr val="595959"/>
            </a:solidFill>
            <a:prstDash val="solid"/>
            <a:round/>
            <a:headEnd type="none" w="sm" len="sm"/>
            <a:tailEnd type="none" w="sm" len="sm"/>
          </a:ln>
          <a:effectLst>
            <a:outerShdw blurRad="42863" dist="19050" dir="5400000" algn="bl" rotWithShape="0">
              <a:srgbClr val="000000">
                <a:alpha val="49019"/>
              </a:srgbClr>
            </a:outerShdw>
          </a:effectLst>
        </p:spPr>
      </p:cxnSp>
      <p:cxnSp>
        <p:nvCxnSpPr>
          <p:cNvPr id="64" name="Google Shape;301;p11">
            <a:extLst>
              <a:ext uri="{FF2B5EF4-FFF2-40B4-BE49-F238E27FC236}">
                <a16:creationId xmlns:a16="http://schemas.microsoft.com/office/drawing/2014/main" id="{7B7B35E6-E785-B7FB-493D-2BBFB3B41E33}"/>
              </a:ext>
            </a:extLst>
          </p:cNvPr>
          <p:cNvCxnSpPr>
            <a:stCxn id="5" idx="1"/>
            <a:endCxn id="2" idx="7"/>
          </p:cNvCxnSpPr>
          <p:nvPr/>
        </p:nvCxnSpPr>
        <p:spPr>
          <a:xfrm flipH="1">
            <a:off x="6686850" y="2904132"/>
            <a:ext cx="603900" cy="420300"/>
          </a:xfrm>
          <a:prstGeom prst="straightConnector1">
            <a:avLst/>
          </a:prstGeom>
          <a:noFill/>
          <a:ln w="19050" cap="flat" cmpd="sng">
            <a:solidFill>
              <a:srgbClr val="595959"/>
            </a:solidFill>
            <a:prstDash val="solid"/>
            <a:round/>
            <a:headEnd type="none" w="sm" len="sm"/>
            <a:tailEnd type="none" w="sm" len="sm"/>
          </a:ln>
          <a:effectLst>
            <a:outerShdw blurRad="42863" dist="19050" dir="5400000" algn="bl" rotWithShape="0">
              <a:srgbClr val="000000">
                <a:alpha val="49019"/>
              </a:srgbClr>
            </a:outerShdw>
          </a:effectLst>
        </p:spPr>
      </p:cxnSp>
      <p:sp>
        <p:nvSpPr>
          <p:cNvPr id="66" name="Google Shape;305;p11">
            <a:extLst>
              <a:ext uri="{FF2B5EF4-FFF2-40B4-BE49-F238E27FC236}">
                <a16:creationId xmlns:a16="http://schemas.microsoft.com/office/drawing/2014/main" id="{DC8D2EDC-F5DD-F9FB-2F35-2F18B381E26C}"/>
              </a:ext>
            </a:extLst>
          </p:cNvPr>
          <p:cNvSpPr/>
          <p:nvPr/>
        </p:nvSpPr>
        <p:spPr>
          <a:xfrm>
            <a:off x="2439250" y="3193307"/>
            <a:ext cx="2472900" cy="688200"/>
          </a:xfrm>
          <a:prstGeom prst="roundRect">
            <a:avLst>
              <a:gd name="adj" fmla="val 16667"/>
            </a:avLst>
          </a:prstGeom>
          <a:solidFill>
            <a:srgbClr val="EEEEEE"/>
          </a:solidFill>
          <a:ln>
            <a:no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000" dirty="0">
                <a:solidFill>
                  <a:schemeClr val="dk2"/>
                </a:solidFill>
                <a:latin typeface="Open Sans"/>
                <a:ea typeface="Open Sans"/>
                <a:cs typeface="Open Sans"/>
                <a:sym typeface="Open Sans"/>
              </a:rPr>
              <a:t>Wind-driven variability and negative-price episodes</a:t>
            </a:r>
            <a:endParaRPr sz="1000" dirty="0">
              <a:solidFill>
                <a:srgbClr val="595959"/>
              </a:solidFill>
              <a:latin typeface="Open Sans"/>
              <a:ea typeface="Open Sans"/>
              <a:cs typeface="Open Sans"/>
              <a:sym typeface="Open Sans"/>
            </a:endParaRPr>
          </a:p>
        </p:txBody>
      </p:sp>
      <p:sp>
        <p:nvSpPr>
          <p:cNvPr id="67" name="Google Shape;306;p11">
            <a:extLst>
              <a:ext uri="{FF2B5EF4-FFF2-40B4-BE49-F238E27FC236}">
                <a16:creationId xmlns:a16="http://schemas.microsoft.com/office/drawing/2014/main" id="{DE876C45-CD1F-0B39-8A91-8C1E21E2E7F9}"/>
              </a:ext>
            </a:extLst>
          </p:cNvPr>
          <p:cNvSpPr/>
          <p:nvPr/>
        </p:nvSpPr>
        <p:spPr>
          <a:xfrm>
            <a:off x="7294950" y="3193320"/>
            <a:ext cx="2472900" cy="688200"/>
          </a:xfrm>
          <a:prstGeom prst="roundRect">
            <a:avLst>
              <a:gd name="adj" fmla="val 16667"/>
            </a:avLst>
          </a:prstGeom>
          <a:solidFill>
            <a:srgbClr val="EEEEEE"/>
          </a:solidFill>
          <a:ln>
            <a:no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000" dirty="0">
                <a:solidFill>
                  <a:schemeClr val="dk2"/>
                </a:solidFill>
                <a:latin typeface="Open Sans"/>
                <a:ea typeface="Open Sans"/>
                <a:cs typeface="Open Sans"/>
                <a:sym typeface="Open Sans"/>
              </a:rPr>
              <a:t>Nordic and Continental market exposure</a:t>
            </a:r>
            <a:endParaRPr sz="1000" dirty="0">
              <a:solidFill>
                <a:srgbClr val="595959"/>
              </a:solidFill>
              <a:latin typeface="Open Sans"/>
              <a:ea typeface="Open Sans"/>
              <a:cs typeface="Open Sans"/>
              <a:sym typeface="Open Sans"/>
            </a:endParaRPr>
          </a:p>
        </p:txBody>
      </p:sp>
      <p:sp>
        <p:nvSpPr>
          <p:cNvPr id="68" name="Google Shape;307;p11">
            <a:extLst>
              <a:ext uri="{FF2B5EF4-FFF2-40B4-BE49-F238E27FC236}">
                <a16:creationId xmlns:a16="http://schemas.microsoft.com/office/drawing/2014/main" id="{EF41B9B7-DFC1-836B-ACB8-C5E091F74019}"/>
              </a:ext>
            </a:extLst>
          </p:cNvPr>
          <p:cNvSpPr/>
          <p:nvPr/>
        </p:nvSpPr>
        <p:spPr>
          <a:xfrm>
            <a:off x="4916350" y="5462113"/>
            <a:ext cx="2472900" cy="688200"/>
          </a:xfrm>
          <a:prstGeom prst="roundRect">
            <a:avLst>
              <a:gd name="adj" fmla="val 16667"/>
            </a:avLst>
          </a:prstGeom>
          <a:solidFill>
            <a:srgbClr val="EEEEEE"/>
          </a:solidFill>
          <a:ln>
            <a:solidFill>
              <a:srgbClr val="FF0000"/>
            </a:solidFill>
          </a:ln>
          <a:effectLst>
            <a:outerShdw blurRad="42863" dist="19050" dir="5400000" algn="bl" rotWithShape="0">
              <a:srgbClr val="000000">
                <a:alpha val="49019"/>
              </a:srgbClr>
            </a:outerShdw>
          </a:effectLst>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1000" dirty="0">
                <a:solidFill>
                  <a:schemeClr val="dk2"/>
                </a:solidFill>
                <a:latin typeface="Open Sans"/>
                <a:ea typeface="Open Sans"/>
                <a:cs typeface="Open Sans"/>
                <a:sym typeface="Open Sans"/>
              </a:rPr>
              <a:t>2021–2023 European energy crisis</a:t>
            </a:r>
            <a:endParaRPr sz="1000" dirty="0">
              <a:solidFill>
                <a:schemeClr val="dk2"/>
              </a:solidFill>
              <a:latin typeface="Open Sans"/>
              <a:ea typeface="Open Sans"/>
              <a:cs typeface="Open Sans"/>
              <a:sym typeface="Open Sans"/>
            </a:endParaRPr>
          </a:p>
        </p:txBody>
      </p:sp>
      <p:pic>
        <p:nvPicPr>
          <p:cNvPr id="8" name="Image 7">
            <a:extLst>
              <a:ext uri="{FF2B5EF4-FFF2-40B4-BE49-F238E27FC236}">
                <a16:creationId xmlns:a16="http://schemas.microsoft.com/office/drawing/2014/main" id="{C128B5C2-3F1F-D88B-B95F-DB3572205325}"/>
              </a:ext>
            </a:extLst>
          </p:cNvPr>
          <p:cNvPicPr>
            <a:picLocks noChangeAspect="1"/>
          </p:cNvPicPr>
          <p:nvPr/>
        </p:nvPicPr>
        <p:blipFill>
          <a:blip r:embed="rId3"/>
          <a:stretch>
            <a:fillRect/>
          </a:stretch>
        </p:blipFill>
        <p:spPr>
          <a:xfrm>
            <a:off x="7490130" y="4109795"/>
            <a:ext cx="4210638" cy="2353003"/>
          </a:xfrm>
          <a:prstGeom prst="rect">
            <a:avLst/>
          </a:prstGeom>
        </p:spPr>
      </p:pic>
      <p:sp>
        <p:nvSpPr>
          <p:cNvPr id="6" name="Google Shape;81;p3">
            <a:extLst>
              <a:ext uri="{FF2B5EF4-FFF2-40B4-BE49-F238E27FC236}">
                <a16:creationId xmlns:a16="http://schemas.microsoft.com/office/drawing/2014/main" id="{19A49B4A-6433-2A0E-9EE0-EA153681F186}"/>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8</a:t>
            </a:fld>
            <a:endParaRPr>
              <a:solidFill>
                <a:schemeClr val="lt1"/>
              </a:solidFill>
              <a:latin typeface="Arial"/>
              <a:ea typeface="Arial"/>
              <a:cs typeface="Arial"/>
              <a:sym typeface="Arial"/>
            </a:endParaRPr>
          </a:p>
        </p:txBody>
      </p:sp>
      <p:sp>
        <p:nvSpPr>
          <p:cNvPr id="10" name="ZoneTexte 9">
            <a:extLst>
              <a:ext uri="{FF2B5EF4-FFF2-40B4-BE49-F238E27FC236}">
                <a16:creationId xmlns:a16="http://schemas.microsoft.com/office/drawing/2014/main" id="{53CD7A3C-60CD-328F-8E7D-72952E4FA9A3}"/>
              </a:ext>
            </a:extLst>
          </p:cNvPr>
          <p:cNvSpPr txBox="1"/>
          <p:nvPr/>
        </p:nvSpPr>
        <p:spPr>
          <a:xfrm>
            <a:off x="9336741" y="6387238"/>
            <a:ext cx="1819836" cy="215444"/>
          </a:xfrm>
          <a:prstGeom prst="rect">
            <a:avLst/>
          </a:prstGeom>
          <a:noFill/>
        </p:spPr>
        <p:txBody>
          <a:bodyPr wrap="square">
            <a:spAutoFit/>
          </a:bodyPr>
          <a:lstStyle/>
          <a:p>
            <a:r>
              <a:rPr lang="en-US" sz="800" i="1" dirty="0"/>
              <a:t>Source: Author’s calculations.</a:t>
            </a:r>
          </a:p>
        </p:txBody>
      </p:sp>
      <p:sp>
        <p:nvSpPr>
          <p:cNvPr id="11" name="Google Shape;75;g3b83c7c63cf_0_48">
            <a:extLst>
              <a:ext uri="{FF2B5EF4-FFF2-40B4-BE49-F238E27FC236}">
                <a16:creationId xmlns:a16="http://schemas.microsoft.com/office/drawing/2014/main" id="{898127D4-4502-2BEC-0F95-D9FBAC7C0A28}"/>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Motivation and </a:t>
            </a:r>
            <a:r>
              <a:rPr lang="en-US" sz="3200" b="1" dirty="0" err="1">
                <a:solidFill>
                  <a:srgbClr val="000000"/>
                </a:solidFill>
                <a:latin typeface="Open Sans"/>
                <a:ea typeface="Open Sans"/>
                <a:cs typeface="Open Sans"/>
                <a:sym typeface="Open Sans"/>
              </a:rPr>
              <a:t>Optimisation</a:t>
            </a:r>
            <a:r>
              <a:rPr lang="en-US" sz="3200" b="1" dirty="0">
                <a:solidFill>
                  <a:srgbClr val="000000"/>
                </a:solidFill>
                <a:latin typeface="Open Sans"/>
                <a:ea typeface="Open Sans"/>
                <a:cs typeface="Open Sans"/>
                <a:sym typeface="Open Sans"/>
              </a:rPr>
              <a:t> Problem</a:t>
            </a:r>
            <a:endParaRPr sz="3200" b="1" dirty="0">
              <a:solidFill>
                <a:srgbClr val="000000"/>
              </a:solidFill>
              <a:latin typeface="Open Sans"/>
              <a:ea typeface="Open Sans"/>
              <a:cs typeface="Open Sans"/>
              <a:sym typeface="Open Sans"/>
            </a:endParaRPr>
          </a:p>
        </p:txBody>
      </p:sp>
    </p:spTree>
    <p:extLst>
      <p:ext uri="{BB962C8B-B14F-4D97-AF65-F5344CB8AC3E}">
        <p14:creationId xmlns:p14="http://schemas.microsoft.com/office/powerpoint/2010/main" val="3244467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314C03B-EED9-CA76-CA6C-78FBA514A7F4}"/>
            </a:ext>
          </a:extLst>
        </p:cNvPr>
        <p:cNvGrpSpPr/>
        <p:nvPr/>
      </p:nvGrpSpPr>
      <p:grpSpPr>
        <a:xfrm>
          <a:off x="0" y="0"/>
          <a:ext cx="0" cy="0"/>
          <a:chOff x="0" y="0"/>
          <a:chExt cx="0" cy="0"/>
        </a:xfrm>
      </p:grpSpPr>
      <p:sp>
        <p:nvSpPr>
          <p:cNvPr id="78" name="Google Shape;78;p3">
            <a:extLst>
              <a:ext uri="{FF2B5EF4-FFF2-40B4-BE49-F238E27FC236}">
                <a16:creationId xmlns:a16="http://schemas.microsoft.com/office/drawing/2014/main" id="{D9CD27A8-F3FE-FC82-DC3D-188A25D4E836}"/>
              </a:ext>
            </a:extLst>
          </p:cNvPr>
          <p:cNvSpPr/>
          <p:nvPr/>
        </p:nvSpPr>
        <p:spPr>
          <a:xfrm>
            <a:off x="1879833" y="2069200"/>
            <a:ext cx="8542800" cy="2719600"/>
          </a:xfrm>
          <a:prstGeom prst="rect">
            <a:avLst/>
          </a:prstGeom>
          <a:solidFill>
            <a:srgbClr val="073763"/>
          </a:solidFill>
          <a:ln>
            <a:noFill/>
          </a:ln>
          <a:effectLst>
            <a:outerShdw blurRad="57150" dist="28575" dir="5400000" algn="bl" rotWithShape="0">
              <a:srgbClr val="000000">
                <a:alpha val="29409"/>
              </a:srgbClr>
            </a:outerShdw>
          </a:effectLst>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79" name="Google Shape;79;p3">
            <a:extLst>
              <a:ext uri="{FF2B5EF4-FFF2-40B4-BE49-F238E27FC236}">
                <a16:creationId xmlns:a16="http://schemas.microsoft.com/office/drawing/2014/main" id="{B1387EE3-0690-5BFA-662B-F00681208287}"/>
              </a:ext>
            </a:extLst>
          </p:cNvPr>
          <p:cNvSpPr txBox="1">
            <a:spLocks noGrp="1"/>
          </p:cNvSpPr>
          <p:nvPr>
            <p:ph type="ctrTitle"/>
          </p:nvPr>
        </p:nvSpPr>
        <p:spPr>
          <a:xfrm>
            <a:off x="2215633" y="2794384"/>
            <a:ext cx="6424275" cy="1269200"/>
          </a:xfrm>
          <a:prstGeom prst="rect">
            <a:avLst/>
          </a:prstGeom>
          <a:noFill/>
          <a:ln>
            <a:noFill/>
          </a:ln>
          <a:effectLst>
            <a:outerShdw blurRad="57150" dist="19050" dir="5400000" algn="bl" rotWithShape="0">
              <a:srgbClr val="000000">
                <a:alpha val="49411"/>
              </a:srgbClr>
            </a:outerShdw>
          </a:effectLst>
        </p:spPr>
        <p:txBody>
          <a:bodyPr spcFirstLastPara="1" wrap="square" lIns="121900" tIns="121900" rIns="121900" bIns="121900" anchor="ctr" anchorCtr="0">
            <a:noAutofit/>
          </a:bodyPr>
          <a:lstStyle/>
          <a:p>
            <a:r>
              <a:rPr lang="fr" sz="2800" b="1" dirty="0">
                <a:solidFill>
                  <a:schemeClr val="lt1"/>
                </a:solidFill>
                <a:latin typeface="Open Sans"/>
                <a:ea typeface="Open Sans"/>
                <a:cs typeface="Open Sans"/>
                <a:sym typeface="Open Sans"/>
              </a:rPr>
              <a:t>Data &amp; Methodology</a:t>
            </a:r>
            <a:endParaRPr sz="2800" b="1" dirty="0">
              <a:solidFill>
                <a:schemeClr val="lt1"/>
              </a:solidFill>
              <a:latin typeface="Open Sans"/>
              <a:ea typeface="Open Sans"/>
              <a:cs typeface="Open Sans"/>
              <a:sym typeface="Open Sans"/>
            </a:endParaRPr>
          </a:p>
        </p:txBody>
      </p:sp>
      <p:pic>
        <p:nvPicPr>
          <p:cNvPr id="80" name="Google Shape;80;p3" title="point-dinterrogation-sur-un-fond-noir-circulaire.png">
            <a:extLst>
              <a:ext uri="{FF2B5EF4-FFF2-40B4-BE49-F238E27FC236}">
                <a16:creationId xmlns:a16="http://schemas.microsoft.com/office/drawing/2014/main" id="{95AB4E81-3C5A-C566-3AAE-A2E764F12211}"/>
              </a:ext>
            </a:extLst>
          </p:cNvPr>
          <p:cNvPicPr preferRelativeResize="0"/>
          <p:nvPr/>
        </p:nvPicPr>
        <p:blipFill rotWithShape="1">
          <a:blip r:embed="rId3">
            <a:alphaModFix/>
            <a:lum bright="70000" contrast="-70000"/>
          </a:blip>
          <a:srcRect/>
          <a:stretch/>
        </p:blipFill>
        <p:spPr>
          <a:xfrm>
            <a:off x="2306868" y="2901185"/>
            <a:ext cx="1055633" cy="1055633"/>
          </a:xfrm>
          <a:prstGeom prst="rect">
            <a:avLst/>
          </a:prstGeom>
          <a:noFill/>
          <a:ln>
            <a:noFill/>
          </a:ln>
        </p:spPr>
      </p:pic>
      <p:sp>
        <p:nvSpPr>
          <p:cNvPr id="81" name="Google Shape;81;p3">
            <a:extLst>
              <a:ext uri="{FF2B5EF4-FFF2-40B4-BE49-F238E27FC236}">
                <a16:creationId xmlns:a16="http://schemas.microsoft.com/office/drawing/2014/main" id="{83971F3C-BA3B-4B0B-009C-EE523A20C134}"/>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9</a:t>
            </a:fld>
            <a:endParaRPr>
              <a:solidFill>
                <a:schemeClr val="lt1"/>
              </a:solidFill>
              <a:latin typeface="Arial"/>
              <a:ea typeface="Arial"/>
              <a:cs typeface="Arial"/>
              <a:sym typeface="Arial"/>
            </a:endParaRPr>
          </a:p>
        </p:txBody>
      </p:sp>
    </p:spTree>
    <p:extLst>
      <p:ext uri="{BB962C8B-B14F-4D97-AF65-F5344CB8AC3E}">
        <p14:creationId xmlns:p14="http://schemas.microsoft.com/office/powerpoint/2010/main" val="2008676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30352" y="219456"/>
            <a:ext cx="10881360" cy="438912"/>
          </a:xfrm>
          <a:prstGeom prst="rect">
            <a:avLst/>
          </a:prstGeom>
          <a:noFill/>
        </p:spPr>
        <p:txBody>
          <a:bodyPr wrap="square">
            <a:spAutoFit/>
          </a:bodyPr>
          <a:lstStyle/>
          <a:p>
            <a:pPr>
              <a:defRPr sz="2400" b="1">
                <a:solidFill>
                  <a:srgbClr val="452477"/>
                </a:solidFill>
                <a:latin typeface="Aptos"/>
              </a:defRPr>
            </a:pPr>
            <a:r>
              <a:t>Electricity prices changed the risk landscape</a:t>
            </a:r>
          </a:p>
        </p:txBody>
      </p:sp>
      <p:sp>
        <p:nvSpPr>
          <p:cNvPr id="3" name="TextBox 2"/>
          <p:cNvSpPr txBox="1"/>
          <p:nvPr/>
        </p:nvSpPr>
        <p:spPr>
          <a:xfrm>
            <a:off x="548640" y="740664"/>
            <a:ext cx="10789920" cy="329184"/>
          </a:xfrm>
          <a:prstGeom prst="rect">
            <a:avLst/>
          </a:prstGeom>
          <a:noFill/>
        </p:spPr>
        <p:txBody>
          <a:bodyPr wrap="square">
            <a:spAutoFit/>
          </a:bodyPr>
          <a:lstStyle/>
          <a:p>
            <a:pPr>
              <a:defRPr sz="1200" b="0">
                <a:solidFill>
                  <a:srgbClr val="5F5E67"/>
                </a:solidFill>
                <a:latin typeface="Aptos"/>
              </a:defRPr>
            </a:pPr>
            <a:r>
              <a:t>The 2021 to 2023 crisis shows why the company needs to manage price uncertainty.</a:t>
            </a:r>
          </a:p>
        </p:txBody>
      </p:sp>
      <p:pic>
        <p:nvPicPr>
          <p:cNvPr id="4" name="Picture 3" descr="01_dk1_historical_prices.png"/>
          <p:cNvPicPr>
            <a:picLocks noChangeAspect="1"/>
          </p:cNvPicPr>
          <p:nvPr/>
        </p:nvPicPr>
        <p:blipFill>
          <a:blip r:embed="rId3"/>
          <a:stretch>
            <a:fillRect/>
          </a:stretch>
        </p:blipFill>
        <p:spPr>
          <a:xfrm>
            <a:off x="609447" y="1503330"/>
            <a:ext cx="10972800" cy="4500562"/>
          </a:xfrm>
          <a:prstGeom prst="rect">
            <a:avLst/>
          </a:prstGeom>
        </p:spPr>
      </p:pic>
      <p:sp>
        <p:nvSpPr>
          <p:cNvPr id="5" name="TextBox 4"/>
          <p:cNvSpPr txBox="1"/>
          <p:nvPr/>
        </p:nvSpPr>
        <p:spPr>
          <a:xfrm>
            <a:off x="548640" y="6510528"/>
            <a:ext cx="10881360" cy="182880"/>
          </a:xfrm>
          <a:prstGeom prst="rect">
            <a:avLst/>
          </a:prstGeom>
          <a:noFill/>
        </p:spPr>
        <p:txBody>
          <a:bodyPr wrap="square">
            <a:spAutoFit/>
          </a:bodyPr>
          <a:lstStyle/>
          <a:p>
            <a:pPr>
              <a:defRPr sz="900" b="0">
                <a:solidFill>
                  <a:srgbClr val="73707A"/>
                </a:solidFill>
                <a:latin typeface="Aptos"/>
              </a:defRPr>
            </a:pPr>
            <a:r>
              <a:t>NEOMA  |  Electricity price risk hedging  |  Statistical spot-price proxy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30352" y="219456"/>
            <a:ext cx="10881360" cy="438912"/>
          </a:xfrm>
          <a:prstGeom prst="rect">
            <a:avLst/>
          </a:prstGeom>
          <a:noFill/>
        </p:spPr>
        <p:txBody>
          <a:bodyPr wrap="square">
            <a:spAutoFit/>
          </a:bodyPr>
          <a:lstStyle/>
          <a:p>
            <a:pPr>
              <a:defRPr sz="2400" b="1">
                <a:solidFill>
                  <a:srgbClr val="452477"/>
                </a:solidFill>
                <a:latin typeface="Aptos"/>
              </a:defRPr>
            </a:pPr>
            <a:r>
              <a:t>Price uncertainty rises sharply in stress periods</a:t>
            </a:r>
          </a:p>
        </p:txBody>
      </p:sp>
      <p:sp>
        <p:nvSpPr>
          <p:cNvPr id="3" name="TextBox 2"/>
          <p:cNvSpPr txBox="1"/>
          <p:nvPr/>
        </p:nvSpPr>
        <p:spPr>
          <a:xfrm>
            <a:off x="548640" y="740664"/>
            <a:ext cx="10789920" cy="329184"/>
          </a:xfrm>
          <a:prstGeom prst="rect">
            <a:avLst/>
          </a:prstGeom>
          <a:noFill/>
        </p:spPr>
        <p:txBody>
          <a:bodyPr wrap="square">
            <a:spAutoFit/>
          </a:bodyPr>
          <a:lstStyle/>
          <a:p>
            <a:pPr>
              <a:defRPr sz="1200" b="0">
                <a:solidFill>
                  <a:srgbClr val="5F5E67"/>
                </a:solidFill>
                <a:latin typeface="Aptos"/>
              </a:defRPr>
            </a:pPr>
            <a:r>
              <a:t>The 30-day rolling standard deviation captures changes in market risk over time.</a:t>
            </a:r>
          </a:p>
        </p:txBody>
      </p:sp>
      <p:pic>
        <p:nvPicPr>
          <p:cNvPr id="4" name="Picture 3" descr="02_dk1_rolling_volatility.png"/>
          <p:cNvPicPr>
            <a:picLocks noChangeAspect="1"/>
          </p:cNvPicPr>
          <p:nvPr/>
        </p:nvPicPr>
        <p:blipFill>
          <a:blip r:embed="rId3"/>
          <a:stretch>
            <a:fillRect/>
          </a:stretch>
        </p:blipFill>
        <p:spPr>
          <a:xfrm>
            <a:off x="609447" y="1503330"/>
            <a:ext cx="10972800" cy="4500562"/>
          </a:xfrm>
          <a:prstGeom prst="rect">
            <a:avLst/>
          </a:prstGeom>
        </p:spPr>
      </p:pic>
      <p:sp>
        <p:nvSpPr>
          <p:cNvPr id="5" name="TextBox 4"/>
          <p:cNvSpPr txBox="1"/>
          <p:nvPr/>
        </p:nvSpPr>
        <p:spPr>
          <a:xfrm>
            <a:off x="548640" y="6510528"/>
            <a:ext cx="10881360" cy="182880"/>
          </a:xfrm>
          <a:prstGeom prst="rect">
            <a:avLst/>
          </a:prstGeom>
          <a:noFill/>
        </p:spPr>
        <p:txBody>
          <a:bodyPr wrap="square">
            <a:spAutoFit/>
          </a:bodyPr>
          <a:lstStyle/>
          <a:p>
            <a:pPr>
              <a:defRPr sz="900" b="0">
                <a:solidFill>
                  <a:srgbClr val="73707A"/>
                </a:solidFill>
                <a:latin typeface="Aptos"/>
              </a:defRPr>
            </a:pPr>
            <a:r>
              <a:t>NEOMA  |  Electricity price risk hedging  |  Statistical spot-price proxy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1DF8D542-A19F-2776-DDDA-6CD70C985E46}"/>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78012C72-9108-EF55-59FF-463367999323}"/>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CD49BD9B-48A3-9BD6-1252-3CD5258A7BBE}"/>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Five interconnected electricity markets</a:t>
            </a:r>
          </a:p>
        </p:txBody>
      </p:sp>
      <p:sp>
        <p:nvSpPr>
          <p:cNvPr id="6" name="Google Shape;81;p3">
            <a:extLst>
              <a:ext uri="{FF2B5EF4-FFF2-40B4-BE49-F238E27FC236}">
                <a16:creationId xmlns:a16="http://schemas.microsoft.com/office/drawing/2014/main" id="{75273B25-9AC9-9EC5-B59E-BD914DAE4C0D}"/>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12</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BB1D84FD-4CDF-AE22-D663-61CB140E0B22}"/>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Data &amp; Methodology</a:t>
            </a:r>
            <a:endParaRPr sz="3200" b="1" dirty="0">
              <a:solidFill>
                <a:srgbClr val="000000"/>
              </a:solidFill>
              <a:latin typeface="Open Sans"/>
              <a:ea typeface="Open Sans"/>
              <a:cs typeface="Open Sans"/>
              <a:sym typeface="Open Sans"/>
            </a:endParaRPr>
          </a:p>
        </p:txBody>
      </p:sp>
      <p:sp>
        <p:nvSpPr>
          <p:cNvPr id="12" name="TextBox 4">
            <a:extLst>
              <a:ext uri="{FF2B5EF4-FFF2-40B4-BE49-F238E27FC236}">
                <a16:creationId xmlns:a16="http://schemas.microsoft.com/office/drawing/2014/main" id="{ED0E2F79-36DC-C210-A1DC-E39E9A141DFD}"/>
              </a:ext>
            </a:extLst>
          </p:cNvPr>
          <p:cNvSpPr txBox="1"/>
          <p:nvPr/>
        </p:nvSpPr>
        <p:spPr>
          <a:xfrm>
            <a:off x="261623" y="2022006"/>
            <a:ext cx="10789920" cy="457200"/>
          </a:xfrm>
          <a:prstGeom prst="rect">
            <a:avLst/>
          </a:prstGeom>
          <a:noFill/>
        </p:spPr>
        <p:txBody>
          <a:bodyPr wrap="square" lIns="45720" rIns="45720">
            <a:spAutoFit/>
          </a:bodyPr>
          <a:lstStyle/>
          <a:p>
            <a:pPr>
              <a:defRPr sz="1500" b="0">
                <a:solidFill>
                  <a:srgbClr val="5F5B67"/>
                </a:solidFill>
                <a:latin typeface="Aptos"/>
              </a:defRPr>
            </a:pPr>
            <a:r>
              <a:t>Historical hourly day-ahead prices (EUR/MWh), original ENTSO-E exports</a:t>
            </a:r>
          </a:p>
        </p:txBody>
      </p:sp>
      <p:sp>
        <p:nvSpPr>
          <p:cNvPr id="14" name="Rounded Rectangle 8">
            <a:extLst>
              <a:ext uri="{FF2B5EF4-FFF2-40B4-BE49-F238E27FC236}">
                <a16:creationId xmlns:a16="http://schemas.microsoft.com/office/drawing/2014/main" id="{03332134-31AC-E333-05AA-EDA7FE77E47A}"/>
              </a:ext>
            </a:extLst>
          </p:cNvPr>
          <p:cNvSpPr/>
          <p:nvPr/>
        </p:nvSpPr>
        <p:spPr>
          <a:xfrm>
            <a:off x="316488" y="2538642"/>
            <a:ext cx="2148840" cy="2331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9">
            <a:extLst>
              <a:ext uri="{FF2B5EF4-FFF2-40B4-BE49-F238E27FC236}">
                <a16:creationId xmlns:a16="http://schemas.microsoft.com/office/drawing/2014/main" id="{EB4834FE-02C3-8572-3D27-C4534868F727}"/>
              </a:ext>
            </a:extLst>
          </p:cNvPr>
          <p:cNvSpPr txBox="1"/>
          <p:nvPr/>
        </p:nvSpPr>
        <p:spPr>
          <a:xfrm>
            <a:off x="407928" y="2812962"/>
            <a:ext cx="1965960" cy="640080"/>
          </a:xfrm>
          <a:prstGeom prst="rect">
            <a:avLst/>
          </a:prstGeom>
          <a:noFill/>
        </p:spPr>
        <p:txBody>
          <a:bodyPr wrap="square" lIns="45720" rIns="45720">
            <a:spAutoFit/>
          </a:bodyPr>
          <a:lstStyle/>
          <a:p>
            <a:pPr algn="ctr">
              <a:defRPr sz="3100" b="1">
                <a:solidFill>
                  <a:srgbClr val="4E287F"/>
                </a:solidFill>
                <a:latin typeface="Aptos"/>
              </a:defRPr>
            </a:pPr>
            <a:r>
              <a:t>DK1</a:t>
            </a:r>
          </a:p>
        </p:txBody>
      </p:sp>
      <p:sp>
        <p:nvSpPr>
          <p:cNvPr id="18" name="TextBox 10">
            <a:extLst>
              <a:ext uri="{FF2B5EF4-FFF2-40B4-BE49-F238E27FC236}">
                <a16:creationId xmlns:a16="http://schemas.microsoft.com/office/drawing/2014/main" id="{E4AF0437-350D-AFFD-42F8-75EAB49A420A}"/>
              </a:ext>
            </a:extLst>
          </p:cNvPr>
          <p:cNvSpPr txBox="1"/>
          <p:nvPr/>
        </p:nvSpPr>
        <p:spPr>
          <a:xfrm>
            <a:off x="407928" y="3498762"/>
            <a:ext cx="1965960" cy="365760"/>
          </a:xfrm>
          <a:prstGeom prst="rect">
            <a:avLst/>
          </a:prstGeom>
          <a:noFill/>
        </p:spPr>
        <p:txBody>
          <a:bodyPr wrap="square" lIns="45720" rIns="45720">
            <a:spAutoFit/>
          </a:bodyPr>
          <a:lstStyle/>
          <a:p>
            <a:pPr algn="ctr">
              <a:defRPr sz="1200" b="1">
                <a:solidFill>
                  <a:srgbClr val="C49A45"/>
                </a:solidFill>
                <a:latin typeface="Aptos"/>
              </a:defRPr>
            </a:pPr>
            <a:r>
              <a:t>TARGET</a:t>
            </a:r>
          </a:p>
        </p:txBody>
      </p:sp>
      <p:sp>
        <p:nvSpPr>
          <p:cNvPr id="20" name="TextBox 11">
            <a:extLst>
              <a:ext uri="{FF2B5EF4-FFF2-40B4-BE49-F238E27FC236}">
                <a16:creationId xmlns:a16="http://schemas.microsoft.com/office/drawing/2014/main" id="{33A10175-F187-B795-F41A-5B0AD105B7FD}"/>
              </a:ext>
            </a:extLst>
          </p:cNvPr>
          <p:cNvSpPr txBox="1"/>
          <p:nvPr/>
        </p:nvSpPr>
        <p:spPr>
          <a:xfrm>
            <a:off x="407928" y="3983394"/>
            <a:ext cx="1965960" cy="530352"/>
          </a:xfrm>
          <a:prstGeom prst="rect">
            <a:avLst/>
          </a:prstGeom>
          <a:noFill/>
        </p:spPr>
        <p:txBody>
          <a:bodyPr wrap="square" lIns="45720" rIns="45720">
            <a:spAutoFit/>
          </a:bodyPr>
          <a:lstStyle/>
          <a:p>
            <a:pPr algn="ctr">
              <a:defRPr sz="1500" b="0">
                <a:solidFill>
                  <a:srgbClr val="2E1B4C"/>
                </a:solidFill>
                <a:latin typeface="Aptos"/>
              </a:defRPr>
            </a:pPr>
            <a:r>
              <a:t>Western Denmark</a:t>
            </a:r>
          </a:p>
        </p:txBody>
      </p:sp>
      <p:sp>
        <p:nvSpPr>
          <p:cNvPr id="22" name="Rounded Rectangle 12">
            <a:extLst>
              <a:ext uri="{FF2B5EF4-FFF2-40B4-BE49-F238E27FC236}">
                <a16:creationId xmlns:a16="http://schemas.microsoft.com/office/drawing/2014/main" id="{FFCEBE4F-4D38-DFB2-C329-6C4426AC97BD}"/>
              </a:ext>
            </a:extLst>
          </p:cNvPr>
          <p:cNvSpPr/>
          <p:nvPr/>
        </p:nvSpPr>
        <p:spPr>
          <a:xfrm>
            <a:off x="2648207" y="2538642"/>
            <a:ext cx="2148840" cy="2331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3">
            <a:extLst>
              <a:ext uri="{FF2B5EF4-FFF2-40B4-BE49-F238E27FC236}">
                <a16:creationId xmlns:a16="http://schemas.microsoft.com/office/drawing/2014/main" id="{B197FA82-B2E3-5068-53A7-D5BF75C20722}"/>
              </a:ext>
            </a:extLst>
          </p:cNvPr>
          <p:cNvSpPr txBox="1"/>
          <p:nvPr/>
        </p:nvSpPr>
        <p:spPr>
          <a:xfrm>
            <a:off x="2739647" y="2812962"/>
            <a:ext cx="1965960" cy="640080"/>
          </a:xfrm>
          <a:prstGeom prst="rect">
            <a:avLst/>
          </a:prstGeom>
          <a:noFill/>
        </p:spPr>
        <p:txBody>
          <a:bodyPr wrap="square" lIns="45720" rIns="45720">
            <a:spAutoFit/>
          </a:bodyPr>
          <a:lstStyle/>
          <a:p>
            <a:pPr algn="ctr">
              <a:defRPr sz="3100" b="1">
                <a:solidFill>
                  <a:srgbClr val="4E287F"/>
                </a:solidFill>
                <a:latin typeface="Aptos"/>
              </a:defRPr>
            </a:pPr>
            <a:r>
              <a:t>DE</a:t>
            </a:r>
          </a:p>
        </p:txBody>
      </p:sp>
      <p:sp>
        <p:nvSpPr>
          <p:cNvPr id="26" name="TextBox 14">
            <a:extLst>
              <a:ext uri="{FF2B5EF4-FFF2-40B4-BE49-F238E27FC236}">
                <a16:creationId xmlns:a16="http://schemas.microsoft.com/office/drawing/2014/main" id="{D14B7B5E-0E8B-23D8-CBA0-A73CF86422C0}"/>
              </a:ext>
            </a:extLst>
          </p:cNvPr>
          <p:cNvSpPr txBox="1"/>
          <p:nvPr/>
        </p:nvSpPr>
        <p:spPr>
          <a:xfrm>
            <a:off x="2739647" y="3498762"/>
            <a:ext cx="1965960" cy="365760"/>
          </a:xfrm>
          <a:prstGeom prst="rect">
            <a:avLst/>
          </a:prstGeom>
          <a:noFill/>
        </p:spPr>
        <p:txBody>
          <a:bodyPr wrap="square" lIns="45720" rIns="45720">
            <a:spAutoFit/>
          </a:bodyPr>
          <a:lstStyle/>
          <a:p>
            <a:pPr algn="ctr">
              <a:defRPr sz="1200" b="1">
                <a:solidFill>
                  <a:srgbClr val="5F5B67"/>
                </a:solidFill>
                <a:latin typeface="Aptos"/>
              </a:defRPr>
            </a:pPr>
            <a:r>
              <a:t>HEDGE</a:t>
            </a:r>
          </a:p>
        </p:txBody>
      </p:sp>
      <p:sp>
        <p:nvSpPr>
          <p:cNvPr id="28" name="TextBox 15">
            <a:extLst>
              <a:ext uri="{FF2B5EF4-FFF2-40B4-BE49-F238E27FC236}">
                <a16:creationId xmlns:a16="http://schemas.microsoft.com/office/drawing/2014/main" id="{ED59146F-6A50-AC97-8C49-EFC3E1348110}"/>
              </a:ext>
            </a:extLst>
          </p:cNvPr>
          <p:cNvSpPr txBox="1"/>
          <p:nvPr/>
        </p:nvSpPr>
        <p:spPr>
          <a:xfrm>
            <a:off x="2739647" y="3983394"/>
            <a:ext cx="1965960" cy="530352"/>
          </a:xfrm>
          <a:prstGeom prst="rect">
            <a:avLst/>
          </a:prstGeom>
          <a:noFill/>
        </p:spPr>
        <p:txBody>
          <a:bodyPr wrap="square" lIns="45720" rIns="45720">
            <a:spAutoFit/>
          </a:bodyPr>
          <a:lstStyle/>
          <a:p>
            <a:pPr algn="ctr">
              <a:defRPr sz="1500" b="0">
                <a:solidFill>
                  <a:srgbClr val="2E1B4C"/>
                </a:solidFill>
                <a:latin typeface="Aptos"/>
              </a:defRPr>
            </a:pPr>
            <a:r>
              <a:t>Germany</a:t>
            </a:r>
          </a:p>
        </p:txBody>
      </p:sp>
      <p:sp>
        <p:nvSpPr>
          <p:cNvPr id="65" name="Rounded Rectangle 16">
            <a:extLst>
              <a:ext uri="{FF2B5EF4-FFF2-40B4-BE49-F238E27FC236}">
                <a16:creationId xmlns:a16="http://schemas.microsoft.com/office/drawing/2014/main" id="{EA711E57-711D-D94C-B444-DAF2B31B0EC7}"/>
              </a:ext>
            </a:extLst>
          </p:cNvPr>
          <p:cNvSpPr/>
          <p:nvPr/>
        </p:nvSpPr>
        <p:spPr>
          <a:xfrm>
            <a:off x="4979927" y="2538642"/>
            <a:ext cx="2148840" cy="2331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17">
            <a:extLst>
              <a:ext uri="{FF2B5EF4-FFF2-40B4-BE49-F238E27FC236}">
                <a16:creationId xmlns:a16="http://schemas.microsoft.com/office/drawing/2014/main" id="{5E27978B-BCBD-7E65-539C-4FAC943DF438}"/>
              </a:ext>
            </a:extLst>
          </p:cNvPr>
          <p:cNvSpPr txBox="1"/>
          <p:nvPr/>
        </p:nvSpPr>
        <p:spPr>
          <a:xfrm>
            <a:off x="5071367" y="2812962"/>
            <a:ext cx="1965960" cy="640080"/>
          </a:xfrm>
          <a:prstGeom prst="rect">
            <a:avLst/>
          </a:prstGeom>
          <a:noFill/>
        </p:spPr>
        <p:txBody>
          <a:bodyPr wrap="square" lIns="45720" rIns="45720">
            <a:spAutoFit/>
          </a:bodyPr>
          <a:lstStyle/>
          <a:p>
            <a:pPr algn="ctr">
              <a:defRPr sz="3100" b="1">
                <a:solidFill>
                  <a:srgbClr val="4E287F"/>
                </a:solidFill>
                <a:latin typeface="Aptos"/>
              </a:defRPr>
            </a:pPr>
            <a:r>
              <a:t>DK2</a:t>
            </a:r>
          </a:p>
        </p:txBody>
      </p:sp>
      <p:sp>
        <p:nvSpPr>
          <p:cNvPr id="72" name="TextBox 18">
            <a:extLst>
              <a:ext uri="{FF2B5EF4-FFF2-40B4-BE49-F238E27FC236}">
                <a16:creationId xmlns:a16="http://schemas.microsoft.com/office/drawing/2014/main" id="{EF9AD836-CE22-F103-77D7-2DA14C0375DB}"/>
              </a:ext>
            </a:extLst>
          </p:cNvPr>
          <p:cNvSpPr txBox="1"/>
          <p:nvPr/>
        </p:nvSpPr>
        <p:spPr>
          <a:xfrm>
            <a:off x="5071367" y="3498762"/>
            <a:ext cx="1965960" cy="365760"/>
          </a:xfrm>
          <a:prstGeom prst="rect">
            <a:avLst/>
          </a:prstGeom>
          <a:noFill/>
        </p:spPr>
        <p:txBody>
          <a:bodyPr wrap="square" lIns="45720" rIns="45720">
            <a:spAutoFit/>
          </a:bodyPr>
          <a:lstStyle/>
          <a:p>
            <a:pPr algn="ctr">
              <a:defRPr sz="1200" b="1">
                <a:solidFill>
                  <a:srgbClr val="5F5B67"/>
                </a:solidFill>
                <a:latin typeface="Aptos"/>
              </a:defRPr>
            </a:pPr>
            <a:r>
              <a:t>HEDGE</a:t>
            </a:r>
          </a:p>
        </p:txBody>
      </p:sp>
      <p:sp>
        <p:nvSpPr>
          <p:cNvPr id="74" name="TextBox 19">
            <a:extLst>
              <a:ext uri="{FF2B5EF4-FFF2-40B4-BE49-F238E27FC236}">
                <a16:creationId xmlns:a16="http://schemas.microsoft.com/office/drawing/2014/main" id="{14385CB1-D6C7-DA52-BAA0-C63BAD2CB487}"/>
              </a:ext>
            </a:extLst>
          </p:cNvPr>
          <p:cNvSpPr txBox="1"/>
          <p:nvPr/>
        </p:nvSpPr>
        <p:spPr>
          <a:xfrm>
            <a:off x="5071367" y="3983394"/>
            <a:ext cx="1965960" cy="530352"/>
          </a:xfrm>
          <a:prstGeom prst="rect">
            <a:avLst/>
          </a:prstGeom>
          <a:noFill/>
        </p:spPr>
        <p:txBody>
          <a:bodyPr wrap="square" lIns="45720" rIns="45720">
            <a:spAutoFit/>
          </a:bodyPr>
          <a:lstStyle/>
          <a:p>
            <a:pPr algn="ctr">
              <a:defRPr sz="1500" b="0">
                <a:solidFill>
                  <a:srgbClr val="2E1B4C"/>
                </a:solidFill>
                <a:latin typeface="Aptos"/>
              </a:defRPr>
            </a:pPr>
            <a:r>
              <a:t>Eastern Denmark</a:t>
            </a:r>
          </a:p>
        </p:txBody>
      </p:sp>
      <p:sp>
        <p:nvSpPr>
          <p:cNvPr id="77" name="Rounded Rectangle 20">
            <a:extLst>
              <a:ext uri="{FF2B5EF4-FFF2-40B4-BE49-F238E27FC236}">
                <a16:creationId xmlns:a16="http://schemas.microsoft.com/office/drawing/2014/main" id="{016C3AE6-8423-A77B-B377-342B35D9C640}"/>
              </a:ext>
            </a:extLst>
          </p:cNvPr>
          <p:cNvSpPr/>
          <p:nvPr/>
        </p:nvSpPr>
        <p:spPr>
          <a:xfrm>
            <a:off x="7311647" y="2538642"/>
            <a:ext cx="2148840" cy="2331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21">
            <a:extLst>
              <a:ext uri="{FF2B5EF4-FFF2-40B4-BE49-F238E27FC236}">
                <a16:creationId xmlns:a16="http://schemas.microsoft.com/office/drawing/2014/main" id="{2D557C21-ED51-0153-850B-90E2B36A4130}"/>
              </a:ext>
            </a:extLst>
          </p:cNvPr>
          <p:cNvSpPr txBox="1"/>
          <p:nvPr/>
        </p:nvSpPr>
        <p:spPr>
          <a:xfrm>
            <a:off x="7403087" y="2812962"/>
            <a:ext cx="1965960" cy="640080"/>
          </a:xfrm>
          <a:prstGeom prst="rect">
            <a:avLst/>
          </a:prstGeom>
          <a:noFill/>
        </p:spPr>
        <p:txBody>
          <a:bodyPr wrap="square" lIns="45720" rIns="45720">
            <a:spAutoFit/>
          </a:bodyPr>
          <a:lstStyle/>
          <a:p>
            <a:pPr algn="ctr">
              <a:defRPr sz="3100" b="1">
                <a:solidFill>
                  <a:srgbClr val="4E287F"/>
                </a:solidFill>
                <a:latin typeface="Aptos"/>
              </a:defRPr>
            </a:pPr>
            <a:r>
              <a:t>NO2</a:t>
            </a:r>
          </a:p>
        </p:txBody>
      </p:sp>
      <p:sp>
        <p:nvSpPr>
          <p:cNvPr id="82" name="TextBox 22">
            <a:extLst>
              <a:ext uri="{FF2B5EF4-FFF2-40B4-BE49-F238E27FC236}">
                <a16:creationId xmlns:a16="http://schemas.microsoft.com/office/drawing/2014/main" id="{A8A88CDC-0998-2111-58E4-9944792668AE}"/>
              </a:ext>
            </a:extLst>
          </p:cNvPr>
          <p:cNvSpPr txBox="1"/>
          <p:nvPr/>
        </p:nvSpPr>
        <p:spPr>
          <a:xfrm>
            <a:off x="7403087" y="3498762"/>
            <a:ext cx="1965960" cy="365760"/>
          </a:xfrm>
          <a:prstGeom prst="rect">
            <a:avLst/>
          </a:prstGeom>
          <a:noFill/>
        </p:spPr>
        <p:txBody>
          <a:bodyPr wrap="square" lIns="45720" rIns="45720">
            <a:spAutoFit/>
          </a:bodyPr>
          <a:lstStyle/>
          <a:p>
            <a:pPr algn="ctr">
              <a:defRPr sz="1200" b="1">
                <a:solidFill>
                  <a:srgbClr val="5F5B67"/>
                </a:solidFill>
                <a:latin typeface="Aptos"/>
              </a:defRPr>
            </a:pPr>
            <a:r>
              <a:t>HEDGE</a:t>
            </a:r>
          </a:p>
        </p:txBody>
      </p:sp>
      <p:sp>
        <p:nvSpPr>
          <p:cNvPr id="84" name="TextBox 23">
            <a:extLst>
              <a:ext uri="{FF2B5EF4-FFF2-40B4-BE49-F238E27FC236}">
                <a16:creationId xmlns:a16="http://schemas.microsoft.com/office/drawing/2014/main" id="{88FFEE3D-AF4B-D3E3-95B1-7F107D26A71D}"/>
              </a:ext>
            </a:extLst>
          </p:cNvPr>
          <p:cNvSpPr txBox="1"/>
          <p:nvPr/>
        </p:nvSpPr>
        <p:spPr>
          <a:xfrm>
            <a:off x="7403087" y="3983394"/>
            <a:ext cx="1965960" cy="530352"/>
          </a:xfrm>
          <a:prstGeom prst="rect">
            <a:avLst/>
          </a:prstGeom>
          <a:noFill/>
        </p:spPr>
        <p:txBody>
          <a:bodyPr wrap="square" lIns="45720" rIns="45720">
            <a:spAutoFit/>
          </a:bodyPr>
          <a:lstStyle/>
          <a:p>
            <a:pPr algn="ctr">
              <a:defRPr sz="1500" b="0">
                <a:solidFill>
                  <a:srgbClr val="2E1B4C"/>
                </a:solidFill>
                <a:latin typeface="Aptos"/>
              </a:defRPr>
            </a:pPr>
            <a:r>
              <a:t>Southern Norway</a:t>
            </a:r>
          </a:p>
        </p:txBody>
      </p:sp>
      <p:sp>
        <p:nvSpPr>
          <p:cNvPr id="86" name="TextBox 25">
            <a:extLst>
              <a:ext uri="{FF2B5EF4-FFF2-40B4-BE49-F238E27FC236}">
                <a16:creationId xmlns:a16="http://schemas.microsoft.com/office/drawing/2014/main" id="{0B278565-4969-7319-114F-1C0DCE5B0A00}"/>
              </a:ext>
            </a:extLst>
          </p:cNvPr>
          <p:cNvSpPr txBox="1"/>
          <p:nvPr/>
        </p:nvSpPr>
        <p:spPr>
          <a:xfrm>
            <a:off x="9734808" y="2812962"/>
            <a:ext cx="1965960" cy="640080"/>
          </a:xfrm>
          <a:prstGeom prst="rect">
            <a:avLst/>
          </a:prstGeom>
          <a:noFill/>
        </p:spPr>
        <p:txBody>
          <a:bodyPr wrap="square" lIns="45720" rIns="45720">
            <a:spAutoFit/>
          </a:bodyPr>
          <a:lstStyle/>
          <a:p>
            <a:pPr algn="ctr">
              <a:defRPr sz="3100" b="1">
                <a:solidFill>
                  <a:srgbClr val="4E287F"/>
                </a:solidFill>
                <a:latin typeface="Aptos"/>
              </a:defRPr>
            </a:pPr>
            <a:r>
              <a:t>SE4</a:t>
            </a:r>
          </a:p>
        </p:txBody>
      </p:sp>
      <p:sp>
        <p:nvSpPr>
          <p:cNvPr id="88" name="TextBox 26">
            <a:extLst>
              <a:ext uri="{FF2B5EF4-FFF2-40B4-BE49-F238E27FC236}">
                <a16:creationId xmlns:a16="http://schemas.microsoft.com/office/drawing/2014/main" id="{83682891-913A-C818-989C-20727BABFBE0}"/>
              </a:ext>
            </a:extLst>
          </p:cNvPr>
          <p:cNvSpPr txBox="1"/>
          <p:nvPr/>
        </p:nvSpPr>
        <p:spPr>
          <a:xfrm>
            <a:off x="9734808" y="3498762"/>
            <a:ext cx="1965960" cy="365760"/>
          </a:xfrm>
          <a:prstGeom prst="rect">
            <a:avLst/>
          </a:prstGeom>
          <a:noFill/>
        </p:spPr>
        <p:txBody>
          <a:bodyPr wrap="square" lIns="45720" rIns="45720">
            <a:spAutoFit/>
          </a:bodyPr>
          <a:lstStyle/>
          <a:p>
            <a:pPr algn="ctr">
              <a:defRPr sz="1200" b="1">
                <a:solidFill>
                  <a:srgbClr val="5F5B67"/>
                </a:solidFill>
                <a:latin typeface="Aptos"/>
              </a:defRPr>
            </a:pPr>
            <a:r>
              <a:t>HEDGE</a:t>
            </a:r>
          </a:p>
        </p:txBody>
      </p:sp>
      <p:sp>
        <p:nvSpPr>
          <p:cNvPr id="90" name="TextBox 27">
            <a:extLst>
              <a:ext uri="{FF2B5EF4-FFF2-40B4-BE49-F238E27FC236}">
                <a16:creationId xmlns:a16="http://schemas.microsoft.com/office/drawing/2014/main" id="{2B0E7AAA-8663-EA3E-CFD8-5D244C260687}"/>
              </a:ext>
            </a:extLst>
          </p:cNvPr>
          <p:cNvSpPr txBox="1"/>
          <p:nvPr/>
        </p:nvSpPr>
        <p:spPr>
          <a:xfrm>
            <a:off x="9734808" y="3983394"/>
            <a:ext cx="1965960" cy="530352"/>
          </a:xfrm>
          <a:prstGeom prst="rect">
            <a:avLst/>
          </a:prstGeom>
          <a:noFill/>
        </p:spPr>
        <p:txBody>
          <a:bodyPr wrap="square" lIns="45720" rIns="45720">
            <a:spAutoFit/>
          </a:bodyPr>
          <a:lstStyle/>
          <a:p>
            <a:pPr algn="ctr">
              <a:defRPr sz="1500" b="0">
                <a:solidFill>
                  <a:srgbClr val="2E1B4C"/>
                </a:solidFill>
                <a:latin typeface="Aptos"/>
              </a:defRPr>
            </a:pPr>
            <a:r>
              <a:t>Southern Sweden</a:t>
            </a:r>
          </a:p>
        </p:txBody>
      </p:sp>
      <p:sp>
        <p:nvSpPr>
          <p:cNvPr id="92" name="Rounded Rectangle 28">
            <a:extLst>
              <a:ext uri="{FF2B5EF4-FFF2-40B4-BE49-F238E27FC236}">
                <a16:creationId xmlns:a16="http://schemas.microsoft.com/office/drawing/2014/main" id="{A816E75F-4BC2-CC44-0222-0E409807EA47}"/>
              </a:ext>
            </a:extLst>
          </p:cNvPr>
          <p:cNvSpPr/>
          <p:nvPr/>
        </p:nvSpPr>
        <p:spPr>
          <a:xfrm>
            <a:off x="590808" y="5236122"/>
            <a:ext cx="10149840" cy="1024128"/>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a:extLst>
              <a:ext uri="{FF2B5EF4-FFF2-40B4-BE49-F238E27FC236}">
                <a16:creationId xmlns:a16="http://schemas.microsoft.com/office/drawing/2014/main" id="{693AF49C-1792-33E4-E8B0-3AF3D3BFEBCD}"/>
              </a:ext>
            </a:extLst>
          </p:cNvPr>
          <p:cNvSpPr/>
          <p:nvPr/>
        </p:nvSpPr>
        <p:spPr>
          <a:xfrm>
            <a:off x="590808" y="5236122"/>
            <a:ext cx="68580" cy="1024128"/>
          </a:xfrm>
          <a:prstGeom prst="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30">
            <a:extLst>
              <a:ext uri="{FF2B5EF4-FFF2-40B4-BE49-F238E27FC236}">
                <a16:creationId xmlns:a16="http://schemas.microsoft.com/office/drawing/2014/main" id="{371793F1-8C4F-20D8-4ACB-ECF835250AB2}"/>
              </a:ext>
            </a:extLst>
          </p:cNvPr>
          <p:cNvSpPr txBox="1"/>
          <p:nvPr/>
        </p:nvSpPr>
        <p:spPr>
          <a:xfrm>
            <a:off x="650243" y="4841650"/>
            <a:ext cx="9738360" cy="457200"/>
          </a:xfrm>
          <a:prstGeom prst="rect">
            <a:avLst/>
          </a:prstGeom>
          <a:noFill/>
        </p:spPr>
        <p:txBody>
          <a:bodyPr wrap="square" lIns="45720" rIns="45720">
            <a:spAutoFit/>
          </a:bodyPr>
          <a:lstStyle/>
          <a:p>
            <a:pPr>
              <a:defRPr sz="1900" b="1">
                <a:solidFill>
                  <a:srgbClr val="2E1B4C"/>
                </a:solidFill>
                <a:latin typeface="Aptos"/>
              </a:defRPr>
            </a:pPr>
            <a:r>
              <a:rPr dirty="0"/>
              <a:t>Data preparation</a:t>
            </a:r>
          </a:p>
        </p:txBody>
      </p:sp>
      <p:sp>
        <p:nvSpPr>
          <p:cNvPr id="98" name="TextBox 31">
            <a:extLst>
              <a:ext uri="{FF2B5EF4-FFF2-40B4-BE49-F238E27FC236}">
                <a16:creationId xmlns:a16="http://schemas.microsoft.com/office/drawing/2014/main" id="{C2A0D163-BD28-D2FE-4F1E-2EEAC531FDF1}"/>
              </a:ext>
            </a:extLst>
          </p:cNvPr>
          <p:cNvSpPr txBox="1"/>
          <p:nvPr/>
        </p:nvSpPr>
        <p:spPr>
          <a:xfrm>
            <a:off x="659388" y="5455798"/>
            <a:ext cx="9729215" cy="584775"/>
          </a:xfrm>
          <a:prstGeom prst="rect">
            <a:avLst/>
          </a:prstGeom>
          <a:noFill/>
        </p:spPr>
        <p:txBody>
          <a:bodyPr wrap="square" lIns="45720" rIns="45720">
            <a:spAutoFit/>
          </a:bodyPr>
          <a:lstStyle/>
          <a:p>
            <a:pPr>
              <a:defRPr sz="1600" b="0">
                <a:solidFill>
                  <a:srgbClr val="5F5B67"/>
                </a:solidFill>
                <a:latin typeface="Aptos"/>
              </a:defRPr>
            </a:pPr>
            <a:r>
              <a:rPr dirty="0"/>
              <a:t>Parse hourly delivery intervals → convert CET/CEST to UTC → align common timestamps → calculate consecutive hourly changes.</a:t>
            </a:r>
          </a:p>
        </p:txBody>
      </p:sp>
    </p:spTree>
    <p:extLst>
      <p:ext uri="{BB962C8B-B14F-4D97-AF65-F5344CB8AC3E}">
        <p14:creationId xmlns:p14="http://schemas.microsoft.com/office/powerpoint/2010/main" val="3063005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45ADEC05-46CC-69FB-29EF-AA88A064F0C1}"/>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4E6EE854-B9A2-F251-EAB7-3F0A7E528A03}"/>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DB9B1D03-AB0E-EF51-8ABA-331D664B6C1F}"/>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Minimum-variance hedging framework</a:t>
            </a:r>
          </a:p>
        </p:txBody>
      </p:sp>
      <p:sp>
        <p:nvSpPr>
          <p:cNvPr id="6" name="Google Shape;81;p3">
            <a:extLst>
              <a:ext uri="{FF2B5EF4-FFF2-40B4-BE49-F238E27FC236}">
                <a16:creationId xmlns:a16="http://schemas.microsoft.com/office/drawing/2014/main" id="{F3229688-2AD2-0033-F12F-0FF057C6D2BC}"/>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13</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1E247ACF-9CF2-2F2E-D710-E6602D09C1B5}"/>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Data &amp; Methodology</a:t>
            </a:r>
            <a:endParaRPr sz="3200" b="1" dirty="0">
              <a:solidFill>
                <a:srgbClr val="000000"/>
              </a:solidFill>
              <a:latin typeface="Open Sans"/>
              <a:ea typeface="Open Sans"/>
              <a:cs typeface="Open Sans"/>
              <a:sym typeface="Open Sans"/>
            </a:endParaRPr>
          </a:p>
        </p:txBody>
      </p:sp>
      <p:sp>
        <p:nvSpPr>
          <p:cNvPr id="3" name="TextBox 2">
            <a:extLst>
              <a:ext uri="{FF2B5EF4-FFF2-40B4-BE49-F238E27FC236}">
                <a16:creationId xmlns:a16="http://schemas.microsoft.com/office/drawing/2014/main" id="{4F6A433D-3BD6-6229-233A-D00E8E063988}"/>
              </a:ext>
            </a:extLst>
          </p:cNvPr>
          <p:cNvSpPr txBox="1"/>
          <p:nvPr/>
        </p:nvSpPr>
        <p:spPr>
          <a:xfrm>
            <a:off x="1238313" y="1944282"/>
            <a:ext cx="10789920" cy="329184"/>
          </a:xfrm>
          <a:prstGeom prst="rect">
            <a:avLst/>
          </a:prstGeom>
          <a:noFill/>
        </p:spPr>
        <p:txBody>
          <a:bodyPr wrap="square">
            <a:spAutoFit/>
          </a:bodyPr>
          <a:lstStyle/>
          <a:p>
            <a:pPr>
              <a:defRPr sz="1200" b="0">
                <a:solidFill>
                  <a:srgbClr val="5F5E67"/>
                </a:solidFill>
                <a:latin typeface="Aptos"/>
              </a:defRPr>
            </a:pPr>
            <a:r>
              <a:rPr dirty="0"/>
              <a:t>Correlations of hourly price changes motivate a cross-market proxy hedge.</a:t>
            </a:r>
          </a:p>
        </p:txBody>
      </p:sp>
      <p:pic>
        <p:nvPicPr>
          <p:cNvPr id="5" name="Picture 3" descr="03_cross_market_correlations.png">
            <a:extLst>
              <a:ext uri="{FF2B5EF4-FFF2-40B4-BE49-F238E27FC236}">
                <a16:creationId xmlns:a16="http://schemas.microsoft.com/office/drawing/2014/main" id="{BCF20DFD-4789-EEE9-3DC3-85451E62ECFC}"/>
              </a:ext>
            </a:extLst>
          </p:cNvPr>
          <p:cNvPicPr>
            <a:picLocks noChangeAspect="1"/>
          </p:cNvPicPr>
          <p:nvPr/>
        </p:nvPicPr>
        <p:blipFill>
          <a:blip r:embed="rId3"/>
          <a:stretch>
            <a:fillRect/>
          </a:stretch>
        </p:blipFill>
        <p:spPr>
          <a:xfrm>
            <a:off x="3654063" y="2549504"/>
            <a:ext cx="4555628" cy="3803463"/>
          </a:xfrm>
          <a:prstGeom prst="rect">
            <a:avLst/>
          </a:prstGeom>
        </p:spPr>
      </p:pic>
    </p:spTree>
    <p:extLst>
      <p:ext uri="{BB962C8B-B14F-4D97-AF65-F5344CB8AC3E}">
        <p14:creationId xmlns:p14="http://schemas.microsoft.com/office/powerpoint/2010/main" val="3690366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99F4A7A1-26E3-B856-A62E-4B62C5B52A76}"/>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030C5623-03D1-28FB-6727-4C3901114731}"/>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8F2B608F-A9B3-285A-35F4-F4F4DF8266E9}"/>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Minimum-variance hedging framework</a:t>
            </a:r>
          </a:p>
        </p:txBody>
      </p:sp>
      <p:sp>
        <p:nvSpPr>
          <p:cNvPr id="6" name="Google Shape;81;p3">
            <a:extLst>
              <a:ext uri="{FF2B5EF4-FFF2-40B4-BE49-F238E27FC236}">
                <a16:creationId xmlns:a16="http://schemas.microsoft.com/office/drawing/2014/main" id="{1840516D-4435-B89E-85C7-D322FE69F82B}"/>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14</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7B9872CC-39F4-5F7C-7542-39F83905ECE9}"/>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Data &amp; Methodology</a:t>
            </a:r>
            <a:endParaRPr sz="3200" b="1" dirty="0">
              <a:solidFill>
                <a:srgbClr val="000000"/>
              </a:solidFill>
              <a:latin typeface="Open Sans"/>
              <a:ea typeface="Open Sans"/>
              <a:cs typeface="Open Sans"/>
              <a:sym typeface="Open Sans"/>
            </a:endParaRPr>
          </a:p>
        </p:txBody>
      </p:sp>
      <p:sp>
        <p:nvSpPr>
          <p:cNvPr id="10" name="TextBox 4">
            <a:extLst>
              <a:ext uri="{FF2B5EF4-FFF2-40B4-BE49-F238E27FC236}">
                <a16:creationId xmlns:a16="http://schemas.microsoft.com/office/drawing/2014/main" id="{428DACA4-41DA-46A1-00E7-63311C8D9DCE}"/>
              </a:ext>
            </a:extLst>
          </p:cNvPr>
          <p:cNvSpPr txBox="1"/>
          <p:nvPr/>
        </p:nvSpPr>
        <p:spPr>
          <a:xfrm>
            <a:off x="699515" y="1976292"/>
            <a:ext cx="10789920" cy="457200"/>
          </a:xfrm>
          <a:prstGeom prst="rect">
            <a:avLst/>
          </a:prstGeom>
          <a:noFill/>
        </p:spPr>
        <p:txBody>
          <a:bodyPr wrap="square" lIns="45720" rIns="45720">
            <a:spAutoFit/>
          </a:bodyPr>
          <a:lstStyle/>
          <a:p>
            <a:pPr>
              <a:defRPr sz="1500" b="0">
                <a:solidFill>
                  <a:srgbClr val="5F5B67"/>
                </a:solidFill>
                <a:latin typeface="Aptos"/>
              </a:defRPr>
            </a:pPr>
            <a:r>
              <a:rPr dirty="0"/>
              <a:t>Four proxy hedge weights are estimated on historical hourly price changes</a:t>
            </a:r>
          </a:p>
        </p:txBody>
      </p:sp>
      <p:sp>
        <p:nvSpPr>
          <p:cNvPr id="17" name="Rounded Rectangle 10">
            <a:extLst>
              <a:ext uri="{FF2B5EF4-FFF2-40B4-BE49-F238E27FC236}">
                <a16:creationId xmlns:a16="http://schemas.microsoft.com/office/drawing/2014/main" id="{F0564ABD-953D-C2BC-E875-F94416F2F5C9}"/>
              </a:ext>
            </a:extLst>
          </p:cNvPr>
          <p:cNvSpPr/>
          <p:nvPr/>
        </p:nvSpPr>
        <p:spPr>
          <a:xfrm>
            <a:off x="836675" y="4072449"/>
            <a:ext cx="3337560" cy="1438821"/>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715CF98-AFB0-621E-C5B0-88743C4E1E42}"/>
              </a:ext>
            </a:extLst>
          </p:cNvPr>
          <p:cNvSpPr/>
          <p:nvPr/>
        </p:nvSpPr>
        <p:spPr>
          <a:xfrm>
            <a:off x="836675" y="4072449"/>
            <a:ext cx="68580" cy="1438821"/>
          </a:xfrm>
          <a:prstGeom prst="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12">
            <a:extLst>
              <a:ext uri="{FF2B5EF4-FFF2-40B4-BE49-F238E27FC236}">
                <a16:creationId xmlns:a16="http://schemas.microsoft.com/office/drawing/2014/main" id="{3397D97A-5B96-6E1F-3B18-90B3C46AC0A6}"/>
              </a:ext>
            </a:extLst>
          </p:cNvPr>
          <p:cNvSpPr txBox="1"/>
          <p:nvPr/>
        </p:nvSpPr>
        <p:spPr>
          <a:xfrm>
            <a:off x="1037843" y="4179833"/>
            <a:ext cx="2926079" cy="457200"/>
          </a:xfrm>
          <a:prstGeom prst="rect">
            <a:avLst/>
          </a:prstGeom>
          <a:noFill/>
        </p:spPr>
        <p:txBody>
          <a:bodyPr wrap="square" lIns="45720" rIns="45720">
            <a:spAutoFit/>
          </a:bodyPr>
          <a:lstStyle/>
          <a:p>
            <a:pPr>
              <a:defRPr sz="1900" b="1">
                <a:solidFill>
                  <a:srgbClr val="2E1B4C"/>
                </a:solidFill>
                <a:latin typeface="Aptos"/>
              </a:defRPr>
            </a:pPr>
            <a:r>
              <a:t>Objective</a:t>
            </a:r>
          </a:p>
        </p:txBody>
      </p:sp>
      <p:sp>
        <p:nvSpPr>
          <p:cNvPr id="23" name="TextBox 13">
            <a:extLst>
              <a:ext uri="{FF2B5EF4-FFF2-40B4-BE49-F238E27FC236}">
                <a16:creationId xmlns:a16="http://schemas.microsoft.com/office/drawing/2014/main" id="{A8F604DA-459B-DB6B-5C02-80D9AE137EEA}"/>
              </a:ext>
            </a:extLst>
          </p:cNvPr>
          <p:cNvSpPr txBox="1"/>
          <p:nvPr/>
        </p:nvSpPr>
        <p:spPr>
          <a:xfrm>
            <a:off x="1037843" y="4728474"/>
            <a:ext cx="2916936" cy="868680"/>
          </a:xfrm>
          <a:prstGeom prst="rect">
            <a:avLst/>
          </a:prstGeom>
          <a:noFill/>
        </p:spPr>
        <p:txBody>
          <a:bodyPr wrap="square" lIns="45720" rIns="45720">
            <a:spAutoFit/>
          </a:bodyPr>
          <a:lstStyle/>
          <a:p>
            <a:pPr>
              <a:defRPr sz="1600" b="0">
                <a:solidFill>
                  <a:srgbClr val="5F5B67"/>
                </a:solidFill>
                <a:latin typeface="Aptos"/>
              </a:defRPr>
            </a:pPr>
            <a:r>
              <a:t>Minimize the variance of the residual hourly price changes.</a:t>
            </a:r>
          </a:p>
        </p:txBody>
      </p:sp>
      <p:sp>
        <p:nvSpPr>
          <p:cNvPr id="25" name="Rounded Rectangle 14">
            <a:extLst>
              <a:ext uri="{FF2B5EF4-FFF2-40B4-BE49-F238E27FC236}">
                <a16:creationId xmlns:a16="http://schemas.microsoft.com/office/drawing/2014/main" id="{EFE97C6B-22AF-153F-549A-330DEF73F5E2}"/>
              </a:ext>
            </a:extLst>
          </p:cNvPr>
          <p:cNvSpPr/>
          <p:nvPr/>
        </p:nvSpPr>
        <p:spPr>
          <a:xfrm>
            <a:off x="4494275" y="4072449"/>
            <a:ext cx="3337560" cy="1438821"/>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BD4D6A3E-C74C-153B-0690-D16CB88CB2F0}"/>
              </a:ext>
            </a:extLst>
          </p:cNvPr>
          <p:cNvSpPr/>
          <p:nvPr/>
        </p:nvSpPr>
        <p:spPr>
          <a:xfrm>
            <a:off x="4494275" y="4072449"/>
            <a:ext cx="68580" cy="1438821"/>
          </a:xfrm>
          <a:prstGeom prst="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16">
            <a:extLst>
              <a:ext uri="{FF2B5EF4-FFF2-40B4-BE49-F238E27FC236}">
                <a16:creationId xmlns:a16="http://schemas.microsoft.com/office/drawing/2014/main" id="{B80A586E-1877-1180-4E27-52458FDA3A8A}"/>
              </a:ext>
            </a:extLst>
          </p:cNvPr>
          <p:cNvSpPr txBox="1"/>
          <p:nvPr/>
        </p:nvSpPr>
        <p:spPr>
          <a:xfrm>
            <a:off x="4695442" y="4179833"/>
            <a:ext cx="2926079" cy="457200"/>
          </a:xfrm>
          <a:prstGeom prst="rect">
            <a:avLst/>
          </a:prstGeom>
          <a:noFill/>
        </p:spPr>
        <p:txBody>
          <a:bodyPr wrap="square" lIns="45720" rIns="45720">
            <a:spAutoFit/>
          </a:bodyPr>
          <a:lstStyle/>
          <a:p>
            <a:pPr>
              <a:defRPr sz="1900" b="1">
                <a:solidFill>
                  <a:srgbClr val="2E1B4C"/>
                </a:solidFill>
                <a:latin typeface="Aptos"/>
              </a:defRPr>
            </a:pPr>
            <a:r>
              <a:t>Constraints</a:t>
            </a:r>
          </a:p>
        </p:txBody>
      </p:sp>
      <p:sp>
        <p:nvSpPr>
          <p:cNvPr id="31" name="TextBox 17">
            <a:extLst>
              <a:ext uri="{FF2B5EF4-FFF2-40B4-BE49-F238E27FC236}">
                <a16:creationId xmlns:a16="http://schemas.microsoft.com/office/drawing/2014/main" id="{7F3B9FDC-D2CF-6CFF-F7F9-C2E1CBF410C1}"/>
              </a:ext>
            </a:extLst>
          </p:cNvPr>
          <p:cNvSpPr txBox="1"/>
          <p:nvPr/>
        </p:nvSpPr>
        <p:spPr>
          <a:xfrm>
            <a:off x="4712211" y="4741264"/>
            <a:ext cx="2916936" cy="868680"/>
          </a:xfrm>
          <a:prstGeom prst="rect">
            <a:avLst/>
          </a:prstGeom>
          <a:noFill/>
        </p:spPr>
        <p:txBody>
          <a:bodyPr wrap="square" lIns="45720" rIns="45720">
            <a:spAutoFit/>
          </a:bodyPr>
          <a:lstStyle/>
          <a:p>
            <a:pPr>
              <a:defRPr sz="1600" b="0">
                <a:solidFill>
                  <a:srgbClr val="5F5B67"/>
                </a:solidFill>
                <a:latin typeface="Aptos"/>
              </a:defRPr>
            </a:pPr>
            <a:r>
              <a:t>0 ≤ each weight ≤ 1; total weight ≤ 1.</a:t>
            </a:r>
          </a:p>
        </p:txBody>
      </p:sp>
      <p:sp>
        <p:nvSpPr>
          <p:cNvPr id="65" name="Rounded Rectangle 18">
            <a:extLst>
              <a:ext uri="{FF2B5EF4-FFF2-40B4-BE49-F238E27FC236}">
                <a16:creationId xmlns:a16="http://schemas.microsoft.com/office/drawing/2014/main" id="{1C00CD3B-AFA4-7424-D1AD-EE4F9DC48376}"/>
              </a:ext>
            </a:extLst>
          </p:cNvPr>
          <p:cNvSpPr/>
          <p:nvPr/>
        </p:nvSpPr>
        <p:spPr>
          <a:xfrm>
            <a:off x="8151875" y="4072449"/>
            <a:ext cx="3337560" cy="1438821"/>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a:extLst>
              <a:ext uri="{FF2B5EF4-FFF2-40B4-BE49-F238E27FC236}">
                <a16:creationId xmlns:a16="http://schemas.microsoft.com/office/drawing/2014/main" id="{14DFD31F-453F-3E29-753B-915169E81506}"/>
              </a:ext>
            </a:extLst>
          </p:cNvPr>
          <p:cNvSpPr/>
          <p:nvPr/>
        </p:nvSpPr>
        <p:spPr>
          <a:xfrm>
            <a:off x="8151875" y="4072449"/>
            <a:ext cx="68580" cy="1438821"/>
          </a:xfrm>
          <a:prstGeom prst="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20">
            <a:extLst>
              <a:ext uri="{FF2B5EF4-FFF2-40B4-BE49-F238E27FC236}">
                <a16:creationId xmlns:a16="http://schemas.microsoft.com/office/drawing/2014/main" id="{2497054B-B54F-DD98-2131-2BEE315A9B89}"/>
              </a:ext>
            </a:extLst>
          </p:cNvPr>
          <p:cNvSpPr txBox="1"/>
          <p:nvPr/>
        </p:nvSpPr>
        <p:spPr>
          <a:xfrm>
            <a:off x="8353043" y="4179833"/>
            <a:ext cx="2926079" cy="457200"/>
          </a:xfrm>
          <a:prstGeom prst="rect">
            <a:avLst/>
          </a:prstGeom>
          <a:noFill/>
        </p:spPr>
        <p:txBody>
          <a:bodyPr wrap="square" lIns="45720" rIns="45720">
            <a:spAutoFit/>
          </a:bodyPr>
          <a:lstStyle/>
          <a:p>
            <a:pPr>
              <a:defRPr sz="1900" b="1">
                <a:solidFill>
                  <a:srgbClr val="2E1B4C"/>
                </a:solidFill>
                <a:latin typeface="Aptos"/>
              </a:defRPr>
            </a:pPr>
            <a:r>
              <a:rPr dirty="0"/>
              <a:t>Estimation</a:t>
            </a:r>
          </a:p>
        </p:txBody>
      </p:sp>
      <p:sp>
        <p:nvSpPr>
          <p:cNvPr id="71" name="TextBox 21">
            <a:extLst>
              <a:ext uri="{FF2B5EF4-FFF2-40B4-BE49-F238E27FC236}">
                <a16:creationId xmlns:a16="http://schemas.microsoft.com/office/drawing/2014/main" id="{3194267E-3A88-C3FA-99EC-0AEEFD79BD79}"/>
              </a:ext>
            </a:extLst>
          </p:cNvPr>
          <p:cNvSpPr txBox="1"/>
          <p:nvPr/>
        </p:nvSpPr>
        <p:spPr>
          <a:xfrm>
            <a:off x="8353043" y="4728474"/>
            <a:ext cx="2916936" cy="868680"/>
          </a:xfrm>
          <a:prstGeom prst="rect">
            <a:avLst/>
          </a:prstGeom>
          <a:noFill/>
        </p:spPr>
        <p:txBody>
          <a:bodyPr wrap="square" lIns="45720" rIns="45720">
            <a:spAutoFit/>
          </a:bodyPr>
          <a:lstStyle/>
          <a:p>
            <a:pPr>
              <a:defRPr sz="1600" b="0">
                <a:solidFill>
                  <a:srgbClr val="5F5B67"/>
                </a:solidFill>
                <a:latin typeface="Aptos"/>
              </a:defRPr>
            </a:pPr>
            <a:r>
              <a:t>SciPy SLSQP; chronological 70% train / 30% test.</a:t>
            </a:r>
          </a:p>
        </p:txBody>
      </p:sp>
      <p:sp>
        <p:nvSpPr>
          <p:cNvPr id="73" name="TextBox 22">
            <a:extLst>
              <a:ext uri="{FF2B5EF4-FFF2-40B4-BE49-F238E27FC236}">
                <a16:creationId xmlns:a16="http://schemas.microsoft.com/office/drawing/2014/main" id="{3E27A6CD-153D-964E-7EB5-08113D23F284}"/>
              </a:ext>
            </a:extLst>
          </p:cNvPr>
          <p:cNvSpPr txBox="1"/>
          <p:nvPr/>
        </p:nvSpPr>
        <p:spPr>
          <a:xfrm>
            <a:off x="385922" y="6170970"/>
            <a:ext cx="2921507" cy="261610"/>
          </a:xfrm>
          <a:prstGeom prst="rect">
            <a:avLst/>
          </a:prstGeom>
          <a:noFill/>
        </p:spPr>
        <p:txBody>
          <a:bodyPr wrap="square" lIns="45720" rIns="45720">
            <a:spAutoFit/>
          </a:bodyPr>
          <a:lstStyle/>
          <a:p>
            <a:pPr algn="ctr">
              <a:defRPr sz="1500" b="0">
                <a:solidFill>
                  <a:srgbClr val="5F5B67"/>
                </a:solidFill>
                <a:latin typeface="Aptos"/>
              </a:defRPr>
            </a:pPr>
            <a:r>
              <a:rPr lang="fr-FR" sz="1100" dirty="0"/>
              <a:t>*</a:t>
            </a:r>
            <a:r>
              <a:rPr sz="1100" dirty="0"/>
              <a:t>Only spot prices are used</a:t>
            </a:r>
          </a:p>
        </p:txBody>
      </p:sp>
      <p:pic>
        <p:nvPicPr>
          <p:cNvPr id="75" name="Image 74">
            <a:extLst>
              <a:ext uri="{FF2B5EF4-FFF2-40B4-BE49-F238E27FC236}">
                <a16:creationId xmlns:a16="http://schemas.microsoft.com/office/drawing/2014/main" id="{21A9831D-FC4F-FCFE-F00B-151F7CBEEE70}"/>
              </a:ext>
            </a:extLst>
          </p:cNvPr>
          <p:cNvPicPr>
            <a:picLocks noChangeAspect="1"/>
          </p:cNvPicPr>
          <p:nvPr/>
        </p:nvPicPr>
        <p:blipFill>
          <a:blip r:embed="rId3"/>
          <a:stretch>
            <a:fillRect/>
          </a:stretch>
        </p:blipFill>
        <p:spPr>
          <a:xfrm>
            <a:off x="2199579" y="2531445"/>
            <a:ext cx="4872855" cy="677347"/>
          </a:xfrm>
          <a:prstGeom prst="rect">
            <a:avLst/>
          </a:prstGeom>
        </p:spPr>
      </p:pic>
      <p:pic>
        <p:nvPicPr>
          <p:cNvPr id="79" name="Image 78">
            <a:extLst>
              <a:ext uri="{FF2B5EF4-FFF2-40B4-BE49-F238E27FC236}">
                <a16:creationId xmlns:a16="http://schemas.microsoft.com/office/drawing/2014/main" id="{FCB5646A-87C4-5C79-1FD2-47F319FD7E6F}"/>
              </a:ext>
            </a:extLst>
          </p:cNvPr>
          <p:cNvPicPr>
            <a:picLocks noChangeAspect="1"/>
          </p:cNvPicPr>
          <p:nvPr/>
        </p:nvPicPr>
        <p:blipFill>
          <a:blip r:embed="rId4"/>
          <a:stretch>
            <a:fillRect/>
          </a:stretch>
        </p:blipFill>
        <p:spPr>
          <a:xfrm>
            <a:off x="7353183" y="2316953"/>
            <a:ext cx="3192686" cy="796843"/>
          </a:xfrm>
          <a:prstGeom prst="rect">
            <a:avLst/>
          </a:prstGeom>
        </p:spPr>
      </p:pic>
      <p:pic>
        <p:nvPicPr>
          <p:cNvPr id="83" name="Image 82">
            <a:extLst>
              <a:ext uri="{FF2B5EF4-FFF2-40B4-BE49-F238E27FC236}">
                <a16:creationId xmlns:a16="http://schemas.microsoft.com/office/drawing/2014/main" id="{7235EFA0-E99D-9DE0-0757-5B16721C724C}"/>
              </a:ext>
            </a:extLst>
          </p:cNvPr>
          <p:cNvPicPr>
            <a:picLocks noChangeAspect="1"/>
          </p:cNvPicPr>
          <p:nvPr/>
        </p:nvPicPr>
        <p:blipFill>
          <a:blip r:embed="rId5"/>
          <a:stretch>
            <a:fillRect/>
          </a:stretch>
        </p:blipFill>
        <p:spPr>
          <a:xfrm>
            <a:off x="941000" y="5511270"/>
            <a:ext cx="2912336" cy="659700"/>
          </a:xfrm>
          <a:prstGeom prst="rect">
            <a:avLst/>
          </a:prstGeom>
        </p:spPr>
      </p:pic>
    </p:spTree>
    <p:extLst>
      <p:ext uri="{BB962C8B-B14F-4D97-AF65-F5344CB8AC3E}">
        <p14:creationId xmlns:p14="http://schemas.microsoft.com/office/powerpoint/2010/main" val="3730039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AF831977-9C1E-5A63-2DED-3486016B3E97}"/>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C57B4545-11BF-366F-136B-D6C45B1E1217}"/>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45DBB239-B46F-6D09-E1FC-73E08154ACB2}"/>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Beyond volatility: why optimize CVaR?</a:t>
            </a:r>
          </a:p>
        </p:txBody>
      </p:sp>
      <p:sp>
        <p:nvSpPr>
          <p:cNvPr id="6" name="Google Shape;81;p3">
            <a:extLst>
              <a:ext uri="{FF2B5EF4-FFF2-40B4-BE49-F238E27FC236}">
                <a16:creationId xmlns:a16="http://schemas.microsoft.com/office/drawing/2014/main" id="{34A0962B-89B8-271E-0A23-4BF735B6A7D6}"/>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15</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22424501-B08D-2155-3219-4C4E12BD37E0}"/>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Data &amp; Methodology</a:t>
            </a:r>
            <a:endParaRPr sz="3200" b="1" dirty="0">
              <a:solidFill>
                <a:srgbClr val="000000"/>
              </a:solidFill>
              <a:latin typeface="Open Sans"/>
              <a:ea typeface="Open Sans"/>
              <a:cs typeface="Open Sans"/>
              <a:sym typeface="Open Sans"/>
            </a:endParaRPr>
          </a:p>
        </p:txBody>
      </p:sp>
      <p:sp>
        <p:nvSpPr>
          <p:cNvPr id="85" name="TextBox 4">
            <a:extLst>
              <a:ext uri="{FF2B5EF4-FFF2-40B4-BE49-F238E27FC236}">
                <a16:creationId xmlns:a16="http://schemas.microsoft.com/office/drawing/2014/main" id="{31779D49-A588-6F4D-8895-65A5F89FCE6E}"/>
              </a:ext>
            </a:extLst>
          </p:cNvPr>
          <p:cNvSpPr txBox="1"/>
          <p:nvPr/>
        </p:nvSpPr>
        <p:spPr>
          <a:xfrm>
            <a:off x="848633" y="1980253"/>
            <a:ext cx="10972800" cy="457200"/>
          </a:xfrm>
          <a:prstGeom prst="rect">
            <a:avLst/>
          </a:prstGeom>
          <a:noFill/>
        </p:spPr>
        <p:txBody>
          <a:bodyPr wrap="square">
            <a:spAutoFit/>
          </a:bodyPr>
          <a:lstStyle/>
          <a:p>
            <a:pPr>
              <a:defRPr sz="1500" b="0">
                <a:solidFill>
                  <a:srgbClr val="65646B"/>
                </a:solidFill>
              </a:defRPr>
            </a:pPr>
            <a:r>
              <a:rPr dirty="0"/>
              <a:t>The company also wants protection against unusually large upward price changes</a:t>
            </a:r>
          </a:p>
        </p:txBody>
      </p:sp>
      <p:sp>
        <p:nvSpPr>
          <p:cNvPr id="87" name="Rounded Rectangle 7">
            <a:extLst>
              <a:ext uri="{FF2B5EF4-FFF2-40B4-BE49-F238E27FC236}">
                <a16:creationId xmlns:a16="http://schemas.microsoft.com/office/drawing/2014/main" id="{09174F7E-6392-A7DA-0342-991B53AC79BA}"/>
              </a:ext>
            </a:extLst>
          </p:cNvPr>
          <p:cNvSpPr/>
          <p:nvPr/>
        </p:nvSpPr>
        <p:spPr>
          <a:xfrm>
            <a:off x="53692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
            <a:extLst>
              <a:ext uri="{FF2B5EF4-FFF2-40B4-BE49-F238E27FC236}">
                <a16:creationId xmlns:a16="http://schemas.microsoft.com/office/drawing/2014/main" id="{286A48A7-1740-8DBB-A54F-8F798AFF9BB5}"/>
              </a:ext>
            </a:extLst>
          </p:cNvPr>
          <p:cNvSpPr/>
          <p:nvPr/>
        </p:nvSpPr>
        <p:spPr>
          <a:xfrm>
            <a:off x="620620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
            <a:extLst>
              <a:ext uri="{FF2B5EF4-FFF2-40B4-BE49-F238E27FC236}">
                <a16:creationId xmlns:a16="http://schemas.microsoft.com/office/drawing/2014/main" id="{6C7D85C8-6F39-F566-79AA-7B2B24D95503}"/>
              </a:ext>
            </a:extLst>
          </p:cNvPr>
          <p:cNvSpPr txBox="1"/>
          <p:nvPr/>
        </p:nvSpPr>
        <p:spPr>
          <a:xfrm>
            <a:off x="856960" y="2863668"/>
            <a:ext cx="4754880" cy="502920"/>
          </a:xfrm>
          <a:prstGeom prst="rect">
            <a:avLst/>
          </a:prstGeom>
          <a:noFill/>
        </p:spPr>
        <p:txBody>
          <a:bodyPr wrap="square">
            <a:spAutoFit/>
          </a:bodyPr>
          <a:lstStyle/>
          <a:p>
            <a:pPr>
              <a:defRPr sz="1900" b="1">
                <a:solidFill>
                  <a:srgbClr val="4D287D"/>
                </a:solidFill>
              </a:defRPr>
            </a:pPr>
            <a:r>
              <a:t>MINIMUM VARIANCE</a:t>
            </a:r>
          </a:p>
        </p:txBody>
      </p:sp>
      <p:sp>
        <p:nvSpPr>
          <p:cNvPr id="93" name="TextBox 10">
            <a:extLst>
              <a:ext uri="{FF2B5EF4-FFF2-40B4-BE49-F238E27FC236}">
                <a16:creationId xmlns:a16="http://schemas.microsoft.com/office/drawing/2014/main" id="{F61D6299-2AF9-6F1B-2641-2E6B381ECB87}"/>
              </a:ext>
            </a:extLst>
          </p:cNvPr>
          <p:cNvSpPr txBox="1"/>
          <p:nvPr/>
        </p:nvSpPr>
        <p:spPr>
          <a:xfrm>
            <a:off x="856960" y="3567756"/>
            <a:ext cx="4617720" cy="1737360"/>
          </a:xfrm>
          <a:prstGeom prst="rect">
            <a:avLst/>
          </a:prstGeom>
          <a:noFill/>
        </p:spPr>
        <p:txBody>
          <a:bodyPr wrap="square">
            <a:spAutoFit/>
          </a:bodyPr>
          <a:lstStyle/>
          <a:p>
            <a:pPr>
              <a:defRPr sz="1800" b="0">
                <a:solidFill>
                  <a:srgbClr val="25193D"/>
                </a:solidFill>
              </a:defRPr>
            </a:pPr>
            <a:r>
              <a:t>Minimize the dispersion of residual hourly price changes.</a:t>
            </a:r>
          </a:p>
          <a:p>
            <a:pPr>
              <a:defRPr sz="1800" b="0">
                <a:solidFill>
                  <a:srgbClr val="25193D"/>
                </a:solidFill>
              </a:defRPr>
            </a:pPr>
            <a:endParaRPr/>
          </a:p>
          <a:p>
            <a:pPr>
              <a:defRPr sz="1800" b="0">
                <a:solidFill>
                  <a:srgbClr val="25193D"/>
                </a:solidFill>
              </a:defRPr>
            </a:pPr>
            <a:r>
              <a:t>Focus: overall volatility.</a:t>
            </a:r>
          </a:p>
        </p:txBody>
      </p:sp>
      <p:sp>
        <p:nvSpPr>
          <p:cNvPr id="95" name="TextBox 11">
            <a:extLst>
              <a:ext uri="{FF2B5EF4-FFF2-40B4-BE49-F238E27FC236}">
                <a16:creationId xmlns:a16="http://schemas.microsoft.com/office/drawing/2014/main" id="{D5147D46-EE02-097F-D9C1-6D1C173CFD4E}"/>
              </a:ext>
            </a:extLst>
          </p:cNvPr>
          <p:cNvSpPr txBox="1"/>
          <p:nvPr/>
        </p:nvSpPr>
        <p:spPr>
          <a:xfrm>
            <a:off x="6526240" y="2863668"/>
            <a:ext cx="4663440" cy="502920"/>
          </a:xfrm>
          <a:prstGeom prst="rect">
            <a:avLst/>
          </a:prstGeom>
          <a:noFill/>
        </p:spPr>
        <p:txBody>
          <a:bodyPr wrap="square">
            <a:spAutoFit/>
          </a:bodyPr>
          <a:lstStyle/>
          <a:p>
            <a:pPr>
              <a:defRPr sz="1900" b="1">
                <a:solidFill>
                  <a:srgbClr val="4D287D"/>
                </a:solidFill>
              </a:defRPr>
            </a:pPr>
            <a:r>
              <a:t>MINIMUM CVaR</a:t>
            </a:r>
          </a:p>
        </p:txBody>
      </p:sp>
      <p:sp>
        <p:nvSpPr>
          <p:cNvPr id="97" name="TextBox 12">
            <a:extLst>
              <a:ext uri="{FF2B5EF4-FFF2-40B4-BE49-F238E27FC236}">
                <a16:creationId xmlns:a16="http://schemas.microsoft.com/office/drawing/2014/main" id="{2F8D8F61-7275-60E8-8C55-51E8A8A824FE}"/>
              </a:ext>
            </a:extLst>
          </p:cNvPr>
          <p:cNvSpPr txBox="1"/>
          <p:nvPr/>
        </p:nvSpPr>
        <p:spPr>
          <a:xfrm>
            <a:off x="6526240" y="3723064"/>
            <a:ext cx="4663440" cy="2011680"/>
          </a:xfrm>
          <a:prstGeom prst="rect">
            <a:avLst/>
          </a:prstGeom>
          <a:noFill/>
        </p:spPr>
        <p:txBody>
          <a:bodyPr wrap="square">
            <a:spAutoFit/>
          </a:bodyPr>
          <a:lstStyle/>
          <a:p>
            <a:pPr>
              <a:defRPr sz="1800" b="0">
                <a:solidFill>
                  <a:srgbClr val="25193D"/>
                </a:solidFill>
              </a:defRPr>
            </a:pPr>
            <a:r>
              <a:rPr dirty="0"/>
              <a:t>Minimize the average residual price increase in the worst 5% or 1% of scenarios.</a:t>
            </a:r>
          </a:p>
          <a:p>
            <a:pPr>
              <a:defRPr sz="1800" b="0">
                <a:solidFill>
                  <a:srgbClr val="25193D"/>
                </a:solidFill>
              </a:defRPr>
            </a:pPr>
            <a:endParaRPr dirty="0"/>
          </a:p>
          <a:p>
            <a:pPr>
              <a:defRPr sz="1800" b="0">
                <a:solidFill>
                  <a:srgbClr val="25193D"/>
                </a:solidFill>
              </a:defRPr>
            </a:pPr>
            <a:r>
              <a:rPr dirty="0"/>
              <a:t>Focus: adverse upper-tail outcomes.</a:t>
            </a:r>
          </a:p>
        </p:txBody>
      </p:sp>
      <p:sp>
        <p:nvSpPr>
          <p:cNvPr id="99" name="TextBox 13">
            <a:extLst>
              <a:ext uri="{FF2B5EF4-FFF2-40B4-BE49-F238E27FC236}">
                <a16:creationId xmlns:a16="http://schemas.microsoft.com/office/drawing/2014/main" id="{383E5BF0-260A-D28C-24AE-F833AE3421A3}"/>
              </a:ext>
            </a:extLst>
          </p:cNvPr>
          <p:cNvSpPr txBox="1"/>
          <p:nvPr/>
        </p:nvSpPr>
        <p:spPr>
          <a:xfrm>
            <a:off x="674080" y="6246948"/>
            <a:ext cx="10881360" cy="365760"/>
          </a:xfrm>
          <a:prstGeom prst="rect">
            <a:avLst/>
          </a:prstGeom>
          <a:noFill/>
        </p:spPr>
        <p:txBody>
          <a:bodyPr wrap="square">
            <a:spAutoFit/>
          </a:bodyPr>
          <a:lstStyle/>
          <a:p>
            <a:pPr>
              <a:defRPr sz="1400" b="0">
                <a:solidFill>
                  <a:srgbClr val="65646B"/>
                </a:solidFill>
              </a:defRPr>
            </a:pPr>
            <a:r>
              <a:t>Both methods use the same constraints: 0 ≤ each weight ≤ 1 and total weights ≤ 1.</a:t>
            </a:r>
          </a:p>
        </p:txBody>
      </p:sp>
      <p:pic>
        <p:nvPicPr>
          <p:cNvPr id="101" name="Image 100">
            <a:extLst>
              <a:ext uri="{FF2B5EF4-FFF2-40B4-BE49-F238E27FC236}">
                <a16:creationId xmlns:a16="http://schemas.microsoft.com/office/drawing/2014/main" id="{A25F6711-DBAF-215B-CF15-06F942C6CB1F}"/>
              </a:ext>
            </a:extLst>
          </p:cNvPr>
          <p:cNvPicPr>
            <a:picLocks noChangeAspect="1"/>
          </p:cNvPicPr>
          <p:nvPr/>
        </p:nvPicPr>
        <p:blipFill>
          <a:blip r:embed="rId3"/>
          <a:stretch>
            <a:fillRect/>
          </a:stretch>
        </p:blipFill>
        <p:spPr>
          <a:xfrm>
            <a:off x="7097587" y="4954542"/>
            <a:ext cx="3520745" cy="624894"/>
          </a:xfrm>
          <a:prstGeom prst="rect">
            <a:avLst/>
          </a:prstGeom>
        </p:spPr>
      </p:pic>
      <p:pic>
        <p:nvPicPr>
          <p:cNvPr id="103" name="Image 102">
            <a:extLst>
              <a:ext uri="{FF2B5EF4-FFF2-40B4-BE49-F238E27FC236}">
                <a16:creationId xmlns:a16="http://schemas.microsoft.com/office/drawing/2014/main" id="{9D7B2075-ACF5-51CB-0895-90BB2EE02093}"/>
              </a:ext>
            </a:extLst>
          </p:cNvPr>
          <p:cNvPicPr>
            <a:picLocks noChangeAspect="1"/>
          </p:cNvPicPr>
          <p:nvPr/>
        </p:nvPicPr>
        <p:blipFill>
          <a:blip r:embed="rId4"/>
          <a:stretch>
            <a:fillRect/>
          </a:stretch>
        </p:blipFill>
        <p:spPr>
          <a:xfrm>
            <a:off x="7276672" y="3276875"/>
            <a:ext cx="3162574" cy="358171"/>
          </a:xfrm>
          <a:prstGeom prst="rect">
            <a:avLst/>
          </a:prstGeom>
        </p:spPr>
      </p:pic>
    </p:spTree>
    <p:extLst>
      <p:ext uri="{BB962C8B-B14F-4D97-AF65-F5344CB8AC3E}">
        <p14:creationId xmlns:p14="http://schemas.microsoft.com/office/powerpoint/2010/main" val="3771964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942E2CCD-C650-9E77-70E8-1FCAA6B21325}"/>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5E753FC5-5525-6A5D-02FB-5AD17B927B2E}"/>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156577CD-CBEE-A78A-2302-4D8695ED313F}"/>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Beyond volatility: why optimize CVaR?</a:t>
            </a:r>
          </a:p>
        </p:txBody>
      </p:sp>
      <p:sp>
        <p:nvSpPr>
          <p:cNvPr id="6" name="Google Shape;81;p3">
            <a:extLst>
              <a:ext uri="{FF2B5EF4-FFF2-40B4-BE49-F238E27FC236}">
                <a16:creationId xmlns:a16="http://schemas.microsoft.com/office/drawing/2014/main" id="{B09ECDBD-582C-CD96-06E5-7410E2075817}"/>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16</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5B466725-1A14-0947-424B-5E98FA90F79C}"/>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Data &amp; Methodology</a:t>
            </a:r>
            <a:endParaRPr sz="3200" b="1" dirty="0">
              <a:solidFill>
                <a:srgbClr val="000000"/>
              </a:solidFill>
              <a:latin typeface="Open Sans"/>
              <a:ea typeface="Open Sans"/>
              <a:cs typeface="Open Sans"/>
              <a:sym typeface="Open Sans"/>
            </a:endParaRPr>
          </a:p>
        </p:txBody>
      </p:sp>
      <p:sp>
        <p:nvSpPr>
          <p:cNvPr id="85" name="TextBox 4">
            <a:extLst>
              <a:ext uri="{FF2B5EF4-FFF2-40B4-BE49-F238E27FC236}">
                <a16:creationId xmlns:a16="http://schemas.microsoft.com/office/drawing/2014/main" id="{A9820199-0676-B3AD-E8E0-FA159CFB4901}"/>
              </a:ext>
            </a:extLst>
          </p:cNvPr>
          <p:cNvSpPr txBox="1"/>
          <p:nvPr/>
        </p:nvSpPr>
        <p:spPr>
          <a:xfrm>
            <a:off x="848633" y="1980253"/>
            <a:ext cx="10972800" cy="457200"/>
          </a:xfrm>
          <a:prstGeom prst="rect">
            <a:avLst/>
          </a:prstGeom>
          <a:noFill/>
        </p:spPr>
        <p:txBody>
          <a:bodyPr wrap="square">
            <a:spAutoFit/>
          </a:bodyPr>
          <a:lstStyle/>
          <a:p>
            <a:pPr>
              <a:defRPr sz="1500" b="0">
                <a:solidFill>
                  <a:srgbClr val="65646B"/>
                </a:solidFill>
              </a:defRPr>
            </a:pPr>
            <a:r>
              <a:rPr dirty="0"/>
              <a:t>The company also wants protection against unusually large upward price changes</a:t>
            </a:r>
          </a:p>
        </p:txBody>
      </p:sp>
      <p:sp>
        <p:nvSpPr>
          <p:cNvPr id="87" name="Rounded Rectangle 7">
            <a:extLst>
              <a:ext uri="{FF2B5EF4-FFF2-40B4-BE49-F238E27FC236}">
                <a16:creationId xmlns:a16="http://schemas.microsoft.com/office/drawing/2014/main" id="{EE7F3590-AE13-AE8E-2728-0F9FBE7852C3}"/>
              </a:ext>
            </a:extLst>
          </p:cNvPr>
          <p:cNvSpPr/>
          <p:nvPr/>
        </p:nvSpPr>
        <p:spPr>
          <a:xfrm>
            <a:off x="53692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
            <a:extLst>
              <a:ext uri="{FF2B5EF4-FFF2-40B4-BE49-F238E27FC236}">
                <a16:creationId xmlns:a16="http://schemas.microsoft.com/office/drawing/2014/main" id="{68C944BB-D0A9-DA84-8384-59E8F99FBFE0}"/>
              </a:ext>
            </a:extLst>
          </p:cNvPr>
          <p:cNvSpPr/>
          <p:nvPr/>
        </p:nvSpPr>
        <p:spPr>
          <a:xfrm>
            <a:off x="620620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11">
            <a:extLst>
              <a:ext uri="{FF2B5EF4-FFF2-40B4-BE49-F238E27FC236}">
                <a16:creationId xmlns:a16="http://schemas.microsoft.com/office/drawing/2014/main" id="{42847104-6D41-9DB9-9226-D819C435A0F3}"/>
              </a:ext>
            </a:extLst>
          </p:cNvPr>
          <p:cNvSpPr txBox="1"/>
          <p:nvPr/>
        </p:nvSpPr>
        <p:spPr>
          <a:xfrm>
            <a:off x="852271" y="2863668"/>
            <a:ext cx="4663440" cy="502920"/>
          </a:xfrm>
          <a:prstGeom prst="rect">
            <a:avLst/>
          </a:prstGeom>
          <a:noFill/>
        </p:spPr>
        <p:txBody>
          <a:bodyPr wrap="square">
            <a:spAutoFit/>
          </a:bodyPr>
          <a:lstStyle/>
          <a:p>
            <a:pPr>
              <a:defRPr sz="1900" b="1">
                <a:solidFill>
                  <a:srgbClr val="4D287D"/>
                </a:solidFill>
              </a:defRPr>
            </a:pPr>
            <a:r>
              <a:t>MINIMUM CVaR</a:t>
            </a:r>
          </a:p>
        </p:txBody>
      </p:sp>
      <p:sp>
        <p:nvSpPr>
          <p:cNvPr id="97" name="TextBox 12">
            <a:extLst>
              <a:ext uri="{FF2B5EF4-FFF2-40B4-BE49-F238E27FC236}">
                <a16:creationId xmlns:a16="http://schemas.microsoft.com/office/drawing/2014/main" id="{07D7232E-6786-8C46-07C6-CA3253947B9C}"/>
              </a:ext>
            </a:extLst>
          </p:cNvPr>
          <p:cNvSpPr txBox="1"/>
          <p:nvPr/>
        </p:nvSpPr>
        <p:spPr>
          <a:xfrm>
            <a:off x="852271" y="3567756"/>
            <a:ext cx="4663440" cy="2011680"/>
          </a:xfrm>
          <a:prstGeom prst="rect">
            <a:avLst/>
          </a:prstGeom>
          <a:noFill/>
        </p:spPr>
        <p:txBody>
          <a:bodyPr wrap="square">
            <a:spAutoFit/>
          </a:bodyPr>
          <a:lstStyle/>
          <a:p>
            <a:pPr>
              <a:defRPr sz="1800" b="0">
                <a:solidFill>
                  <a:srgbClr val="25193D"/>
                </a:solidFill>
              </a:defRPr>
            </a:pPr>
            <a:r>
              <a:t>Minimize the average residual price increase in the worst 5% or 1% of scenarios.</a:t>
            </a:r>
          </a:p>
          <a:p>
            <a:pPr>
              <a:defRPr sz="1800" b="0">
                <a:solidFill>
                  <a:srgbClr val="25193D"/>
                </a:solidFill>
              </a:defRPr>
            </a:pPr>
            <a:endParaRPr/>
          </a:p>
          <a:p>
            <a:pPr>
              <a:defRPr sz="1800" b="0">
                <a:solidFill>
                  <a:srgbClr val="25193D"/>
                </a:solidFill>
              </a:defRPr>
            </a:pPr>
            <a:r>
              <a:t>Focus: adverse upper-tail outcomes.</a:t>
            </a:r>
          </a:p>
        </p:txBody>
      </p:sp>
      <p:sp>
        <p:nvSpPr>
          <p:cNvPr id="99" name="TextBox 13">
            <a:extLst>
              <a:ext uri="{FF2B5EF4-FFF2-40B4-BE49-F238E27FC236}">
                <a16:creationId xmlns:a16="http://schemas.microsoft.com/office/drawing/2014/main" id="{8BB93DD2-4932-DDA9-1E0F-323135997079}"/>
              </a:ext>
            </a:extLst>
          </p:cNvPr>
          <p:cNvSpPr txBox="1"/>
          <p:nvPr/>
        </p:nvSpPr>
        <p:spPr>
          <a:xfrm>
            <a:off x="674080" y="6246948"/>
            <a:ext cx="10881360" cy="365760"/>
          </a:xfrm>
          <a:prstGeom prst="rect">
            <a:avLst/>
          </a:prstGeom>
          <a:noFill/>
        </p:spPr>
        <p:txBody>
          <a:bodyPr wrap="square">
            <a:spAutoFit/>
          </a:bodyPr>
          <a:lstStyle/>
          <a:p>
            <a:pPr>
              <a:defRPr sz="1400" b="0">
                <a:solidFill>
                  <a:srgbClr val="65646B"/>
                </a:solidFill>
              </a:defRPr>
            </a:pPr>
            <a:r>
              <a:t>Both methods use the same constraints: 0 ≤ each weight ≤ 1 and total weights ≤ 1.</a:t>
            </a:r>
          </a:p>
        </p:txBody>
      </p:sp>
      <p:pic>
        <p:nvPicPr>
          <p:cNvPr id="101" name="Image 100">
            <a:extLst>
              <a:ext uri="{FF2B5EF4-FFF2-40B4-BE49-F238E27FC236}">
                <a16:creationId xmlns:a16="http://schemas.microsoft.com/office/drawing/2014/main" id="{F54823A8-B9E2-0312-74B6-727C1843B791}"/>
              </a:ext>
            </a:extLst>
          </p:cNvPr>
          <p:cNvPicPr>
            <a:picLocks noChangeAspect="1"/>
          </p:cNvPicPr>
          <p:nvPr/>
        </p:nvPicPr>
        <p:blipFill>
          <a:blip r:embed="rId3"/>
          <a:stretch>
            <a:fillRect/>
          </a:stretch>
        </p:blipFill>
        <p:spPr>
          <a:xfrm>
            <a:off x="1423618" y="4954542"/>
            <a:ext cx="3520745" cy="624894"/>
          </a:xfrm>
          <a:prstGeom prst="rect">
            <a:avLst/>
          </a:prstGeom>
        </p:spPr>
      </p:pic>
      <p:pic>
        <p:nvPicPr>
          <p:cNvPr id="3" name="Image 2">
            <a:extLst>
              <a:ext uri="{FF2B5EF4-FFF2-40B4-BE49-F238E27FC236}">
                <a16:creationId xmlns:a16="http://schemas.microsoft.com/office/drawing/2014/main" id="{AA80A651-A7E1-8D9A-809E-FA4E93D87E33}"/>
              </a:ext>
            </a:extLst>
          </p:cNvPr>
          <p:cNvPicPr>
            <a:picLocks noChangeAspect="1"/>
          </p:cNvPicPr>
          <p:nvPr/>
        </p:nvPicPr>
        <p:blipFill>
          <a:blip r:embed="rId4"/>
          <a:stretch>
            <a:fillRect/>
          </a:stretch>
        </p:blipFill>
        <p:spPr>
          <a:xfrm>
            <a:off x="6335033" y="3073023"/>
            <a:ext cx="5096818" cy="2324490"/>
          </a:xfrm>
          <a:prstGeom prst="rect">
            <a:avLst/>
          </a:prstGeom>
        </p:spPr>
      </p:pic>
    </p:spTree>
    <p:extLst>
      <p:ext uri="{BB962C8B-B14F-4D97-AF65-F5344CB8AC3E}">
        <p14:creationId xmlns:p14="http://schemas.microsoft.com/office/powerpoint/2010/main" val="3704707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CD363B6-1849-8BA2-9280-C8EB6B20269C}"/>
            </a:ext>
          </a:extLst>
        </p:cNvPr>
        <p:cNvGrpSpPr/>
        <p:nvPr/>
      </p:nvGrpSpPr>
      <p:grpSpPr>
        <a:xfrm>
          <a:off x="0" y="0"/>
          <a:ext cx="0" cy="0"/>
          <a:chOff x="0" y="0"/>
          <a:chExt cx="0" cy="0"/>
        </a:xfrm>
      </p:grpSpPr>
      <p:sp>
        <p:nvSpPr>
          <p:cNvPr id="78" name="Google Shape;78;p3">
            <a:extLst>
              <a:ext uri="{FF2B5EF4-FFF2-40B4-BE49-F238E27FC236}">
                <a16:creationId xmlns:a16="http://schemas.microsoft.com/office/drawing/2014/main" id="{ECB6D5C9-0058-70EF-5F1D-587CAC476DAE}"/>
              </a:ext>
            </a:extLst>
          </p:cNvPr>
          <p:cNvSpPr/>
          <p:nvPr/>
        </p:nvSpPr>
        <p:spPr>
          <a:xfrm>
            <a:off x="1879833" y="2069200"/>
            <a:ext cx="8542800" cy="2719600"/>
          </a:xfrm>
          <a:prstGeom prst="rect">
            <a:avLst/>
          </a:prstGeom>
          <a:solidFill>
            <a:srgbClr val="073763"/>
          </a:solidFill>
          <a:ln>
            <a:noFill/>
          </a:ln>
          <a:effectLst>
            <a:outerShdw blurRad="57150" dist="28575" dir="5400000" algn="bl" rotWithShape="0">
              <a:srgbClr val="000000">
                <a:alpha val="29409"/>
              </a:srgbClr>
            </a:outerShdw>
          </a:effectLst>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79" name="Google Shape;79;p3">
            <a:extLst>
              <a:ext uri="{FF2B5EF4-FFF2-40B4-BE49-F238E27FC236}">
                <a16:creationId xmlns:a16="http://schemas.microsoft.com/office/drawing/2014/main" id="{DEFE17F2-44DF-FD3B-017E-33DBB9E4715C}"/>
              </a:ext>
            </a:extLst>
          </p:cNvPr>
          <p:cNvSpPr txBox="1">
            <a:spLocks noGrp="1"/>
          </p:cNvSpPr>
          <p:nvPr>
            <p:ph type="ctrTitle"/>
          </p:nvPr>
        </p:nvSpPr>
        <p:spPr>
          <a:xfrm>
            <a:off x="2215633" y="2794384"/>
            <a:ext cx="5580213" cy="1269200"/>
          </a:xfrm>
          <a:prstGeom prst="rect">
            <a:avLst/>
          </a:prstGeom>
          <a:noFill/>
          <a:ln>
            <a:noFill/>
          </a:ln>
          <a:effectLst>
            <a:outerShdw blurRad="57150" dist="19050" dir="5400000" algn="bl" rotWithShape="0">
              <a:srgbClr val="000000">
                <a:alpha val="49411"/>
              </a:srgbClr>
            </a:outerShdw>
          </a:effectLst>
        </p:spPr>
        <p:txBody>
          <a:bodyPr spcFirstLastPara="1" wrap="square" lIns="121900" tIns="121900" rIns="121900" bIns="121900" anchor="ctr" anchorCtr="0">
            <a:noAutofit/>
          </a:bodyPr>
          <a:lstStyle/>
          <a:p>
            <a:r>
              <a:rPr lang="fr" sz="2800" b="1" dirty="0">
                <a:solidFill>
                  <a:schemeClr val="lt1"/>
                </a:solidFill>
                <a:latin typeface="Open Sans"/>
                <a:ea typeface="Open Sans"/>
                <a:cs typeface="Open Sans"/>
                <a:sym typeface="Open Sans"/>
              </a:rPr>
              <a:t>Empirical Results</a:t>
            </a:r>
            <a:endParaRPr sz="2800" b="1" dirty="0">
              <a:solidFill>
                <a:schemeClr val="lt1"/>
              </a:solidFill>
              <a:latin typeface="Open Sans"/>
              <a:ea typeface="Open Sans"/>
              <a:cs typeface="Open Sans"/>
              <a:sym typeface="Open Sans"/>
            </a:endParaRPr>
          </a:p>
        </p:txBody>
      </p:sp>
      <p:pic>
        <p:nvPicPr>
          <p:cNvPr id="80" name="Google Shape;80;p3" title="point-dinterrogation-sur-un-fond-noir-circulaire.png">
            <a:extLst>
              <a:ext uri="{FF2B5EF4-FFF2-40B4-BE49-F238E27FC236}">
                <a16:creationId xmlns:a16="http://schemas.microsoft.com/office/drawing/2014/main" id="{B22C2419-6C9C-B8B9-90DD-BB2610F8BAAF}"/>
              </a:ext>
            </a:extLst>
          </p:cNvPr>
          <p:cNvPicPr preferRelativeResize="0"/>
          <p:nvPr/>
        </p:nvPicPr>
        <p:blipFill rotWithShape="1">
          <a:blip r:embed="rId3">
            <a:alphaModFix/>
            <a:lum bright="70000" contrast="-70000"/>
          </a:blip>
          <a:srcRect/>
          <a:stretch/>
        </p:blipFill>
        <p:spPr>
          <a:xfrm>
            <a:off x="2306868" y="2901185"/>
            <a:ext cx="1055633" cy="1055633"/>
          </a:xfrm>
          <a:prstGeom prst="rect">
            <a:avLst/>
          </a:prstGeom>
          <a:noFill/>
          <a:ln>
            <a:noFill/>
          </a:ln>
        </p:spPr>
      </p:pic>
      <p:sp>
        <p:nvSpPr>
          <p:cNvPr id="81" name="Google Shape;81;p3">
            <a:extLst>
              <a:ext uri="{FF2B5EF4-FFF2-40B4-BE49-F238E27FC236}">
                <a16:creationId xmlns:a16="http://schemas.microsoft.com/office/drawing/2014/main" id="{7CACB9AF-1D95-CB7C-B8C4-DB09B9D8420C}"/>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17</a:t>
            </a:fld>
            <a:endParaRPr>
              <a:solidFill>
                <a:schemeClr val="lt1"/>
              </a:solidFill>
              <a:latin typeface="Arial"/>
              <a:ea typeface="Arial"/>
              <a:cs typeface="Arial"/>
              <a:sym typeface="Arial"/>
            </a:endParaRPr>
          </a:p>
        </p:txBody>
      </p:sp>
    </p:spTree>
    <p:extLst>
      <p:ext uri="{BB962C8B-B14F-4D97-AF65-F5344CB8AC3E}">
        <p14:creationId xmlns:p14="http://schemas.microsoft.com/office/powerpoint/2010/main" val="2024537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8AD5CF80-8ACD-565A-B039-2B24E0BBA962}"/>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C35C98C8-D244-7D9B-79C3-12AA48ACAA27}"/>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E27EF448-9A38-064B-DFBF-FB6C031A4313}"/>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Different risk objectives lead to different allocations</a:t>
            </a:r>
          </a:p>
        </p:txBody>
      </p:sp>
      <p:sp>
        <p:nvSpPr>
          <p:cNvPr id="6" name="Google Shape;81;p3">
            <a:extLst>
              <a:ext uri="{FF2B5EF4-FFF2-40B4-BE49-F238E27FC236}">
                <a16:creationId xmlns:a16="http://schemas.microsoft.com/office/drawing/2014/main" id="{69CE473E-7E4A-6A9A-D4D2-84D65CB7C6F7}"/>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18</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EDB29C94-0C6A-449D-BF83-C55CB78C0842}"/>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Empirical Results</a:t>
            </a:r>
            <a:endParaRPr sz="3200" b="1" dirty="0">
              <a:solidFill>
                <a:srgbClr val="000000"/>
              </a:solidFill>
              <a:latin typeface="Open Sans"/>
              <a:ea typeface="Open Sans"/>
              <a:cs typeface="Open Sans"/>
              <a:sym typeface="Open Sans"/>
            </a:endParaRPr>
          </a:p>
        </p:txBody>
      </p:sp>
      <p:sp>
        <p:nvSpPr>
          <p:cNvPr id="87" name="Rounded Rectangle 7">
            <a:extLst>
              <a:ext uri="{FF2B5EF4-FFF2-40B4-BE49-F238E27FC236}">
                <a16:creationId xmlns:a16="http://schemas.microsoft.com/office/drawing/2014/main" id="{647A0C2D-1938-FC40-A56C-018B41F6064D}"/>
              </a:ext>
            </a:extLst>
          </p:cNvPr>
          <p:cNvSpPr/>
          <p:nvPr/>
        </p:nvSpPr>
        <p:spPr>
          <a:xfrm>
            <a:off x="53692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
            <a:extLst>
              <a:ext uri="{FF2B5EF4-FFF2-40B4-BE49-F238E27FC236}">
                <a16:creationId xmlns:a16="http://schemas.microsoft.com/office/drawing/2014/main" id="{65F261C3-D829-8E2B-C553-83E41551CC8E}"/>
              </a:ext>
            </a:extLst>
          </p:cNvPr>
          <p:cNvSpPr txBox="1"/>
          <p:nvPr/>
        </p:nvSpPr>
        <p:spPr>
          <a:xfrm>
            <a:off x="910848" y="1895604"/>
            <a:ext cx="10789920" cy="329184"/>
          </a:xfrm>
          <a:prstGeom prst="rect">
            <a:avLst/>
          </a:prstGeom>
          <a:noFill/>
        </p:spPr>
        <p:txBody>
          <a:bodyPr wrap="square">
            <a:spAutoFit/>
          </a:bodyPr>
          <a:lstStyle/>
          <a:p>
            <a:pPr>
              <a:defRPr sz="1200" b="0">
                <a:solidFill>
                  <a:srgbClr val="5F5E67"/>
                </a:solidFill>
                <a:latin typeface="Aptos"/>
              </a:defRPr>
            </a:pPr>
            <a:r>
              <a:t>Minimum variance, CVaR 95% and CVaR 99% shift exposure between DE and DK2.</a:t>
            </a:r>
          </a:p>
        </p:txBody>
      </p:sp>
      <p:pic>
        <p:nvPicPr>
          <p:cNvPr id="9" name="Picture 3" descr="04_optimal_hedge_weights.png">
            <a:extLst>
              <a:ext uri="{FF2B5EF4-FFF2-40B4-BE49-F238E27FC236}">
                <a16:creationId xmlns:a16="http://schemas.microsoft.com/office/drawing/2014/main" id="{BCBEAF00-49CA-A5CE-B464-F1DF54CBCCBD}"/>
              </a:ext>
            </a:extLst>
          </p:cNvPr>
          <p:cNvPicPr>
            <a:picLocks noChangeAspect="1"/>
          </p:cNvPicPr>
          <p:nvPr/>
        </p:nvPicPr>
        <p:blipFill>
          <a:blip r:embed="rId3"/>
          <a:stretch>
            <a:fillRect/>
          </a:stretch>
        </p:blipFill>
        <p:spPr>
          <a:xfrm>
            <a:off x="1948378" y="2622593"/>
            <a:ext cx="8711295" cy="3730374"/>
          </a:xfrm>
          <a:prstGeom prst="rect">
            <a:avLst/>
          </a:prstGeom>
        </p:spPr>
      </p:pic>
    </p:spTree>
    <p:extLst>
      <p:ext uri="{BB962C8B-B14F-4D97-AF65-F5344CB8AC3E}">
        <p14:creationId xmlns:p14="http://schemas.microsoft.com/office/powerpoint/2010/main" val="41665788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9C0CA0AB-8832-38CD-02DF-CE95901BFDDB}"/>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05D3A696-A1D2-EC87-224C-56F14A564EBA}"/>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E9742AEC-0ED0-3716-F098-44DF5CE5DDA1}"/>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The hedged distribution is much narrower</a:t>
            </a:r>
          </a:p>
        </p:txBody>
      </p:sp>
      <p:sp>
        <p:nvSpPr>
          <p:cNvPr id="6" name="Google Shape;81;p3">
            <a:extLst>
              <a:ext uri="{FF2B5EF4-FFF2-40B4-BE49-F238E27FC236}">
                <a16:creationId xmlns:a16="http://schemas.microsoft.com/office/drawing/2014/main" id="{2BF2362D-7CD2-4C2E-2ADD-8C3012AFCA46}"/>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19</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60FBE7F6-4722-C7C3-C098-10CD3789BD1E}"/>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Empirical Results</a:t>
            </a:r>
            <a:endParaRPr sz="3200" b="1" dirty="0">
              <a:solidFill>
                <a:srgbClr val="000000"/>
              </a:solidFill>
              <a:latin typeface="Open Sans"/>
              <a:ea typeface="Open Sans"/>
              <a:cs typeface="Open Sans"/>
              <a:sym typeface="Open Sans"/>
            </a:endParaRPr>
          </a:p>
        </p:txBody>
      </p:sp>
      <p:sp>
        <p:nvSpPr>
          <p:cNvPr id="87" name="Rounded Rectangle 7">
            <a:extLst>
              <a:ext uri="{FF2B5EF4-FFF2-40B4-BE49-F238E27FC236}">
                <a16:creationId xmlns:a16="http://schemas.microsoft.com/office/drawing/2014/main" id="{B6FDCCEA-8D46-F253-5E23-E354F1135852}"/>
              </a:ext>
            </a:extLst>
          </p:cNvPr>
          <p:cNvSpPr/>
          <p:nvPr/>
        </p:nvSpPr>
        <p:spPr>
          <a:xfrm>
            <a:off x="53692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AF0F10F-431A-9B7C-250E-5B0E3689FDE6}"/>
              </a:ext>
            </a:extLst>
          </p:cNvPr>
          <p:cNvSpPr txBox="1"/>
          <p:nvPr/>
        </p:nvSpPr>
        <p:spPr>
          <a:xfrm>
            <a:off x="880193" y="1892886"/>
            <a:ext cx="10789920" cy="329184"/>
          </a:xfrm>
          <a:prstGeom prst="rect">
            <a:avLst/>
          </a:prstGeom>
          <a:noFill/>
        </p:spPr>
        <p:txBody>
          <a:bodyPr wrap="square">
            <a:spAutoFit/>
          </a:bodyPr>
          <a:lstStyle/>
          <a:p>
            <a:pPr>
              <a:defRPr sz="1200" b="0">
                <a:solidFill>
                  <a:srgbClr val="5F5E67"/>
                </a:solidFill>
                <a:latin typeface="Aptos"/>
              </a:defRPr>
            </a:pPr>
            <a:r>
              <a:t>Out-of-sample residual price changes show less dispersion than unhedged DK1.</a:t>
            </a:r>
          </a:p>
        </p:txBody>
      </p:sp>
      <p:pic>
        <p:nvPicPr>
          <p:cNvPr id="5" name="Picture 3" descr="05_before_after_distribution.png">
            <a:extLst>
              <a:ext uri="{FF2B5EF4-FFF2-40B4-BE49-F238E27FC236}">
                <a16:creationId xmlns:a16="http://schemas.microsoft.com/office/drawing/2014/main" id="{3501E710-629A-31AD-5250-B36D4871BBC9}"/>
              </a:ext>
            </a:extLst>
          </p:cNvPr>
          <p:cNvPicPr>
            <a:picLocks noChangeAspect="1"/>
          </p:cNvPicPr>
          <p:nvPr/>
        </p:nvPicPr>
        <p:blipFill>
          <a:blip r:embed="rId3"/>
          <a:stretch>
            <a:fillRect/>
          </a:stretch>
        </p:blipFill>
        <p:spPr>
          <a:xfrm>
            <a:off x="1703771" y="2644509"/>
            <a:ext cx="8273338" cy="3708458"/>
          </a:xfrm>
          <a:prstGeom prst="rect">
            <a:avLst/>
          </a:prstGeom>
        </p:spPr>
      </p:pic>
    </p:spTree>
    <p:extLst>
      <p:ext uri="{BB962C8B-B14F-4D97-AF65-F5344CB8AC3E}">
        <p14:creationId xmlns:p14="http://schemas.microsoft.com/office/powerpoint/2010/main" val="3419915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6CBB18CB-35CA-4A1C-D579-0593A5DFE83F}"/>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4AA4DF42-A7EA-035D-A16A-3CA1FB702EE6}"/>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62835499-5E4F-5806-D5C3-91C7AA9EDFB2}"/>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Tail-risk protection is strong across all three hedges</a:t>
            </a:r>
          </a:p>
        </p:txBody>
      </p:sp>
      <p:sp>
        <p:nvSpPr>
          <p:cNvPr id="6" name="Google Shape;81;p3">
            <a:extLst>
              <a:ext uri="{FF2B5EF4-FFF2-40B4-BE49-F238E27FC236}">
                <a16:creationId xmlns:a16="http://schemas.microsoft.com/office/drawing/2014/main" id="{9AD05B7A-7364-A3C5-ED69-4E7F0AE68767}"/>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20</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0317AF5F-DA9F-18D4-893D-BBA42BCB9F7B}"/>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Empirical Results</a:t>
            </a:r>
            <a:endParaRPr sz="3200" b="1" dirty="0">
              <a:solidFill>
                <a:srgbClr val="000000"/>
              </a:solidFill>
              <a:latin typeface="Open Sans"/>
              <a:ea typeface="Open Sans"/>
              <a:cs typeface="Open Sans"/>
              <a:sym typeface="Open Sans"/>
            </a:endParaRPr>
          </a:p>
        </p:txBody>
      </p:sp>
      <p:sp>
        <p:nvSpPr>
          <p:cNvPr id="87" name="Rounded Rectangle 7">
            <a:extLst>
              <a:ext uri="{FF2B5EF4-FFF2-40B4-BE49-F238E27FC236}">
                <a16:creationId xmlns:a16="http://schemas.microsoft.com/office/drawing/2014/main" id="{169D789F-8473-9228-159C-752A8E454E5C}"/>
              </a:ext>
            </a:extLst>
          </p:cNvPr>
          <p:cNvSpPr/>
          <p:nvPr/>
        </p:nvSpPr>
        <p:spPr>
          <a:xfrm>
            <a:off x="53692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1E90D127-C935-F702-0B20-03AC8822812A}"/>
              </a:ext>
            </a:extLst>
          </p:cNvPr>
          <p:cNvSpPr txBox="1"/>
          <p:nvPr/>
        </p:nvSpPr>
        <p:spPr>
          <a:xfrm>
            <a:off x="865160" y="1944282"/>
            <a:ext cx="10789920" cy="329184"/>
          </a:xfrm>
          <a:prstGeom prst="rect">
            <a:avLst/>
          </a:prstGeom>
          <a:noFill/>
        </p:spPr>
        <p:txBody>
          <a:bodyPr wrap="square">
            <a:spAutoFit/>
          </a:bodyPr>
          <a:lstStyle/>
          <a:p>
            <a:pPr>
              <a:defRPr sz="1200" b="0">
                <a:solidFill>
                  <a:srgbClr val="5F5E67"/>
                </a:solidFill>
                <a:latin typeface="Aptos"/>
              </a:defRPr>
            </a:pPr>
            <a:r>
              <a:t>CVaR 95% has a slight edge at 95%, while minimum variance is lowest at 99%.</a:t>
            </a:r>
          </a:p>
        </p:txBody>
      </p:sp>
      <p:pic>
        <p:nvPicPr>
          <p:cNvPr id="8" name="Picture 3" descr="06_cvar_risk_comparison.png">
            <a:extLst>
              <a:ext uri="{FF2B5EF4-FFF2-40B4-BE49-F238E27FC236}">
                <a16:creationId xmlns:a16="http://schemas.microsoft.com/office/drawing/2014/main" id="{D63788F4-047B-65D0-8634-DE6581AA42B7}"/>
              </a:ext>
            </a:extLst>
          </p:cNvPr>
          <p:cNvPicPr>
            <a:picLocks noChangeAspect="1"/>
          </p:cNvPicPr>
          <p:nvPr/>
        </p:nvPicPr>
        <p:blipFill>
          <a:blip r:embed="rId3"/>
          <a:stretch>
            <a:fillRect/>
          </a:stretch>
        </p:blipFill>
        <p:spPr>
          <a:xfrm>
            <a:off x="1912621" y="2551436"/>
            <a:ext cx="8462694" cy="4173497"/>
          </a:xfrm>
          <a:prstGeom prst="rect">
            <a:avLst/>
          </a:prstGeom>
        </p:spPr>
      </p:pic>
    </p:spTree>
    <p:extLst>
      <p:ext uri="{BB962C8B-B14F-4D97-AF65-F5344CB8AC3E}">
        <p14:creationId xmlns:p14="http://schemas.microsoft.com/office/powerpoint/2010/main" val="1058020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61086D42-4A2A-002B-298E-AC50D1FEE65D}"/>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6784DEAF-2037-929C-BED1-975E83345D1D}"/>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B272AB24-585B-3FCA-8591-1465BCA7B120}"/>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Tail-risk protection is strong across all three hedges</a:t>
            </a:r>
          </a:p>
        </p:txBody>
      </p:sp>
      <p:sp>
        <p:nvSpPr>
          <p:cNvPr id="6" name="Google Shape;81;p3">
            <a:extLst>
              <a:ext uri="{FF2B5EF4-FFF2-40B4-BE49-F238E27FC236}">
                <a16:creationId xmlns:a16="http://schemas.microsoft.com/office/drawing/2014/main" id="{669CD0D1-888B-2915-A419-DF753BC5F25A}"/>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21</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20C8E481-4723-1738-01CC-F07EFB79A791}"/>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Empirical Results</a:t>
            </a:r>
            <a:endParaRPr sz="3200" b="1" dirty="0">
              <a:solidFill>
                <a:srgbClr val="000000"/>
              </a:solidFill>
              <a:latin typeface="Open Sans"/>
              <a:ea typeface="Open Sans"/>
              <a:cs typeface="Open Sans"/>
              <a:sym typeface="Open Sans"/>
            </a:endParaRPr>
          </a:p>
        </p:txBody>
      </p:sp>
      <p:sp>
        <p:nvSpPr>
          <p:cNvPr id="87" name="Rounded Rectangle 7">
            <a:extLst>
              <a:ext uri="{FF2B5EF4-FFF2-40B4-BE49-F238E27FC236}">
                <a16:creationId xmlns:a16="http://schemas.microsoft.com/office/drawing/2014/main" id="{C413A0B1-39AC-21FE-2A6E-A043E8A85853}"/>
              </a:ext>
            </a:extLst>
          </p:cNvPr>
          <p:cNvSpPr/>
          <p:nvPr/>
        </p:nvSpPr>
        <p:spPr>
          <a:xfrm>
            <a:off x="536920" y="2497908"/>
            <a:ext cx="5303520" cy="347472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68B87B8B-E5B9-33A2-4BA1-F57280C84E3F}"/>
              </a:ext>
            </a:extLst>
          </p:cNvPr>
          <p:cNvSpPr txBox="1"/>
          <p:nvPr/>
        </p:nvSpPr>
        <p:spPr>
          <a:xfrm>
            <a:off x="865160" y="1944282"/>
            <a:ext cx="10789920" cy="329184"/>
          </a:xfrm>
          <a:prstGeom prst="rect">
            <a:avLst/>
          </a:prstGeom>
          <a:noFill/>
        </p:spPr>
        <p:txBody>
          <a:bodyPr wrap="square">
            <a:spAutoFit/>
          </a:bodyPr>
          <a:lstStyle/>
          <a:p>
            <a:pPr>
              <a:defRPr sz="1200" b="0">
                <a:solidFill>
                  <a:srgbClr val="5F5E67"/>
                </a:solidFill>
                <a:latin typeface="Aptos"/>
              </a:defRPr>
            </a:pPr>
            <a:r>
              <a:t>CVaR 95% has a slight edge at 95%, while minimum variance is lowest at 99%.</a:t>
            </a:r>
          </a:p>
        </p:txBody>
      </p:sp>
      <p:pic>
        <p:nvPicPr>
          <p:cNvPr id="8" name="Picture 3" descr="06_cvar_risk_comparison.png">
            <a:extLst>
              <a:ext uri="{FF2B5EF4-FFF2-40B4-BE49-F238E27FC236}">
                <a16:creationId xmlns:a16="http://schemas.microsoft.com/office/drawing/2014/main" id="{B5E6BB76-194B-B924-B592-7027A8F857A1}"/>
              </a:ext>
            </a:extLst>
          </p:cNvPr>
          <p:cNvPicPr>
            <a:picLocks noChangeAspect="1"/>
          </p:cNvPicPr>
          <p:nvPr/>
        </p:nvPicPr>
        <p:blipFill>
          <a:blip r:embed="rId3"/>
          <a:stretch>
            <a:fillRect/>
          </a:stretch>
        </p:blipFill>
        <p:spPr>
          <a:xfrm>
            <a:off x="1912621" y="2551436"/>
            <a:ext cx="8462694" cy="4173497"/>
          </a:xfrm>
          <a:prstGeom prst="rect">
            <a:avLst/>
          </a:prstGeom>
        </p:spPr>
      </p:pic>
    </p:spTree>
    <p:extLst>
      <p:ext uri="{BB962C8B-B14F-4D97-AF65-F5344CB8AC3E}">
        <p14:creationId xmlns:p14="http://schemas.microsoft.com/office/powerpoint/2010/main" val="2978125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AD73C2CB-7586-101C-F828-5CF8DF4221FB}"/>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852817F1-FCA0-F2B9-A2AC-EAFC45D23E6A}"/>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78" name="Google Shape;78;g3b83c7c63cf_0_48">
            <a:extLst>
              <a:ext uri="{FF2B5EF4-FFF2-40B4-BE49-F238E27FC236}">
                <a16:creationId xmlns:a16="http://schemas.microsoft.com/office/drawing/2014/main" id="{2072673D-0DFE-81B0-7348-66E1EB6476AF}"/>
              </a:ext>
            </a:extLst>
          </p:cNvPr>
          <p:cNvSpPr/>
          <p:nvPr/>
        </p:nvSpPr>
        <p:spPr>
          <a:xfrm>
            <a:off x="941000" y="1123256"/>
            <a:ext cx="10310000" cy="654400"/>
          </a:xfrm>
          <a:prstGeom prst="rect">
            <a:avLst/>
          </a:prstGeom>
          <a:solidFill>
            <a:schemeClr val="accent1">
              <a:lumMod val="50000"/>
            </a:schemeClr>
          </a:solidFill>
          <a:ln>
            <a:noFill/>
          </a:ln>
          <a:effectLst>
            <a:outerShdw blurRad="57150" dist="19050" dir="5400000" algn="bl" rotWithShape="0">
              <a:srgbClr val="000000">
                <a:alpha val="49019"/>
              </a:srgbClr>
            </a:outerShdw>
          </a:effectLst>
        </p:spPr>
        <p:txBody>
          <a:bodyPr spcFirstLastPara="1" wrap="square" lIns="121900" tIns="121900" rIns="121900" bIns="121900" anchor="ctr" anchorCtr="0">
            <a:noAutofit/>
          </a:bodyPr>
          <a:lstStyle/>
          <a:p>
            <a:pPr algn="ctr">
              <a:buClr>
                <a:srgbClr val="000000"/>
              </a:buClr>
              <a:buSzPts val="1100"/>
            </a:pPr>
            <a:r>
              <a:rPr lang="en-US" sz="2400" b="1" dirty="0">
                <a:solidFill>
                  <a:schemeClr val="lt1"/>
                </a:solidFill>
                <a:latin typeface="Open Sans"/>
                <a:ea typeface="Open Sans"/>
                <a:cs typeface="Open Sans"/>
                <a:sym typeface="Open Sans"/>
              </a:rPr>
              <a:t>What did we actually find?</a:t>
            </a:r>
          </a:p>
        </p:txBody>
      </p:sp>
      <p:sp>
        <p:nvSpPr>
          <p:cNvPr id="6" name="Google Shape;81;p3">
            <a:extLst>
              <a:ext uri="{FF2B5EF4-FFF2-40B4-BE49-F238E27FC236}">
                <a16:creationId xmlns:a16="http://schemas.microsoft.com/office/drawing/2014/main" id="{EA5BED7A-EF54-54A4-8A05-2F952A134BE7}"/>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22</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AE8A8C34-D16C-7A66-4B8F-5DF3C52ED05C}"/>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Empirical Results</a:t>
            </a:r>
            <a:endParaRPr sz="3200" b="1" dirty="0">
              <a:solidFill>
                <a:srgbClr val="000000"/>
              </a:solidFill>
              <a:latin typeface="Open Sans"/>
              <a:ea typeface="Open Sans"/>
              <a:cs typeface="Open Sans"/>
              <a:sym typeface="Open Sans"/>
            </a:endParaRPr>
          </a:p>
        </p:txBody>
      </p:sp>
      <p:sp>
        <p:nvSpPr>
          <p:cNvPr id="3" name="TextBox 4">
            <a:extLst>
              <a:ext uri="{FF2B5EF4-FFF2-40B4-BE49-F238E27FC236}">
                <a16:creationId xmlns:a16="http://schemas.microsoft.com/office/drawing/2014/main" id="{F1AB375A-14CC-1D9D-A346-1B9BE52969B8}"/>
              </a:ext>
            </a:extLst>
          </p:cNvPr>
          <p:cNvSpPr txBox="1"/>
          <p:nvPr/>
        </p:nvSpPr>
        <p:spPr>
          <a:xfrm>
            <a:off x="910848" y="2015119"/>
            <a:ext cx="10789920" cy="457200"/>
          </a:xfrm>
          <a:prstGeom prst="rect">
            <a:avLst/>
          </a:prstGeom>
          <a:noFill/>
        </p:spPr>
        <p:txBody>
          <a:bodyPr wrap="square" lIns="45720" rIns="45720">
            <a:spAutoFit/>
          </a:bodyPr>
          <a:lstStyle/>
          <a:p>
            <a:r>
              <a:t>The same historical data tells a clear story about DK1 price risk</a:t>
            </a:r>
          </a:p>
        </p:txBody>
      </p:sp>
      <p:sp>
        <p:nvSpPr>
          <p:cNvPr id="7" name="Rounded Rectangle 8">
            <a:extLst>
              <a:ext uri="{FF2B5EF4-FFF2-40B4-BE49-F238E27FC236}">
                <a16:creationId xmlns:a16="http://schemas.microsoft.com/office/drawing/2014/main" id="{434B6825-F399-0935-0C33-61CBA8036F54}"/>
              </a:ext>
            </a:extLst>
          </p:cNvPr>
          <p:cNvSpPr/>
          <p:nvPr/>
        </p:nvSpPr>
        <p:spPr>
          <a:xfrm>
            <a:off x="1121160" y="2700919"/>
            <a:ext cx="5074920" cy="315468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6D52891E-4F6A-87B0-9182-F6EF8A404E56}"/>
              </a:ext>
            </a:extLst>
          </p:cNvPr>
          <p:cNvSpPr/>
          <p:nvPr/>
        </p:nvSpPr>
        <p:spPr>
          <a:xfrm>
            <a:off x="1121160" y="2700919"/>
            <a:ext cx="68580" cy="3154680"/>
          </a:xfrm>
          <a:prstGeom prst="rect">
            <a:avLst/>
          </a:prstGeom>
          <a:solidFill>
            <a:srgbClr val="318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0">
            <a:extLst>
              <a:ext uri="{FF2B5EF4-FFF2-40B4-BE49-F238E27FC236}">
                <a16:creationId xmlns:a16="http://schemas.microsoft.com/office/drawing/2014/main" id="{ACBF6E11-F7EC-C184-6EA7-9933162337EF}"/>
              </a:ext>
            </a:extLst>
          </p:cNvPr>
          <p:cNvSpPr txBox="1"/>
          <p:nvPr/>
        </p:nvSpPr>
        <p:spPr>
          <a:xfrm>
            <a:off x="1322328" y="2902087"/>
            <a:ext cx="4663440" cy="457200"/>
          </a:xfrm>
          <a:prstGeom prst="rect">
            <a:avLst/>
          </a:prstGeom>
          <a:noFill/>
        </p:spPr>
        <p:txBody>
          <a:bodyPr wrap="square" lIns="45720" rIns="45720">
            <a:spAutoFit/>
          </a:bodyPr>
          <a:lstStyle/>
          <a:p>
            <a:r>
              <a:t>The main result</a:t>
            </a:r>
          </a:p>
        </p:txBody>
      </p:sp>
      <p:sp>
        <p:nvSpPr>
          <p:cNvPr id="15" name="TextBox 11">
            <a:extLst>
              <a:ext uri="{FF2B5EF4-FFF2-40B4-BE49-F238E27FC236}">
                <a16:creationId xmlns:a16="http://schemas.microsoft.com/office/drawing/2014/main" id="{52D2C48E-36B6-9298-EA8F-7E2AA2BAADA4}"/>
              </a:ext>
            </a:extLst>
          </p:cNvPr>
          <p:cNvSpPr txBox="1"/>
          <p:nvPr/>
        </p:nvSpPr>
        <p:spPr>
          <a:xfrm>
            <a:off x="1322328" y="3450727"/>
            <a:ext cx="4654296" cy="2286000"/>
          </a:xfrm>
          <a:prstGeom prst="rect">
            <a:avLst/>
          </a:prstGeom>
          <a:noFill/>
        </p:spPr>
        <p:txBody>
          <a:bodyPr wrap="square" lIns="45720" rIns="45720">
            <a:spAutoFit/>
          </a:bodyPr>
          <a:lstStyle/>
          <a:p>
            <a:r>
              <a:t>On our common test sample, minimum variance reduces the variance of hourly DK1 price changes by about 85.4%. The other optimized strategies also sharply reduce tail risk.</a:t>
            </a:r>
          </a:p>
        </p:txBody>
      </p:sp>
      <p:sp>
        <p:nvSpPr>
          <p:cNvPr id="17" name="Rounded Rectangle 12">
            <a:extLst>
              <a:ext uri="{FF2B5EF4-FFF2-40B4-BE49-F238E27FC236}">
                <a16:creationId xmlns:a16="http://schemas.microsoft.com/office/drawing/2014/main" id="{3AB33734-DB9C-D963-5051-97105A656286}"/>
              </a:ext>
            </a:extLst>
          </p:cNvPr>
          <p:cNvSpPr/>
          <p:nvPr/>
        </p:nvSpPr>
        <p:spPr>
          <a:xfrm>
            <a:off x="6570984" y="2700919"/>
            <a:ext cx="5074920" cy="315468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CB0C9CC3-B104-0DFE-A4C1-D350696862F6}"/>
              </a:ext>
            </a:extLst>
          </p:cNvPr>
          <p:cNvSpPr/>
          <p:nvPr/>
        </p:nvSpPr>
        <p:spPr>
          <a:xfrm>
            <a:off x="6570984" y="2700919"/>
            <a:ext cx="68580" cy="3154680"/>
          </a:xfrm>
          <a:prstGeom prst="rect">
            <a:avLst/>
          </a:prstGeom>
          <a:solidFill>
            <a:srgbClr val="C49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14">
            <a:extLst>
              <a:ext uri="{FF2B5EF4-FFF2-40B4-BE49-F238E27FC236}">
                <a16:creationId xmlns:a16="http://schemas.microsoft.com/office/drawing/2014/main" id="{BEEF38FC-E6DA-3360-10DD-FC445A187CF2}"/>
              </a:ext>
            </a:extLst>
          </p:cNvPr>
          <p:cNvSpPr txBox="1"/>
          <p:nvPr/>
        </p:nvSpPr>
        <p:spPr>
          <a:xfrm>
            <a:off x="6772152" y="2902087"/>
            <a:ext cx="4663440" cy="457200"/>
          </a:xfrm>
          <a:prstGeom prst="rect">
            <a:avLst/>
          </a:prstGeom>
          <a:noFill/>
        </p:spPr>
        <p:txBody>
          <a:bodyPr wrap="square" lIns="45720" rIns="45720">
            <a:spAutoFit/>
          </a:bodyPr>
          <a:lstStyle/>
          <a:p>
            <a:r>
              <a:t>The interesting surprise</a:t>
            </a:r>
          </a:p>
        </p:txBody>
      </p:sp>
      <p:sp>
        <p:nvSpPr>
          <p:cNvPr id="23" name="TextBox 15">
            <a:extLst>
              <a:ext uri="{FF2B5EF4-FFF2-40B4-BE49-F238E27FC236}">
                <a16:creationId xmlns:a16="http://schemas.microsoft.com/office/drawing/2014/main" id="{8DED7915-7CD9-9671-6DF5-A6DD547BC60B}"/>
              </a:ext>
            </a:extLst>
          </p:cNvPr>
          <p:cNvSpPr txBox="1"/>
          <p:nvPr/>
        </p:nvSpPr>
        <p:spPr>
          <a:xfrm>
            <a:off x="6772152" y="3450727"/>
            <a:ext cx="4654296" cy="2286000"/>
          </a:xfrm>
          <a:prstGeom prst="rect">
            <a:avLst/>
          </a:prstGeom>
          <a:noFill/>
        </p:spPr>
        <p:txBody>
          <a:bodyPr wrap="square" lIns="45720" rIns="45720">
            <a:spAutoFit/>
          </a:bodyPr>
          <a:lstStyle/>
          <a:p>
            <a:r>
              <a:t>CVaR 95% has the lowest observed 95% tail risk, but only by 0.072 EUR/MWh versus minimum variance. At the 99% level, minimum variance performs slightly better.</a:t>
            </a:r>
          </a:p>
        </p:txBody>
      </p:sp>
      <p:sp>
        <p:nvSpPr>
          <p:cNvPr id="25" name="TextBox 16">
            <a:extLst>
              <a:ext uri="{FF2B5EF4-FFF2-40B4-BE49-F238E27FC236}">
                <a16:creationId xmlns:a16="http://schemas.microsoft.com/office/drawing/2014/main" id="{D96407B5-4FC9-5B56-37DB-DE3F817D600C}"/>
              </a:ext>
            </a:extLst>
          </p:cNvPr>
          <p:cNvSpPr txBox="1"/>
          <p:nvPr/>
        </p:nvSpPr>
        <p:spPr>
          <a:xfrm>
            <a:off x="1166880" y="6193927"/>
            <a:ext cx="10698480" cy="548640"/>
          </a:xfrm>
          <a:prstGeom prst="rect">
            <a:avLst/>
          </a:prstGeom>
          <a:noFill/>
        </p:spPr>
        <p:txBody>
          <a:bodyPr wrap="square" lIns="45720" rIns="45720">
            <a:spAutoFit/>
          </a:bodyPr>
          <a:lstStyle/>
          <a:p>
            <a:r>
              <a:t>Takeaway: changing the objective changes the weights much more than the final risk results.</a:t>
            </a:r>
          </a:p>
        </p:txBody>
      </p:sp>
    </p:spTree>
    <p:extLst>
      <p:ext uri="{BB962C8B-B14F-4D97-AF65-F5344CB8AC3E}">
        <p14:creationId xmlns:p14="http://schemas.microsoft.com/office/powerpoint/2010/main" val="2208544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5E4EC394-25CA-3CAF-57D0-6257D3917418}"/>
            </a:ext>
          </a:extLst>
        </p:cNvPr>
        <p:cNvGrpSpPr/>
        <p:nvPr/>
      </p:nvGrpSpPr>
      <p:grpSpPr>
        <a:xfrm>
          <a:off x="0" y="0"/>
          <a:ext cx="0" cy="0"/>
          <a:chOff x="0" y="0"/>
          <a:chExt cx="0" cy="0"/>
        </a:xfrm>
      </p:grpSpPr>
      <p:sp>
        <p:nvSpPr>
          <p:cNvPr id="78" name="Google Shape;78;p3">
            <a:extLst>
              <a:ext uri="{FF2B5EF4-FFF2-40B4-BE49-F238E27FC236}">
                <a16:creationId xmlns:a16="http://schemas.microsoft.com/office/drawing/2014/main" id="{5935D509-88A1-C5C7-BAA5-C0CCEBBC7E45}"/>
              </a:ext>
            </a:extLst>
          </p:cNvPr>
          <p:cNvSpPr/>
          <p:nvPr/>
        </p:nvSpPr>
        <p:spPr>
          <a:xfrm>
            <a:off x="1879833" y="2069200"/>
            <a:ext cx="8542800" cy="2719600"/>
          </a:xfrm>
          <a:prstGeom prst="rect">
            <a:avLst/>
          </a:prstGeom>
          <a:solidFill>
            <a:srgbClr val="073763"/>
          </a:solidFill>
          <a:ln>
            <a:noFill/>
          </a:ln>
          <a:effectLst>
            <a:outerShdw blurRad="57150" dist="28575" dir="5400000" algn="bl" rotWithShape="0">
              <a:srgbClr val="000000">
                <a:alpha val="29409"/>
              </a:srgbClr>
            </a:outerShdw>
          </a:effectLst>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79" name="Google Shape;79;p3">
            <a:extLst>
              <a:ext uri="{FF2B5EF4-FFF2-40B4-BE49-F238E27FC236}">
                <a16:creationId xmlns:a16="http://schemas.microsoft.com/office/drawing/2014/main" id="{60B3A11C-767D-F8FA-525D-62ED857D9F49}"/>
              </a:ext>
            </a:extLst>
          </p:cNvPr>
          <p:cNvSpPr txBox="1">
            <a:spLocks noGrp="1"/>
          </p:cNvSpPr>
          <p:nvPr>
            <p:ph type="ctrTitle"/>
          </p:nvPr>
        </p:nvSpPr>
        <p:spPr>
          <a:xfrm>
            <a:off x="2215633" y="2794384"/>
            <a:ext cx="7033875" cy="1269200"/>
          </a:xfrm>
          <a:prstGeom prst="rect">
            <a:avLst/>
          </a:prstGeom>
          <a:noFill/>
          <a:ln>
            <a:noFill/>
          </a:ln>
          <a:effectLst>
            <a:outerShdw blurRad="57150" dist="19050" dir="5400000" algn="bl" rotWithShape="0">
              <a:srgbClr val="000000">
                <a:alpha val="49411"/>
              </a:srgbClr>
            </a:outerShdw>
          </a:effectLst>
        </p:spPr>
        <p:txBody>
          <a:bodyPr spcFirstLastPara="1" wrap="square" lIns="121900" tIns="121900" rIns="121900" bIns="121900" anchor="ctr" anchorCtr="0">
            <a:noAutofit/>
          </a:bodyPr>
          <a:lstStyle/>
          <a:p>
            <a:r>
              <a:rPr lang="fr" sz="2800" b="1" dirty="0">
                <a:solidFill>
                  <a:schemeClr val="lt1"/>
                </a:solidFill>
                <a:latin typeface="Open Sans"/>
                <a:ea typeface="Open Sans"/>
                <a:cs typeface="Open Sans"/>
                <a:sym typeface="Open Sans"/>
              </a:rPr>
              <a:t>Conclusion &amp; Limitations</a:t>
            </a:r>
            <a:endParaRPr sz="2800" b="1" dirty="0">
              <a:solidFill>
                <a:schemeClr val="lt1"/>
              </a:solidFill>
              <a:latin typeface="Open Sans"/>
              <a:ea typeface="Open Sans"/>
              <a:cs typeface="Open Sans"/>
              <a:sym typeface="Open Sans"/>
            </a:endParaRPr>
          </a:p>
        </p:txBody>
      </p:sp>
      <p:pic>
        <p:nvPicPr>
          <p:cNvPr id="80" name="Google Shape;80;p3" title="point-dinterrogation-sur-un-fond-noir-circulaire.png">
            <a:extLst>
              <a:ext uri="{FF2B5EF4-FFF2-40B4-BE49-F238E27FC236}">
                <a16:creationId xmlns:a16="http://schemas.microsoft.com/office/drawing/2014/main" id="{05D0099C-789D-139C-8B1C-8555615D5973}"/>
              </a:ext>
            </a:extLst>
          </p:cNvPr>
          <p:cNvPicPr preferRelativeResize="0"/>
          <p:nvPr/>
        </p:nvPicPr>
        <p:blipFill rotWithShape="1">
          <a:blip r:embed="rId3">
            <a:alphaModFix/>
            <a:lum bright="70000" contrast="-70000"/>
          </a:blip>
          <a:srcRect/>
          <a:stretch/>
        </p:blipFill>
        <p:spPr>
          <a:xfrm>
            <a:off x="2306868" y="2901185"/>
            <a:ext cx="1055633" cy="1055633"/>
          </a:xfrm>
          <a:prstGeom prst="rect">
            <a:avLst/>
          </a:prstGeom>
          <a:noFill/>
          <a:ln>
            <a:noFill/>
          </a:ln>
        </p:spPr>
      </p:pic>
      <p:sp>
        <p:nvSpPr>
          <p:cNvPr id="81" name="Google Shape;81;p3">
            <a:extLst>
              <a:ext uri="{FF2B5EF4-FFF2-40B4-BE49-F238E27FC236}">
                <a16:creationId xmlns:a16="http://schemas.microsoft.com/office/drawing/2014/main" id="{6A508696-081F-CCC5-9CD2-A91AF8BC0035}"/>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23</a:t>
            </a:fld>
            <a:endParaRPr>
              <a:solidFill>
                <a:schemeClr val="lt1"/>
              </a:solidFill>
              <a:latin typeface="Arial"/>
              <a:ea typeface="Arial"/>
              <a:cs typeface="Arial"/>
              <a:sym typeface="Arial"/>
            </a:endParaRPr>
          </a:p>
        </p:txBody>
      </p:sp>
    </p:spTree>
    <p:extLst>
      <p:ext uri="{BB962C8B-B14F-4D97-AF65-F5344CB8AC3E}">
        <p14:creationId xmlns:p14="http://schemas.microsoft.com/office/powerpoint/2010/main" val="2015178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01282845-6E15-7119-66B8-07C1D9FCE443}"/>
            </a:ext>
          </a:extLst>
        </p:cNvPr>
        <p:cNvGrpSpPr/>
        <p:nvPr/>
      </p:nvGrpSpPr>
      <p:grpSpPr>
        <a:xfrm>
          <a:off x="0" y="0"/>
          <a:ext cx="0" cy="0"/>
          <a:chOff x="0" y="0"/>
          <a:chExt cx="0" cy="0"/>
        </a:xfrm>
      </p:grpSpPr>
      <p:sp>
        <p:nvSpPr>
          <p:cNvPr id="76" name="Google Shape;76;g3b83c7c63cf_0_48">
            <a:extLst>
              <a:ext uri="{FF2B5EF4-FFF2-40B4-BE49-F238E27FC236}">
                <a16:creationId xmlns:a16="http://schemas.microsoft.com/office/drawing/2014/main" id="{6EDBE8AD-0FD7-A933-D671-0010BDA8DA3E}"/>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6" name="Google Shape;81;p3">
            <a:extLst>
              <a:ext uri="{FF2B5EF4-FFF2-40B4-BE49-F238E27FC236}">
                <a16:creationId xmlns:a16="http://schemas.microsoft.com/office/drawing/2014/main" id="{7415273D-C795-4DDB-3777-A73D81A207A5}"/>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24</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82EF7933-C8E4-403C-1AA1-1E524135CC69}"/>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Conclusion</a:t>
            </a:r>
            <a:endParaRPr sz="3200" b="1" dirty="0">
              <a:solidFill>
                <a:srgbClr val="000000"/>
              </a:solidFill>
              <a:latin typeface="Open Sans"/>
              <a:ea typeface="Open Sans"/>
              <a:cs typeface="Open Sans"/>
              <a:sym typeface="Open Sans"/>
            </a:endParaRPr>
          </a:p>
        </p:txBody>
      </p:sp>
      <p:sp>
        <p:nvSpPr>
          <p:cNvPr id="4" name="TextBox 3">
            <a:extLst>
              <a:ext uri="{FF2B5EF4-FFF2-40B4-BE49-F238E27FC236}">
                <a16:creationId xmlns:a16="http://schemas.microsoft.com/office/drawing/2014/main" id="{36D8D2AE-12D7-9584-814C-1A45C1375D1D}"/>
              </a:ext>
            </a:extLst>
          </p:cNvPr>
          <p:cNvSpPr txBox="1"/>
          <p:nvPr/>
        </p:nvSpPr>
        <p:spPr>
          <a:xfrm>
            <a:off x="587168" y="1110996"/>
            <a:ext cx="10972800" cy="694944"/>
          </a:xfrm>
          <a:prstGeom prst="rect">
            <a:avLst/>
          </a:prstGeom>
          <a:noFill/>
        </p:spPr>
        <p:txBody>
          <a:bodyPr wrap="square" lIns="45720" rIns="45720">
            <a:spAutoFit/>
          </a:bodyPr>
          <a:lstStyle/>
          <a:p>
            <a:r>
              <a:t>What we tested, and what we learned</a:t>
            </a:r>
          </a:p>
        </p:txBody>
      </p:sp>
      <p:sp>
        <p:nvSpPr>
          <p:cNvPr id="8" name="TextBox 4">
            <a:extLst>
              <a:ext uri="{FF2B5EF4-FFF2-40B4-BE49-F238E27FC236}">
                <a16:creationId xmlns:a16="http://schemas.microsoft.com/office/drawing/2014/main" id="{056DA98F-51D4-008C-6B3C-065E40D41242}"/>
              </a:ext>
            </a:extLst>
          </p:cNvPr>
          <p:cNvSpPr txBox="1"/>
          <p:nvPr/>
        </p:nvSpPr>
        <p:spPr>
          <a:xfrm>
            <a:off x="605456" y="1833372"/>
            <a:ext cx="10789920" cy="457200"/>
          </a:xfrm>
          <a:prstGeom prst="rect">
            <a:avLst/>
          </a:prstGeom>
          <a:noFill/>
        </p:spPr>
        <p:txBody>
          <a:bodyPr wrap="square" lIns="45720" rIns="45720">
            <a:spAutoFit/>
          </a:bodyPr>
          <a:lstStyle/>
          <a:p>
            <a:r>
              <a:t>Four key steps from our analysis, using hourly spot prices</a:t>
            </a:r>
          </a:p>
        </p:txBody>
      </p:sp>
      <p:sp>
        <p:nvSpPr>
          <p:cNvPr id="16" name="Rounded Rectangle 8">
            <a:extLst>
              <a:ext uri="{FF2B5EF4-FFF2-40B4-BE49-F238E27FC236}">
                <a16:creationId xmlns:a16="http://schemas.microsoft.com/office/drawing/2014/main" id="{016308DE-9374-EAD1-E7DF-CBE003641F78}"/>
              </a:ext>
            </a:extLst>
          </p:cNvPr>
          <p:cNvSpPr/>
          <p:nvPr/>
        </p:nvSpPr>
        <p:spPr>
          <a:xfrm>
            <a:off x="815768" y="2290572"/>
            <a:ext cx="10561320" cy="786384"/>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9">
            <a:extLst>
              <a:ext uri="{FF2B5EF4-FFF2-40B4-BE49-F238E27FC236}">
                <a16:creationId xmlns:a16="http://schemas.microsoft.com/office/drawing/2014/main" id="{05197517-DAB7-15EB-DC71-95D9F6DA40CD}"/>
              </a:ext>
            </a:extLst>
          </p:cNvPr>
          <p:cNvSpPr/>
          <p:nvPr/>
        </p:nvSpPr>
        <p:spPr>
          <a:xfrm>
            <a:off x="943784" y="2409443"/>
            <a:ext cx="512064" cy="512064"/>
          </a:xfrm>
          <a:prstGeom prst="round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a:extLst>
              <a:ext uri="{FF2B5EF4-FFF2-40B4-BE49-F238E27FC236}">
                <a16:creationId xmlns:a16="http://schemas.microsoft.com/office/drawing/2014/main" id="{72D244B2-57E3-659C-325F-C302D3056BB9}"/>
              </a:ext>
            </a:extLst>
          </p:cNvPr>
          <p:cNvSpPr txBox="1"/>
          <p:nvPr/>
        </p:nvSpPr>
        <p:spPr>
          <a:xfrm>
            <a:off x="971216" y="2500884"/>
            <a:ext cx="457200" cy="228600"/>
          </a:xfrm>
          <a:prstGeom prst="rect">
            <a:avLst/>
          </a:prstGeom>
          <a:noFill/>
        </p:spPr>
        <p:txBody>
          <a:bodyPr wrap="square" lIns="45720" rIns="45720">
            <a:spAutoFit/>
          </a:bodyPr>
          <a:lstStyle/>
          <a:p>
            <a:pPr algn="ctr">
              <a:defRPr sz="1300" b="1">
                <a:solidFill>
                  <a:srgbClr val="FFFFFF"/>
                </a:solidFill>
                <a:latin typeface="Aptos"/>
              </a:defRPr>
            </a:pPr>
            <a:r>
              <a:t>01</a:t>
            </a:r>
          </a:p>
        </p:txBody>
      </p:sp>
      <p:sp>
        <p:nvSpPr>
          <p:cNvPr id="27" name="TextBox 11">
            <a:extLst>
              <a:ext uri="{FF2B5EF4-FFF2-40B4-BE49-F238E27FC236}">
                <a16:creationId xmlns:a16="http://schemas.microsoft.com/office/drawing/2014/main" id="{9120BEDB-FA63-6015-220A-DBEAE8C94B81}"/>
              </a:ext>
            </a:extLst>
          </p:cNvPr>
          <p:cNvSpPr txBox="1"/>
          <p:nvPr/>
        </p:nvSpPr>
        <p:spPr>
          <a:xfrm>
            <a:off x="1684448" y="2409443"/>
            <a:ext cx="3017520" cy="365760"/>
          </a:xfrm>
          <a:prstGeom prst="rect">
            <a:avLst/>
          </a:prstGeom>
          <a:noFill/>
        </p:spPr>
        <p:txBody>
          <a:bodyPr wrap="square" lIns="45720" rIns="45720">
            <a:spAutoFit/>
          </a:bodyPr>
          <a:lstStyle/>
          <a:p>
            <a:r>
              <a:t>Build a common dataset</a:t>
            </a:r>
          </a:p>
        </p:txBody>
      </p:sp>
      <p:sp>
        <p:nvSpPr>
          <p:cNvPr id="29" name="TextBox 12">
            <a:extLst>
              <a:ext uri="{FF2B5EF4-FFF2-40B4-BE49-F238E27FC236}">
                <a16:creationId xmlns:a16="http://schemas.microsoft.com/office/drawing/2014/main" id="{161DBD11-9910-5702-10B9-96067CFB5365}"/>
              </a:ext>
            </a:extLst>
          </p:cNvPr>
          <p:cNvSpPr txBox="1"/>
          <p:nvPr/>
        </p:nvSpPr>
        <p:spPr>
          <a:xfrm>
            <a:off x="4656248" y="2455164"/>
            <a:ext cx="6355080" cy="411480"/>
          </a:xfrm>
          <a:prstGeom prst="rect">
            <a:avLst/>
          </a:prstGeom>
          <a:noFill/>
        </p:spPr>
        <p:txBody>
          <a:bodyPr wrap="square" lIns="45720" rIns="45720">
            <a:spAutoFit/>
          </a:bodyPr>
          <a:lstStyle/>
          <a:p>
            <a:r>
              <a:t>Align DK1, DE, DK2, NO2 and SE4 hourly prices, then calculate price changes.</a:t>
            </a:r>
          </a:p>
        </p:txBody>
      </p:sp>
      <p:sp>
        <p:nvSpPr>
          <p:cNvPr id="31" name="Rounded Rectangle 13">
            <a:extLst>
              <a:ext uri="{FF2B5EF4-FFF2-40B4-BE49-F238E27FC236}">
                <a16:creationId xmlns:a16="http://schemas.microsoft.com/office/drawing/2014/main" id="{F74B1DE1-7F00-6B14-A512-954EC32639D2}"/>
              </a:ext>
            </a:extLst>
          </p:cNvPr>
          <p:cNvSpPr/>
          <p:nvPr/>
        </p:nvSpPr>
        <p:spPr>
          <a:xfrm>
            <a:off x="815768" y="3241548"/>
            <a:ext cx="10561320" cy="786384"/>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14">
            <a:extLst>
              <a:ext uri="{FF2B5EF4-FFF2-40B4-BE49-F238E27FC236}">
                <a16:creationId xmlns:a16="http://schemas.microsoft.com/office/drawing/2014/main" id="{81DA894A-1B29-2140-A3E6-8F5E6A203CDE}"/>
              </a:ext>
            </a:extLst>
          </p:cNvPr>
          <p:cNvSpPr/>
          <p:nvPr/>
        </p:nvSpPr>
        <p:spPr>
          <a:xfrm>
            <a:off x="943784" y="3360420"/>
            <a:ext cx="512064" cy="512064"/>
          </a:xfrm>
          <a:prstGeom prst="round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15">
            <a:extLst>
              <a:ext uri="{FF2B5EF4-FFF2-40B4-BE49-F238E27FC236}">
                <a16:creationId xmlns:a16="http://schemas.microsoft.com/office/drawing/2014/main" id="{F11C90D6-AAF4-0BC8-0122-7469A7A25D3B}"/>
              </a:ext>
            </a:extLst>
          </p:cNvPr>
          <p:cNvSpPr txBox="1"/>
          <p:nvPr/>
        </p:nvSpPr>
        <p:spPr>
          <a:xfrm>
            <a:off x="971216" y="3451860"/>
            <a:ext cx="457200" cy="228600"/>
          </a:xfrm>
          <a:prstGeom prst="rect">
            <a:avLst/>
          </a:prstGeom>
          <a:noFill/>
        </p:spPr>
        <p:txBody>
          <a:bodyPr wrap="square" lIns="45720" rIns="45720">
            <a:spAutoFit/>
          </a:bodyPr>
          <a:lstStyle/>
          <a:p>
            <a:pPr algn="ctr">
              <a:defRPr sz="1300" b="1">
                <a:solidFill>
                  <a:srgbClr val="FFFFFF"/>
                </a:solidFill>
                <a:latin typeface="Aptos"/>
              </a:defRPr>
            </a:pPr>
            <a:r>
              <a:t>02</a:t>
            </a:r>
          </a:p>
        </p:txBody>
      </p:sp>
      <p:sp>
        <p:nvSpPr>
          <p:cNvPr id="69" name="TextBox 16">
            <a:extLst>
              <a:ext uri="{FF2B5EF4-FFF2-40B4-BE49-F238E27FC236}">
                <a16:creationId xmlns:a16="http://schemas.microsoft.com/office/drawing/2014/main" id="{9035F26B-A362-554E-FCAC-50206DFAB8E6}"/>
              </a:ext>
            </a:extLst>
          </p:cNvPr>
          <p:cNvSpPr txBox="1"/>
          <p:nvPr/>
        </p:nvSpPr>
        <p:spPr>
          <a:xfrm>
            <a:off x="1684448" y="3360420"/>
            <a:ext cx="3017520" cy="365760"/>
          </a:xfrm>
          <a:prstGeom prst="rect">
            <a:avLst/>
          </a:prstGeom>
          <a:noFill/>
        </p:spPr>
        <p:txBody>
          <a:bodyPr wrap="square" lIns="45720" rIns="45720">
            <a:spAutoFit/>
          </a:bodyPr>
          <a:lstStyle/>
          <a:p>
            <a:r>
              <a:t>Optimize three strategies</a:t>
            </a:r>
          </a:p>
        </p:txBody>
      </p:sp>
      <p:sp>
        <p:nvSpPr>
          <p:cNvPr id="71" name="TextBox 17">
            <a:extLst>
              <a:ext uri="{FF2B5EF4-FFF2-40B4-BE49-F238E27FC236}">
                <a16:creationId xmlns:a16="http://schemas.microsoft.com/office/drawing/2014/main" id="{19B6B870-459A-59A8-5B27-DA6A5DC3DC15}"/>
              </a:ext>
            </a:extLst>
          </p:cNvPr>
          <p:cNvSpPr txBox="1"/>
          <p:nvPr/>
        </p:nvSpPr>
        <p:spPr>
          <a:xfrm>
            <a:off x="4656248" y="3406140"/>
            <a:ext cx="6355080" cy="411480"/>
          </a:xfrm>
          <a:prstGeom prst="rect">
            <a:avLst/>
          </a:prstGeom>
          <a:noFill/>
        </p:spPr>
        <p:txBody>
          <a:bodyPr wrap="square" lIns="45720" rIns="45720">
            <a:spAutoFit/>
          </a:bodyPr>
          <a:lstStyle/>
          <a:p>
            <a:r>
              <a:t>Estimate minimum variance, CVaR 95% and CVaR 99% weights on the training sample.</a:t>
            </a:r>
          </a:p>
        </p:txBody>
      </p:sp>
      <p:sp>
        <p:nvSpPr>
          <p:cNvPr id="73" name="Rounded Rectangle 18">
            <a:extLst>
              <a:ext uri="{FF2B5EF4-FFF2-40B4-BE49-F238E27FC236}">
                <a16:creationId xmlns:a16="http://schemas.microsoft.com/office/drawing/2014/main" id="{843A2A46-190E-D15C-8CD1-342E5E26CB47}"/>
              </a:ext>
            </a:extLst>
          </p:cNvPr>
          <p:cNvSpPr/>
          <p:nvPr/>
        </p:nvSpPr>
        <p:spPr>
          <a:xfrm>
            <a:off x="815768" y="4192524"/>
            <a:ext cx="10561320" cy="786384"/>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19">
            <a:extLst>
              <a:ext uri="{FF2B5EF4-FFF2-40B4-BE49-F238E27FC236}">
                <a16:creationId xmlns:a16="http://schemas.microsoft.com/office/drawing/2014/main" id="{2763D4F5-5619-D472-3A5D-04B4B30D7857}"/>
              </a:ext>
            </a:extLst>
          </p:cNvPr>
          <p:cNvSpPr/>
          <p:nvPr/>
        </p:nvSpPr>
        <p:spPr>
          <a:xfrm>
            <a:off x="943784" y="4311396"/>
            <a:ext cx="512064" cy="512064"/>
          </a:xfrm>
          <a:prstGeom prst="round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20">
            <a:extLst>
              <a:ext uri="{FF2B5EF4-FFF2-40B4-BE49-F238E27FC236}">
                <a16:creationId xmlns:a16="http://schemas.microsoft.com/office/drawing/2014/main" id="{83F4C39F-D882-72F0-568C-C5B3270BCFFC}"/>
              </a:ext>
            </a:extLst>
          </p:cNvPr>
          <p:cNvSpPr txBox="1"/>
          <p:nvPr/>
        </p:nvSpPr>
        <p:spPr>
          <a:xfrm>
            <a:off x="971216" y="4402836"/>
            <a:ext cx="457200" cy="228600"/>
          </a:xfrm>
          <a:prstGeom prst="rect">
            <a:avLst/>
          </a:prstGeom>
          <a:noFill/>
        </p:spPr>
        <p:txBody>
          <a:bodyPr wrap="square" lIns="45720" rIns="45720">
            <a:spAutoFit/>
          </a:bodyPr>
          <a:lstStyle/>
          <a:p>
            <a:pPr algn="ctr">
              <a:defRPr sz="1300" b="1">
                <a:solidFill>
                  <a:srgbClr val="FFFFFF"/>
                </a:solidFill>
                <a:latin typeface="Aptos"/>
              </a:defRPr>
            </a:pPr>
            <a:r>
              <a:t>03</a:t>
            </a:r>
          </a:p>
        </p:txBody>
      </p:sp>
      <p:sp>
        <p:nvSpPr>
          <p:cNvPr id="81" name="TextBox 21">
            <a:extLst>
              <a:ext uri="{FF2B5EF4-FFF2-40B4-BE49-F238E27FC236}">
                <a16:creationId xmlns:a16="http://schemas.microsoft.com/office/drawing/2014/main" id="{ECC96667-B054-5521-95B0-4CB9E40B9B57}"/>
              </a:ext>
            </a:extLst>
          </p:cNvPr>
          <p:cNvSpPr txBox="1"/>
          <p:nvPr/>
        </p:nvSpPr>
        <p:spPr>
          <a:xfrm>
            <a:off x="1684448" y="4311396"/>
            <a:ext cx="3017520" cy="365760"/>
          </a:xfrm>
          <a:prstGeom prst="rect">
            <a:avLst/>
          </a:prstGeom>
          <a:noFill/>
        </p:spPr>
        <p:txBody>
          <a:bodyPr wrap="square" lIns="45720" rIns="45720">
            <a:spAutoFit/>
          </a:bodyPr>
          <a:lstStyle/>
          <a:p>
            <a:r>
              <a:t>Test on unseen observations</a:t>
            </a:r>
          </a:p>
        </p:txBody>
      </p:sp>
      <p:sp>
        <p:nvSpPr>
          <p:cNvPr id="83" name="TextBox 22">
            <a:extLst>
              <a:ext uri="{FF2B5EF4-FFF2-40B4-BE49-F238E27FC236}">
                <a16:creationId xmlns:a16="http://schemas.microsoft.com/office/drawing/2014/main" id="{BA223774-BBF6-AEEF-7FF8-E9821BE2A38A}"/>
              </a:ext>
            </a:extLst>
          </p:cNvPr>
          <p:cNvSpPr txBox="1"/>
          <p:nvPr/>
        </p:nvSpPr>
        <p:spPr>
          <a:xfrm>
            <a:off x="4656248" y="4357116"/>
            <a:ext cx="6355080" cy="411480"/>
          </a:xfrm>
          <a:prstGeom prst="rect">
            <a:avLst/>
          </a:prstGeom>
          <a:noFill/>
        </p:spPr>
        <p:txBody>
          <a:bodyPr wrap="square" lIns="45720" rIns="45720">
            <a:spAutoFit/>
          </a:bodyPr>
          <a:lstStyle/>
          <a:p>
            <a:r>
              <a:t>Keep the weights fixed and compare risk on 18,974 common test hours.</a:t>
            </a:r>
          </a:p>
        </p:txBody>
      </p:sp>
      <p:sp>
        <p:nvSpPr>
          <p:cNvPr id="85" name="Rounded Rectangle 23">
            <a:extLst>
              <a:ext uri="{FF2B5EF4-FFF2-40B4-BE49-F238E27FC236}">
                <a16:creationId xmlns:a16="http://schemas.microsoft.com/office/drawing/2014/main" id="{8447B9B0-9A87-3AC6-93CB-EB9139BC3740}"/>
              </a:ext>
            </a:extLst>
          </p:cNvPr>
          <p:cNvSpPr/>
          <p:nvPr/>
        </p:nvSpPr>
        <p:spPr>
          <a:xfrm>
            <a:off x="815768" y="5143500"/>
            <a:ext cx="10561320" cy="786384"/>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ounded Rectangle 24">
            <a:extLst>
              <a:ext uri="{FF2B5EF4-FFF2-40B4-BE49-F238E27FC236}">
                <a16:creationId xmlns:a16="http://schemas.microsoft.com/office/drawing/2014/main" id="{42B6BD28-960F-EED8-7B24-DE4E9B317B58}"/>
              </a:ext>
            </a:extLst>
          </p:cNvPr>
          <p:cNvSpPr/>
          <p:nvPr/>
        </p:nvSpPr>
        <p:spPr>
          <a:xfrm>
            <a:off x="943784" y="5262371"/>
            <a:ext cx="512064" cy="512064"/>
          </a:xfrm>
          <a:prstGeom prst="roundRect">
            <a:avLst/>
          </a:prstGeom>
          <a:solidFill>
            <a:srgbClr val="4E28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25">
            <a:extLst>
              <a:ext uri="{FF2B5EF4-FFF2-40B4-BE49-F238E27FC236}">
                <a16:creationId xmlns:a16="http://schemas.microsoft.com/office/drawing/2014/main" id="{39105BB3-A682-5937-F7BA-4A5B4F752A20}"/>
              </a:ext>
            </a:extLst>
          </p:cNvPr>
          <p:cNvSpPr txBox="1"/>
          <p:nvPr/>
        </p:nvSpPr>
        <p:spPr>
          <a:xfrm>
            <a:off x="971216" y="5353812"/>
            <a:ext cx="457200" cy="228600"/>
          </a:xfrm>
          <a:prstGeom prst="rect">
            <a:avLst/>
          </a:prstGeom>
          <a:noFill/>
        </p:spPr>
        <p:txBody>
          <a:bodyPr wrap="square" lIns="45720" rIns="45720">
            <a:spAutoFit/>
          </a:bodyPr>
          <a:lstStyle/>
          <a:p>
            <a:pPr algn="ctr">
              <a:defRPr sz="1300" b="1">
                <a:solidFill>
                  <a:srgbClr val="FFFFFF"/>
                </a:solidFill>
                <a:latin typeface="Aptos"/>
              </a:defRPr>
            </a:pPr>
            <a:r>
              <a:t>04</a:t>
            </a:r>
          </a:p>
        </p:txBody>
      </p:sp>
      <p:sp>
        <p:nvSpPr>
          <p:cNvPr id="91" name="TextBox 26">
            <a:extLst>
              <a:ext uri="{FF2B5EF4-FFF2-40B4-BE49-F238E27FC236}">
                <a16:creationId xmlns:a16="http://schemas.microsoft.com/office/drawing/2014/main" id="{3BE91406-88F9-E4BF-3EB0-1E6C1F3EC61D}"/>
              </a:ext>
            </a:extLst>
          </p:cNvPr>
          <p:cNvSpPr txBox="1"/>
          <p:nvPr/>
        </p:nvSpPr>
        <p:spPr>
          <a:xfrm>
            <a:off x="1684448" y="5262371"/>
            <a:ext cx="3017520" cy="365760"/>
          </a:xfrm>
          <a:prstGeom prst="rect">
            <a:avLst/>
          </a:prstGeom>
          <a:noFill/>
        </p:spPr>
        <p:txBody>
          <a:bodyPr wrap="square" lIns="45720" rIns="45720">
            <a:spAutoFit/>
          </a:bodyPr>
          <a:lstStyle/>
          <a:p>
            <a:r>
              <a:t>Compare the trade-offs</a:t>
            </a:r>
          </a:p>
        </p:txBody>
      </p:sp>
      <p:sp>
        <p:nvSpPr>
          <p:cNvPr id="93" name="TextBox 27">
            <a:extLst>
              <a:ext uri="{FF2B5EF4-FFF2-40B4-BE49-F238E27FC236}">
                <a16:creationId xmlns:a16="http://schemas.microsoft.com/office/drawing/2014/main" id="{5240A56C-E8D1-9837-DF6E-BE5A71CEEB9C}"/>
              </a:ext>
            </a:extLst>
          </p:cNvPr>
          <p:cNvSpPr txBox="1"/>
          <p:nvPr/>
        </p:nvSpPr>
        <p:spPr>
          <a:xfrm>
            <a:off x="4656248" y="5308091"/>
            <a:ext cx="6355080" cy="411480"/>
          </a:xfrm>
          <a:prstGeom prst="rect">
            <a:avLst/>
          </a:prstGeom>
          <a:noFill/>
        </p:spPr>
        <p:txBody>
          <a:bodyPr wrap="square" lIns="45720" rIns="45720">
            <a:spAutoFit/>
          </a:bodyPr>
          <a:lstStyle/>
          <a:p>
            <a:r>
              <a:t>Review hedge weights, standard deviation and upper-tail CVaR side by side.</a:t>
            </a:r>
          </a:p>
        </p:txBody>
      </p:sp>
    </p:spTree>
    <p:extLst>
      <p:ext uri="{BB962C8B-B14F-4D97-AF65-F5344CB8AC3E}">
        <p14:creationId xmlns:p14="http://schemas.microsoft.com/office/powerpoint/2010/main" val="1699190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D05BCC1F-CEA5-6C99-AE44-64414398F84A}"/>
            </a:ext>
          </a:extLst>
        </p:cNvPr>
        <p:cNvGrpSpPr/>
        <p:nvPr/>
      </p:nvGrpSpPr>
      <p:grpSpPr>
        <a:xfrm>
          <a:off x="0" y="0"/>
          <a:ext cx="0" cy="0"/>
          <a:chOff x="0" y="0"/>
          <a:chExt cx="0" cy="0"/>
        </a:xfrm>
      </p:grpSpPr>
      <p:sp>
        <p:nvSpPr>
          <p:cNvPr id="90" name="Rounded Rectangle 8">
            <a:extLst>
              <a:ext uri="{FF2B5EF4-FFF2-40B4-BE49-F238E27FC236}">
                <a16:creationId xmlns:a16="http://schemas.microsoft.com/office/drawing/2014/main" id="{1C748E14-9F41-DD16-9F11-5B97BF82A362}"/>
              </a:ext>
            </a:extLst>
          </p:cNvPr>
          <p:cNvSpPr/>
          <p:nvPr/>
        </p:nvSpPr>
        <p:spPr>
          <a:xfrm>
            <a:off x="6209872" y="2373839"/>
            <a:ext cx="5303520" cy="329184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Google Shape;76;g3b83c7c63cf_0_48">
            <a:extLst>
              <a:ext uri="{FF2B5EF4-FFF2-40B4-BE49-F238E27FC236}">
                <a16:creationId xmlns:a16="http://schemas.microsoft.com/office/drawing/2014/main" id="{05804FBF-3EDE-604A-AB2D-120299DAF747}"/>
              </a:ext>
            </a:extLst>
          </p:cNvPr>
          <p:cNvSpPr/>
          <p:nvPr/>
        </p:nvSpPr>
        <p:spPr>
          <a:xfrm rot="10800000" flipH="1">
            <a:off x="587168" y="940229"/>
            <a:ext cx="11113600" cy="16400"/>
          </a:xfrm>
          <a:prstGeom prst="rect">
            <a:avLst/>
          </a:prstGeom>
          <a:solidFill>
            <a:srgbClr val="000000"/>
          </a:solidFill>
          <a:ln>
            <a:noFill/>
          </a:ln>
        </p:spPr>
        <p:txBody>
          <a:bodyPr spcFirstLastPara="1" wrap="square" lIns="121900" tIns="121900" rIns="121900" bIns="121900" anchor="ctr" anchorCtr="0">
            <a:noAutofit/>
          </a:bodyPr>
          <a:lstStyle/>
          <a:p>
            <a:pPr algn="ctr">
              <a:buClr>
                <a:srgbClr val="000000"/>
              </a:buClr>
              <a:buSzPts val="400"/>
            </a:pPr>
            <a:endParaRPr sz="533">
              <a:solidFill>
                <a:srgbClr val="000000"/>
              </a:solidFill>
              <a:latin typeface="Arial"/>
              <a:ea typeface="Arial"/>
              <a:cs typeface="Arial"/>
              <a:sym typeface="Arial"/>
            </a:endParaRPr>
          </a:p>
        </p:txBody>
      </p:sp>
      <p:sp>
        <p:nvSpPr>
          <p:cNvPr id="6" name="Google Shape;81;p3">
            <a:extLst>
              <a:ext uri="{FF2B5EF4-FFF2-40B4-BE49-F238E27FC236}">
                <a16:creationId xmlns:a16="http://schemas.microsoft.com/office/drawing/2014/main" id="{B2E7D5F2-896B-6F0A-56E6-24CB16859B50}"/>
              </a:ext>
            </a:extLst>
          </p:cNvPr>
          <p:cNvSpPr txBox="1">
            <a:spLocks noGrp="1"/>
          </p:cNvSpPr>
          <p:nvPr>
            <p:ph type="sldNum" idx="12"/>
          </p:nvPr>
        </p:nvSpPr>
        <p:spPr>
          <a:xfrm>
            <a:off x="11614633" y="6352967"/>
            <a:ext cx="413600" cy="389600"/>
          </a:xfrm>
          <a:prstGeom prst="rect">
            <a:avLst/>
          </a:prstGeom>
          <a:solidFill>
            <a:srgbClr val="073763"/>
          </a:solidFill>
          <a:ln>
            <a:noFill/>
          </a:ln>
          <a:effectLst>
            <a:outerShdw blurRad="57150" dist="19050" dir="5400000" algn="bl" rotWithShape="0">
              <a:srgbClr val="000000">
                <a:alpha val="69410"/>
              </a:srgbClr>
            </a:outerShdw>
          </a:effectLst>
        </p:spPr>
        <p:txBody>
          <a:bodyPr spcFirstLastPara="1" wrap="square" lIns="121900" tIns="121900" rIns="121900" bIns="121900" anchor="ctr" anchorCtr="0">
            <a:normAutofit fontScale="92500" lnSpcReduction="20000"/>
          </a:bodyPr>
          <a:lstStyle/>
          <a:p>
            <a:pPr algn="ctr">
              <a:buSzPct val="100000"/>
            </a:pPr>
            <a:fld id="{00000000-1234-1234-1234-123412341234}" type="slidenum">
              <a:rPr lang="fr">
                <a:solidFill>
                  <a:schemeClr val="lt1"/>
                </a:solidFill>
                <a:latin typeface="Arial"/>
                <a:ea typeface="Arial"/>
                <a:cs typeface="Arial"/>
                <a:sym typeface="Arial"/>
              </a:rPr>
              <a:pPr algn="ctr">
                <a:buSzPct val="100000"/>
              </a:pPr>
              <a:t>25</a:t>
            </a:fld>
            <a:endParaRPr>
              <a:solidFill>
                <a:schemeClr val="lt1"/>
              </a:solidFill>
              <a:latin typeface="Arial"/>
              <a:ea typeface="Arial"/>
              <a:cs typeface="Arial"/>
              <a:sym typeface="Arial"/>
            </a:endParaRPr>
          </a:p>
        </p:txBody>
      </p:sp>
      <p:sp>
        <p:nvSpPr>
          <p:cNvPr id="11" name="Google Shape;75;g3b83c7c63cf_0_48">
            <a:extLst>
              <a:ext uri="{FF2B5EF4-FFF2-40B4-BE49-F238E27FC236}">
                <a16:creationId xmlns:a16="http://schemas.microsoft.com/office/drawing/2014/main" id="{18DC9C69-146D-A1B5-4549-D338AFF93A05}"/>
              </a:ext>
            </a:extLst>
          </p:cNvPr>
          <p:cNvSpPr txBox="1"/>
          <p:nvPr/>
        </p:nvSpPr>
        <p:spPr>
          <a:xfrm>
            <a:off x="491200" y="133067"/>
            <a:ext cx="9063108" cy="917600"/>
          </a:xfrm>
          <a:prstGeom prst="rect">
            <a:avLst/>
          </a:prstGeom>
          <a:noFill/>
          <a:ln>
            <a:noFill/>
          </a:ln>
        </p:spPr>
        <p:txBody>
          <a:bodyPr spcFirstLastPara="1" wrap="square" lIns="121900" tIns="121900" rIns="121900" bIns="121900" anchor="b" anchorCtr="0">
            <a:noAutofit/>
          </a:bodyPr>
          <a:lstStyle/>
          <a:p>
            <a:pPr>
              <a:buClr>
                <a:srgbClr val="000000"/>
              </a:buClr>
              <a:buSzPts val="2600"/>
            </a:pPr>
            <a:r>
              <a:rPr lang="en-US" sz="3200" b="1" dirty="0">
                <a:solidFill>
                  <a:srgbClr val="000000"/>
                </a:solidFill>
                <a:latin typeface="Open Sans"/>
                <a:ea typeface="Open Sans"/>
                <a:cs typeface="Open Sans"/>
                <a:sym typeface="Open Sans"/>
              </a:rPr>
              <a:t>Conclusion</a:t>
            </a:r>
            <a:endParaRPr sz="3200" b="1" dirty="0">
              <a:solidFill>
                <a:srgbClr val="000000"/>
              </a:solidFill>
              <a:latin typeface="Open Sans"/>
              <a:ea typeface="Open Sans"/>
              <a:cs typeface="Open Sans"/>
              <a:sym typeface="Open Sans"/>
            </a:endParaRPr>
          </a:p>
        </p:txBody>
      </p:sp>
      <p:sp>
        <p:nvSpPr>
          <p:cNvPr id="26" name="TextBox 3">
            <a:extLst>
              <a:ext uri="{FF2B5EF4-FFF2-40B4-BE49-F238E27FC236}">
                <a16:creationId xmlns:a16="http://schemas.microsoft.com/office/drawing/2014/main" id="{1EA64884-C04D-9E9F-53C2-3C6C354E35B2}"/>
              </a:ext>
            </a:extLst>
          </p:cNvPr>
          <p:cNvSpPr txBox="1"/>
          <p:nvPr/>
        </p:nvSpPr>
        <p:spPr>
          <a:xfrm>
            <a:off x="587168" y="1169431"/>
            <a:ext cx="10972800" cy="594360"/>
          </a:xfrm>
          <a:prstGeom prst="rect">
            <a:avLst/>
          </a:prstGeom>
          <a:noFill/>
        </p:spPr>
        <p:txBody>
          <a:bodyPr wrap="square">
            <a:spAutoFit/>
          </a:bodyPr>
          <a:lstStyle/>
          <a:p>
            <a:r>
              <a:t>So, which approach would we keep?</a:t>
            </a:r>
          </a:p>
        </p:txBody>
      </p:sp>
      <p:sp>
        <p:nvSpPr>
          <p:cNvPr id="30" name="TextBox 4">
            <a:extLst>
              <a:ext uri="{FF2B5EF4-FFF2-40B4-BE49-F238E27FC236}">
                <a16:creationId xmlns:a16="http://schemas.microsoft.com/office/drawing/2014/main" id="{55A7BA1D-347E-9113-97C4-5AEE5372C3CF}"/>
              </a:ext>
            </a:extLst>
          </p:cNvPr>
          <p:cNvSpPr txBox="1"/>
          <p:nvPr/>
        </p:nvSpPr>
        <p:spPr>
          <a:xfrm>
            <a:off x="587168" y="1809511"/>
            <a:ext cx="10972800" cy="457200"/>
          </a:xfrm>
          <a:prstGeom prst="rect">
            <a:avLst/>
          </a:prstGeom>
          <a:noFill/>
        </p:spPr>
        <p:txBody>
          <a:bodyPr wrap="square">
            <a:spAutoFit/>
          </a:bodyPr>
          <a:lstStyle/>
          <a:p>
            <a:r>
              <a:rPr dirty="0"/>
              <a:t>The simplest benchmark is surprisingly hard to beat</a:t>
            </a:r>
          </a:p>
        </p:txBody>
      </p:sp>
      <p:sp>
        <p:nvSpPr>
          <p:cNvPr id="66" name="Rounded Rectangle 7">
            <a:extLst>
              <a:ext uri="{FF2B5EF4-FFF2-40B4-BE49-F238E27FC236}">
                <a16:creationId xmlns:a16="http://schemas.microsoft.com/office/drawing/2014/main" id="{838A96C7-186D-2F56-B281-35450EA3BBE5}"/>
              </a:ext>
            </a:extLst>
          </p:cNvPr>
          <p:cNvSpPr/>
          <p:nvPr/>
        </p:nvSpPr>
        <p:spPr>
          <a:xfrm>
            <a:off x="678608" y="2403871"/>
            <a:ext cx="5303520" cy="3291840"/>
          </a:xfrm>
          <a:prstGeom prst="roundRect">
            <a:avLst/>
          </a:prstGeom>
          <a:solidFill>
            <a:srgbClr val="F6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9">
            <a:extLst>
              <a:ext uri="{FF2B5EF4-FFF2-40B4-BE49-F238E27FC236}">
                <a16:creationId xmlns:a16="http://schemas.microsoft.com/office/drawing/2014/main" id="{8783343A-B1F0-3B10-E1C9-B7269927BBD5}"/>
              </a:ext>
            </a:extLst>
          </p:cNvPr>
          <p:cNvSpPr txBox="1"/>
          <p:nvPr/>
        </p:nvSpPr>
        <p:spPr>
          <a:xfrm>
            <a:off x="998648" y="2723911"/>
            <a:ext cx="4754880" cy="369332"/>
          </a:xfrm>
          <a:prstGeom prst="rect">
            <a:avLst/>
          </a:prstGeom>
          <a:noFill/>
        </p:spPr>
        <p:txBody>
          <a:bodyPr wrap="square">
            <a:spAutoFit/>
          </a:bodyPr>
          <a:lstStyle/>
          <a:p>
            <a:r>
              <a:t>CVaR 95%: best on its target</a:t>
            </a:r>
          </a:p>
        </p:txBody>
      </p:sp>
      <p:sp>
        <p:nvSpPr>
          <p:cNvPr id="74" name="TextBox 10">
            <a:extLst>
              <a:ext uri="{FF2B5EF4-FFF2-40B4-BE49-F238E27FC236}">
                <a16:creationId xmlns:a16="http://schemas.microsoft.com/office/drawing/2014/main" id="{5E0523E3-DAD4-371E-C4EA-573A80E778B0}"/>
              </a:ext>
            </a:extLst>
          </p:cNvPr>
          <p:cNvSpPr txBox="1"/>
          <p:nvPr/>
        </p:nvSpPr>
        <p:spPr>
          <a:xfrm>
            <a:off x="998648" y="3409711"/>
            <a:ext cx="4572000" cy="1200329"/>
          </a:xfrm>
          <a:prstGeom prst="rect">
            <a:avLst/>
          </a:prstGeom>
          <a:noFill/>
        </p:spPr>
        <p:txBody>
          <a:bodyPr wrap="square">
            <a:spAutoFit/>
          </a:bodyPr>
          <a:lstStyle/>
          <a:p>
            <a:r>
              <a:t>Lowest test CVaR 95%: 18.250 EUR/MWh.</a:t>
            </a:r>
          </a:p>
          <a:p>
            <a:endParaRPr/>
          </a:p>
          <a:p>
            <a:r>
              <a:t>It also has the lowest standard deviation: 7.318 EUR/MWh.</a:t>
            </a:r>
          </a:p>
        </p:txBody>
      </p:sp>
      <p:sp>
        <p:nvSpPr>
          <p:cNvPr id="78" name="TextBox 11">
            <a:extLst>
              <a:ext uri="{FF2B5EF4-FFF2-40B4-BE49-F238E27FC236}">
                <a16:creationId xmlns:a16="http://schemas.microsoft.com/office/drawing/2014/main" id="{CF756334-5A9B-713F-4DD6-05CEDA864C85}"/>
              </a:ext>
            </a:extLst>
          </p:cNvPr>
          <p:cNvSpPr txBox="1"/>
          <p:nvPr/>
        </p:nvSpPr>
        <p:spPr>
          <a:xfrm>
            <a:off x="6622208" y="2723911"/>
            <a:ext cx="4572000" cy="369332"/>
          </a:xfrm>
          <a:prstGeom prst="rect">
            <a:avLst/>
          </a:prstGeom>
          <a:noFill/>
        </p:spPr>
        <p:txBody>
          <a:bodyPr wrap="square">
            <a:spAutoFit/>
          </a:bodyPr>
          <a:lstStyle/>
          <a:p>
            <a:r>
              <a:t>Minimum variance: nearly the same</a:t>
            </a:r>
          </a:p>
        </p:txBody>
      </p:sp>
      <p:sp>
        <p:nvSpPr>
          <p:cNvPr id="82" name="TextBox 12">
            <a:extLst>
              <a:ext uri="{FF2B5EF4-FFF2-40B4-BE49-F238E27FC236}">
                <a16:creationId xmlns:a16="http://schemas.microsoft.com/office/drawing/2014/main" id="{D31F9491-4E44-0BD7-93C6-8E439F4DB8DF}"/>
              </a:ext>
            </a:extLst>
          </p:cNvPr>
          <p:cNvSpPr txBox="1"/>
          <p:nvPr/>
        </p:nvSpPr>
        <p:spPr>
          <a:xfrm>
            <a:off x="6622208" y="3409711"/>
            <a:ext cx="4572000" cy="923330"/>
          </a:xfrm>
          <a:prstGeom prst="rect">
            <a:avLst/>
          </a:prstGeom>
          <a:noFill/>
        </p:spPr>
        <p:txBody>
          <a:bodyPr wrap="square">
            <a:spAutoFit/>
          </a:bodyPr>
          <a:lstStyle/>
          <a:p>
            <a:r>
              <a:t>Test CVaR 95%: 18.322 EUR/MWh.</a:t>
            </a:r>
          </a:p>
          <a:p>
            <a:endParaRPr/>
          </a:p>
          <a:p>
            <a:r>
              <a:t>Lowest test CVaR 99%: 34.620 EUR/MWh.</a:t>
            </a:r>
          </a:p>
        </p:txBody>
      </p:sp>
      <p:sp>
        <p:nvSpPr>
          <p:cNvPr id="86" name="TextBox 13">
            <a:extLst>
              <a:ext uri="{FF2B5EF4-FFF2-40B4-BE49-F238E27FC236}">
                <a16:creationId xmlns:a16="http://schemas.microsoft.com/office/drawing/2014/main" id="{5CC448DD-6D80-0A3F-CFE8-00814444B779}"/>
              </a:ext>
            </a:extLst>
          </p:cNvPr>
          <p:cNvSpPr txBox="1"/>
          <p:nvPr/>
        </p:nvSpPr>
        <p:spPr>
          <a:xfrm>
            <a:off x="815768" y="6015751"/>
            <a:ext cx="10881360" cy="369332"/>
          </a:xfrm>
          <a:prstGeom prst="rect">
            <a:avLst/>
          </a:prstGeom>
          <a:noFill/>
        </p:spPr>
        <p:txBody>
          <a:bodyPr wrap="square">
            <a:spAutoFit/>
          </a:bodyPr>
          <a:lstStyle/>
          <a:p>
            <a:r>
              <a:t>Our conclusion: all three reduce risk strongly, but CVaR adds only a small out-of-sample benefit here.</a:t>
            </a:r>
          </a:p>
        </p:txBody>
      </p:sp>
    </p:spTree>
    <p:extLst>
      <p:ext uri="{BB962C8B-B14F-4D97-AF65-F5344CB8AC3E}">
        <p14:creationId xmlns:p14="http://schemas.microsoft.com/office/powerpoint/2010/main" val="1902188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2999</TotalTime>
  <Words>2925</Words>
  <Application>Microsoft Office PowerPoint</Application>
  <PresentationFormat>Grand écran</PresentationFormat>
  <Paragraphs>222</Paragraphs>
  <Slides>25</Slides>
  <Notes>25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25</vt:i4>
      </vt:variant>
    </vt:vector>
  </HeadingPairs>
  <TitlesOfParts>
    <vt:vector size="33" baseType="lpstr">
      <vt:lpstr>Arial</vt:lpstr>
      <vt:lpstr>Calibri</vt:lpstr>
      <vt:lpstr>Calibri Light</vt:lpstr>
      <vt:lpstr>Cambria</vt:lpstr>
      <vt:lpstr>LMRoman12-Regular</vt:lpstr>
      <vt:lpstr>Open Sans</vt:lpstr>
      <vt:lpstr>Times New Roman</vt:lpstr>
      <vt:lpstr>Thème Office</vt:lpstr>
      <vt:lpstr>Présentation PowerPoint</vt:lpstr>
      <vt:lpstr>Présentation PowerPoint</vt:lpstr>
      <vt:lpstr>Motivation and Optimisation Problem</vt:lpstr>
      <vt:lpstr>Présentation PowerPoint</vt:lpstr>
      <vt:lpstr>Présentation PowerPoint</vt:lpstr>
      <vt:lpstr>Présentation PowerPoint</vt:lpstr>
      <vt:lpstr>Présentation PowerPoint</vt:lpstr>
      <vt:lpstr>Présentation PowerPoint</vt:lpstr>
      <vt:lpstr>Data &amp; Methodology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Empirical Results</vt:lpstr>
      <vt:lpstr>Présentation PowerPoint</vt:lpstr>
      <vt:lpstr>Présentation PowerPoint</vt:lpstr>
      <vt:lpstr>Présentation PowerPoint</vt:lpstr>
      <vt:lpstr>Présentation PowerPoint</vt:lpstr>
      <vt:lpstr>Présentation PowerPoint</vt:lpstr>
      <vt:lpstr>Conclusion &amp; Limitations</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Akram Sohaib Benaissa</dc:creator>
  <cp:lastModifiedBy>Akram Sohaib Benaissa</cp:lastModifiedBy>
  <cp:revision>7</cp:revision>
  <dcterms:created xsi:type="dcterms:W3CDTF">2026-10-26T10:56:49Z</dcterms:created>
  <dcterms:modified xsi:type="dcterms:W3CDTF">2026-10-29T13:30:59Z</dcterms:modified>
</cp:coreProperties>
</file>