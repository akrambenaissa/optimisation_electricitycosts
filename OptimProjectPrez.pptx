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381" r:id="rId2"/>
    <p:sldId id="257" r:id="rId3"/>
    <p:sldId id="382" r:id="rId4"/>
    <p:sldId id="384" r:id="rId5"/>
    <p:sldId id="385" r:id="rId6"/>
    <p:sldId id="387" r:id="rId7"/>
    <p:sldId id="388" r:id="rId8"/>
    <p:sldId id="389" r:id="rId9"/>
    <p:sldId id="401" r:id="rId10"/>
    <p:sldId id="402" r:id="rId11"/>
    <p:sldId id="390" r:id="rId12"/>
    <p:sldId id="403" r:id="rId13"/>
    <p:sldId id="391" r:id="rId14"/>
    <p:sldId id="397" r:id="rId15"/>
    <p:sldId id="404" r:id="rId16"/>
    <p:sldId id="405" r:id="rId17"/>
    <p:sldId id="406" r:id="rId18"/>
    <p:sldId id="394" r:id="rId19"/>
    <p:sldId id="395" r:id="rId20"/>
    <p:sldId id="40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0910" autoAdjust="0"/>
  </p:normalViewPr>
  <p:slideViewPr>
    <p:cSldViewPr snapToGrid="0">
      <p:cViewPr varScale="1">
        <p:scale>
          <a:sx n="65" d="100"/>
          <a:sy n="65" d="100"/>
        </p:scale>
        <p:origin x="1286" y="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AFE8EE-23C5-4D2D-88F3-10015487119E}" type="datetimeFigureOut">
              <a:rPr lang="en-US" smtClean="0"/>
              <a:t>10/28/2026</a:t>
            </a:fld>
            <a:endParaRPr lang="en-US"/>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59F99F-E0D4-43CE-ADE4-9F983422FA71}" type="slidenum">
              <a:rPr lang="en-US" smtClean="0"/>
              <a:t>‹N°›</a:t>
            </a:fld>
            <a:endParaRPr lang="en-US"/>
          </a:p>
        </p:txBody>
      </p:sp>
    </p:spTree>
    <p:extLst>
      <p:ext uri="{BB962C8B-B14F-4D97-AF65-F5344CB8AC3E}">
        <p14:creationId xmlns:p14="http://schemas.microsoft.com/office/powerpoint/2010/main" val="28763318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Good morning everyone. We are Group A, and today we are looking at a practical electricity risk management problem. Imagine a manufacturer in western Denmark that needs electricity every hour to keep production running. Electricity prices are volatile, so the company wants to know whether movements in neighboring markets can help offset that risk. We compare minimum variance hedging with two CVaR approaches, and we test the results on data the models have not seen.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Here is the route we will follow. We start with the business problem and what makes DK1 unusual. Then we introduce the electricity markets and explain how the optimization works. After that we look at the hedge allocations and test-period results. We finish with what a risk manager could actually take from the findings, as well as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76" name="Google Shape;7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Before discussing equations, it is worth asking why DK1 is an interesting case. It combines a high share of renewable generation, close links to other European power markets, and exposure to major price shocks. Those features make electricity prices difficult to manage and give us a strong motivation for a cross-market approach.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83c7c63cf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68" name="Google Shape;68;g3b83c7c63cf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First, renewable generation. Wind is important in western Denmark, but it changes with the weather. When wind output is high, supply can put downward pressure on electricity prices, sometimes even pushing them below zero. This matters for our company because electricity expenditure becomes harder to plan, even when production is relatively stable.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a:extLst>
            <a:ext uri="{FF2B5EF4-FFF2-40B4-BE49-F238E27FC236}">
              <a16:creationId xmlns:a16="http://schemas.microsoft.com/office/drawing/2014/main" id="{31A23688-40D7-A876-533A-432BFD4A776F}"/>
            </a:ext>
          </a:extLst>
        </p:cNvPr>
        <p:cNvGrpSpPr/>
        <p:nvPr/>
      </p:nvGrpSpPr>
      <p:grpSpPr>
        <a:xfrm>
          <a:off x="0" y="0"/>
          <a:ext cx="0" cy="0"/>
          <a:chOff x="0" y="0"/>
          <a:chExt cx="0" cy="0"/>
        </a:xfrm>
      </p:grpSpPr>
      <p:sp>
        <p:nvSpPr>
          <p:cNvPr id="67" name="Google Shape;67;g3b83c7c63cf_0_48:notes">
            <a:extLst>
              <a:ext uri="{FF2B5EF4-FFF2-40B4-BE49-F238E27FC236}">
                <a16:creationId xmlns:a16="http://schemas.microsoft.com/office/drawing/2014/main" id="{E030318D-5E08-81A7-E530-555E6D22B4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68" name="Google Shape;68;g3b83c7c63cf_0_48:notes">
            <a:extLst>
              <a:ext uri="{FF2B5EF4-FFF2-40B4-BE49-F238E27FC236}">
                <a16:creationId xmlns:a16="http://schemas.microsoft.com/office/drawing/2014/main" id="{34602849-73EC-B349-7A12-9895B7E04F2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Second, DK1 is connected to its neighbors. The map shows links to Germany and other Nordic bidding zones. Power flows across borders, so price changes in DK1 are not completely independent of what happens elsewhere. That creates a potential opportunity: perhaps a combination of other market prices can offset part of the movement in DK1.</a:t>
            </a:r>
          </a:p>
        </p:txBody>
      </p:sp>
    </p:spTree>
    <p:extLst>
      <p:ext uri="{BB962C8B-B14F-4D97-AF65-F5344CB8AC3E}">
        <p14:creationId xmlns:p14="http://schemas.microsoft.com/office/powerpoint/2010/main" val="24545365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a:extLst>
            <a:ext uri="{FF2B5EF4-FFF2-40B4-BE49-F238E27FC236}">
              <a16:creationId xmlns:a16="http://schemas.microsoft.com/office/drawing/2014/main" id="{6718A5F4-450B-F2E9-8886-888F412C5544}"/>
            </a:ext>
          </a:extLst>
        </p:cNvPr>
        <p:cNvGrpSpPr/>
        <p:nvPr/>
      </p:nvGrpSpPr>
      <p:grpSpPr>
        <a:xfrm>
          <a:off x="0" y="0"/>
          <a:ext cx="0" cy="0"/>
          <a:chOff x="0" y="0"/>
          <a:chExt cx="0" cy="0"/>
        </a:xfrm>
      </p:grpSpPr>
      <p:sp>
        <p:nvSpPr>
          <p:cNvPr id="67" name="Google Shape;67;g3b83c7c63cf_0_48:notes">
            <a:extLst>
              <a:ext uri="{FF2B5EF4-FFF2-40B4-BE49-F238E27FC236}">
                <a16:creationId xmlns:a16="http://schemas.microsoft.com/office/drawing/2014/main" id="{60C228C2-FEBB-2F15-6525-0FB17987DE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68" name="Google Shape;68;g3b83c7c63cf_0_48:notes">
            <a:extLst>
              <a:ext uri="{FF2B5EF4-FFF2-40B4-BE49-F238E27FC236}">
                <a16:creationId xmlns:a16="http://schemas.microsoft.com/office/drawing/2014/main" id="{2C237C8D-5FE0-C5E0-FA2A-22DDDA3972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Third, the energy crisis. During 2021 to 2023, prices rose sharply and the usual market environment changed. A hedge that looks good in calm years may behave differently during stress. This is why we evaluate the model out of sample rather than relying only on the period used to estimate the weights.</a:t>
            </a:r>
          </a:p>
        </p:txBody>
      </p:sp>
    </p:spTree>
    <p:extLst>
      <p:ext uri="{BB962C8B-B14F-4D97-AF65-F5344CB8AC3E}">
        <p14:creationId xmlns:p14="http://schemas.microsoft.com/office/powerpoint/2010/main" val="23859926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us make the case concrete. Our client is a hypothetical electricity-intensive manufacturer based in western Denmark. Its operations depend on power purchased at prices linked to DK1. The objective is not to predict the lowest possible electricity price. It is to make exposure to price movements more manageable, so budgeting and margins become less sensitive to sudden shocks.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practice, the company's electricity bill depends on the quantity it consumes and the price it pays. We do not have its hourly consumption or the terms of any real derivatives contracts. So we begin with a narrower, measurable question: can we reduce the variability of hourly DK1 spot-price changes using price changes in neighboring markets? This is a statistical proxy hedge, not yet a traded hedge.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chart shows the historical context. DK1 prices were relatively moderate before 2021, then increased sharply during the European energy crisis. The shaded band captures how wide the distribution of monthly hourly prices became. For our manufacturer, the point is simple: electricity prices can move a long way from what a budget might have assumed.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look at uncertainty rather than price levels. This is a rolling 30-day standard deviation of hourly DK1 prices. The spike around the crisis shows that risk is not stable through time. It is precisely these periods of elevated uncertainty that motivate a formal risk management approach.</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target market is DK1, western Denmark. We consider four possible proxy markets: Germany, eastern Denmark or DK2, southern Norway or NO2, and southern Sweden or SE4. We align the hourly delivery timestamps, account for time zones, and calculate absolute hourly price changes. We use changes in euros per megawatt-hour rather than percentage returns because electricity prices can be zero or negative.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heatmap gives us the first clue that hedging may work. DK1 price changes have relatively strong correlations with Germany and DK2, both around 0.8 in this sample. The Norwegian and Swedish markets are less closely related. Correlation alone does not tell us the optimal hedge, but it explains why these four markets are worth considering together.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model. We take the hourly price change in DK1 and subtract weighted price changes from the four proxy markets. The minimum variance strategy chooses weights to minimize the variance of that residual. We restrict weights to between zero and one, with a total no greater than one. We estimate on the first 70 percent of observations and reserve the last 30 percent for testing.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Variance captures overall fluctuations, but management may be especially concerned about the largest upward price shocks. That is where conditional value at risk, or CVaR, comes in. CVaR 95 percent measures the average residual increase among the worst five percent of observations, and CVaR 99 percent focuses on the worst one percent. We optimize those objectives under the same weight constraints, so the comparison is fair.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strategies make noticeably different allocation choices. Minimum variance divides most of the weight between Germany and DK2. CVaR 95 percent puts more emphasis on DK2, while CVaR 99 percent shifts more toward Germany. So the objective function matters for how we construct the hedge, even before we compare its effectiveness.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distribution is a useful visual summary of the result. The unhedged DK1 changes are spread widely across positive and negative outcomes. After applying the proxy hedge, the distribution is much more concentrated near zero. That tells us the strategies are offsetting a substantial part of hourly price-change variation on the test sample. It does not mean the company's actual electricity bill would fall by the same amount.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we focus on the most adverse upward residual price changes. Unhedged CVaR is about 49.3 euros per megawatt-hour at 95 percent and 88.2 at 99 percent. All three optimized strategies reduce these figures substantially. CVaR 95 percent has the lowest 95 percent tail measure, at 18.25, while minimum variance has the lowest 99 percent tail measure, at 34.62. The differences between the three hedges are very small.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does this mean for management? The statistical evidence is encouraging. A basket of neighboring market price changes offsets much of DK1's hourly movement in the held-out sample. But the model uses spot prices only. We have not priced futures or swaps, accounted for the company's actual consumption, or calculated hedge cash flows. So these are risk-offset results, not proven savings on electricity bills.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implementing anything, we would recommend four practical steps. First, test whether the weights remain stable in rolling windows and across different market regimes. Second, include the company's hourly consumption and procurement contracts. Third, identify tradable instruments and assess basis risk and liquidity. Finally, incorporate transaction costs, collateral requirements, and actual cash flows.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cross-market proxy hedging appears promising for our hypothetical Danish manufacturer. All three optimized strategies materially reduce historical price-change risk. CVaR 95 percent is marginally better on the 95 percent tail measure, but minimum variance is at least as competitive at the 99 percent level. Our recommendation is to treat minimum variance as a strong benchmark and test robustness and real-market feasibility before choosing a strategy. Thank you, and we are happy to take your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C56FDC8-2C75-5268-2182-B73CA2421CE5}"/>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a:p>
        </p:txBody>
      </p:sp>
      <p:sp>
        <p:nvSpPr>
          <p:cNvPr id="3" name="Sous-titre 2">
            <a:extLst>
              <a:ext uri="{FF2B5EF4-FFF2-40B4-BE49-F238E27FC236}">
                <a16:creationId xmlns:a16="http://schemas.microsoft.com/office/drawing/2014/main" id="{F9FE4EE9-CCB1-608C-2AE7-34EB45F069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a:p>
        </p:txBody>
      </p:sp>
      <p:sp>
        <p:nvSpPr>
          <p:cNvPr id="4" name="Espace réservé de la date 3">
            <a:extLst>
              <a:ext uri="{FF2B5EF4-FFF2-40B4-BE49-F238E27FC236}">
                <a16:creationId xmlns:a16="http://schemas.microsoft.com/office/drawing/2014/main" id="{1A12BC23-08F8-7530-2BEC-C8922B356D06}"/>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6518BC8C-F9F7-9092-70F1-2E2A71ACC9B0}"/>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DE04020A-56A4-450F-C844-476D4517AD8F}"/>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1680941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5C69359-6D38-8041-003A-59CA0EB86EEF}"/>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86E5CDE3-D0BA-D098-5C7C-0BB688D7AAD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71801029-DC36-44BF-7E80-4500BF5DEE7D}"/>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3F52EF7A-91DF-3219-66DE-154A6982F602}"/>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05B6DB6F-5E55-E8F5-1AB4-A78425E2511D}"/>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242514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E367517-7D39-5860-98BA-3426C5E1B34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en-US"/>
          </a:p>
        </p:txBody>
      </p:sp>
      <p:sp>
        <p:nvSpPr>
          <p:cNvPr id="3" name="Espace réservé du texte 2">
            <a:extLst>
              <a:ext uri="{FF2B5EF4-FFF2-40B4-BE49-F238E27FC236}">
                <a16:creationId xmlns:a16="http://schemas.microsoft.com/office/drawing/2014/main" id="{215F6CB1-C34E-8490-49A4-BDF637C0B68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920B634C-9D59-579F-4930-2953B44699F5}"/>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C553AB42-A3D7-B045-4C9A-DEC8531C4532}"/>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72D20C93-981A-D4FD-D558-4A1F9ECD1D0D}"/>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5498694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E1905E-5E94-C592-F183-BEFE79534F21}"/>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9EFCFC8E-53EA-8276-A858-284AD3500C95}"/>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a:extLst>
              <a:ext uri="{FF2B5EF4-FFF2-40B4-BE49-F238E27FC236}">
                <a16:creationId xmlns:a16="http://schemas.microsoft.com/office/drawing/2014/main" id="{E3608D6D-0E09-6C10-7AC4-F0490716ECB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a:extLst>
              <a:ext uri="{FF2B5EF4-FFF2-40B4-BE49-F238E27FC236}">
                <a16:creationId xmlns:a16="http://schemas.microsoft.com/office/drawing/2014/main" id="{C018A528-326A-968F-A2F9-B70151650AB9}"/>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6" name="Espace réservé du pied de page 5">
            <a:extLst>
              <a:ext uri="{FF2B5EF4-FFF2-40B4-BE49-F238E27FC236}">
                <a16:creationId xmlns:a16="http://schemas.microsoft.com/office/drawing/2014/main" id="{A2BD446B-6718-901F-BF34-89E9BD3717C0}"/>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CD36E085-7AB4-10D4-6F40-C9BECC000885}"/>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21302443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C26D5A-713B-2070-B002-C80EB4C6F482}"/>
              </a:ext>
            </a:extLst>
          </p:cNvPr>
          <p:cNvSpPr>
            <a:spLocks noGrp="1"/>
          </p:cNvSpPr>
          <p:nvPr>
            <p:ph type="title"/>
          </p:nvPr>
        </p:nvSpPr>
        <p:spPr>
          <a:xfrm>
            <a:off x="839788" y="365125"/>
            <a:ext cx="10515600" cy="1325563"/>
          </a:xfrm>
        </p:spPr>
        <p:txBody>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E6C05413-CEC1-F97B-84C9-AB187A9A9AD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D81EAA32-B8C3-BEE5-9F1C-3F1EBC7B4444}"/>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u texte 4">
            <a:extLst>
              <a:ext uri="{FF2B5EF4-FFF2-40B4-BE49-F238E27FC236}">
                <a16:creationId xmlns:a16="http://schemas.microsoft.com/office/drawing/2014/main" id="{8E58AFCC-5343-7215-8770-9C1D73F3930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2C675EFD-FDC3-FF8D-8E37-EFD014C41D97}"/>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6">
            <a:extLst>
              <a:ext uri="{FF2B5EF4-FFF2-40B4-BE49-F238E27FC236}">
                <a16:creationId xmlns:a16="http://schemas.microsoft.com/office/drawing/2014/main" id="{E06341CE-AC07-CB16-CE85-735B195AFA24}"/>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8" name="Espace réservé du pied de page 7">
            <a:extLst>
              <a:ext uri="{FF2B5EF4-FFF2-40B4-BE49-F238E27FC236}">
                <a16:creationId xmlns:a16="http://schemas.microsoft.com/office/drawing/2014/main" id="{30793A5E-A52E-F398-5F1B-71467A65268D}"/>
              </a:ext>
            </a:extLst>
          </p:cNvPr>
          <p:cNvSpPr>
            <a:spLocks noGrp="1"/>
          </p:cNvSpPr>
          <p:nvPr>
            <p:ph type="ftr" sz="quarter" idx="11"/>
          </p:nvPr>
        </p:nvSpPr>
        <p:spPr/>
        <p:txBody>
          <a:bodyPr/>
          <a:lstStyle/>
          <a:p>
            <a:endParaRPr lang="en-US"/>
          </a:p>
        </p:txBody>
      </p:sp>
      <p:sp>
        <p:nvSpPr>
          <p:cNvPr id="9" name="Espace réservé du numéro de diapositive 8">
            <a:extLst>
              <a:ext uri="{FF2B5EF4-FFF2-40B4-BE49-F238E27FC236}">
                <a16:creationId xmlns:a16="http://schemas.microsoft.com/office/drawing/2014/main" id="{BA87CD8C-FA7D-926C-E59E-FF80C965AB12}"/>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24535284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B5C40A4-39C0-1971-FB0A-0874C5C0AF13}"/>
              </a:ext>
            </a:extLst>
          </p:cNvPr>
          <p:cNvSpPr>
            <a:spLocks noGrp="1"/>
          </p:cNvSpPr>
          <p:nvPr>
            <p:ph type="title"/>
          </p:nvPr>
        </p:nvSpPr>
        <p:spPr/>
        <p:txBody>
          <a:bodyPr/>
          <a:lstStyle/>
          <a:p>
            <a:r>
              <a:rPr lang="fr-FR"/>
              <a:t>Modifiez le style du titre</a:t>
            </a:r>
            <a:endParaRPr lang="en-US"/>
          </a:p>
        </p:txBody>
      </p:sp>
      <p:sp>
        <p:nvSpPr>
          <p:cNvPr id="3" name="Espace réservé de la date 2">
            <a:extLst>
              <a:ext uri="{FF2B5EF4-FFF2-40B4-BE49-F238E27FC236}">
                <a16:creationId xmlns:a16="http://schemas.microsoft.com/office/drawing/2014/main" id="{F102D864-7F54-84ED-917F-91279568BC9A}"/>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4" name="Espace réservé du pied de page 3">
            <a:extLst>
              <a:ext uri="{FF2B5EF4-FFF2-40B4-BE49-F238E27FC236}">
                <a16:creationId xmlns:a16="http://schemas.microsoft.com/office/drawing/2014/main" id="{E2DE637C-7480-4D5D-2713-2EF13270A2F2}"/>
              </a:ext>
            </a:extLst>
          </p:cNvPr>
          <p:cNvSpPr>
            <a:spLocks noGrp="1"/>
          </p:cNvSpPr>
          <p:nvPr>
            <p:ph type="ftr" sz="quarter" idx="11"/>
          </p:nvPr>
        </p:nvSpPr>
        <p:spPr/>
        <p:txBody>
          <a:bodyPr/>
          <a:lstStyle/>
          <a:p>
            <a:endParaRPr lang="en-US"/>
          </a:p>
        </p:txBody>
      </p:sp>
      <p:sp>
        <p:nvSpPr>
          <p:cNvPr id="5" name="Espace réservé du numéro de diapositive 4">
            <a:extLst>
              <a:ext uri="{FF2B5EF4-FFF2-40B4-BE49-F238E27FC236}">
                <a16:creationId xmlns:a16="http://schemas.microsoft.com/office/drawing/2014/main" id="{A121CDFE-275A-2B38-8356-710893C05B2C}"/>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1584743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C85036D-02D9-2F43-F512-5FA43D805268}"/>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3" name="Espace réservé du pied de page 2">
            <a:extLst>
              <a:ext uri="{FF2B5EF4-FFF2-40B4-BE49-F238E27FC236}">
                <a16:creationId xmlns:a16="http://schemas.microsoft.com/office/drawing/2014/main" id="{A2D10D23-3C7B-B6E2-6062-33DDDB7AEBF9}"/>
              </a:ext>
            </a:extLst>
          </p:cNvPr>
          <p:cNvSpPr>
            <a:spLocks noGrp="1"/>
          </p:cNvSpPr>
          <p:nvPr>
            <p:ph type="ftr" sz="quarter" idx="11"/>
          </p:nvPr>
        </p:nvSpPr>
        <p:spPr/>
        <p:txBody>
          <a:bodyPr/>
          <a:lstStyle/>
          <a:p>
            <a:endParaRPr lang="en-US"/>
          </a:p>
        </p:txBody>
      </p:sp>
      <p:sp>
        <p:nvSpPr>
          <p:cNvPr id="4" name="Espace réservé du numéro de diapositive 3">
            <a:extLst>
              <a:ext uri="{FF2B5EF4-FFF2-40B4-BE49-F238E27FC236}">
                <a16:creationId xmlns:a16="http://schemas.microsoft.com/office/drawing/2014/main" id="{154FC6B0-692F-A4D2-CCC0-0C8EB84196B4}"/>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3047743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102987-B10E-7E01-0BA3-B25A31712D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du contenu 2">
            <a:extLst>
              <a:ext uri="{FF2B5EF4-FFF2-40B4-BE49-F238E27FC236}">
                <a16:creationId xmlns:a16="http://schemas.microsoft.com/office/drawing/2014/main" id="{6D20F7C9-7089-CE8D-C8C7-40D535D66E0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texte 3">
            <a:extLst>
              <a:ext uri="{FF2B5EF4-FFF2-40B4-BE49-F238E27FC236}">
                <a16:creationId xmlns:a16="http://schemas.microsoft.com/office/drawing/2014/main" id="{11A82FCD-50AA-1351-A000-8B2F51CDB6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16F2C246-082F-76CD-1092-B1E120BA738A}"/>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6" name="Espace réservé du pied de page 5">
            <a:extLst>
              <a:ext uri="{FF2B5EF4-FFF2-40B4-BE49-F238E27FC236}">
                <a16:creationId xmlns:a16="http://schemas.microsoft.com/office/drawing/2014/main" id="{AAE529FA-28B4-0EAB-E9AA-BD363ABB422E}"/>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B7292794-C29F-9B5C-3F48-AEC314486630}"/>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26035600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F082913-C96B-B91D-D3B3-8799F795A97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pour une image  2">
            <a:extLst>
              <a:ext uri="{FF2B5EF4-FFF2-40B4-BE49-F238E27FC236}">
                <a16:creationId xmlns:a16="http://schemas.microsoft.com/office/drawing/2014/main" id="{F2E0696D-D2C2-4D57-CD8B-F0D7133D4BE1}"/>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ce réservé du texte 3">
            <a:extLst>
              <a:ext uri="{FF2B5EF4-FFF2-40B4-BE49-F238E27FC236}">
                <a16:creationId xmlns:a16="http://schemas.microsoft.com/office/drawing/2014/main" id="{5671AE0F-5946-5EDD-3B5E-C36D00AB33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5BC60FA3-6DDD-7DDA-2A2A-308516EB4A06}"/>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6" name="Espace réservé du pied de page 5">
            <a:extLst>
              <a:ext uri="{FF2B5EF4-FFF2-40B4-BE49-F238E27FC236}">
                <a16:creationId xmlns:a16="http://schemas.microsoft.com/office/drawing/2014/main" id="{7D75C015-258E-9E4B-C89E-FCCF7A2E4F38}"/>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AAE0FAFF-0480-01F6-8AC2-09E32D229A0B}"/>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12626010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1E89B98-53DE-FD3E-E12F-42E89DD5E5EB}"/>
              </a:ext>
            </a:extLst>
          </p:cNvPr>
          <p:cNvSpPr>
            <a:spLocks noGrp="1"/>
          </p:cNvSpPr>
          <p:nvPr>
            <p:ph type="title"/>
          </p:nvPr>
        </p:nvSpPr>
        <p:spPr/>
        <p:txBody>
          <a:bodyPr/>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15868984-0F63-6700-9D96-D04656409D16}"/>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91EA038E-A2EF-2FC9-884C-1BFD87BDBF4B}"/>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D32C2844-D2F1-E1B9-0181-542BC02C974D}"/>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CAE5DE5D-5716-10EE-796A-ECE12E13A6CA}"/>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3318120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FC61B981-0DCF-BAAE-1D80-77E23CF8419C}"/>
              </a:ext>
            </a:extLst>
          </p:cNvPr>
          <p:cNvSpPr>
            <a:spLocks noGrp="1"/>
          </p:cNvSpPr>
          <p:nvPr>
            <p:ph type="title" orient="vert"/>
          </p:nvPr>
        </p:nvSpPr>
        <p:spPr>
          <a:xfrm>
            <a:off x="8724900" y="365125"/>
            <a:ext cx="2628900" cy="5811838"/>
          </a:xfrm>
        </p:spPr>
        <p:txBody>
          <a:bodyPr vert="eaVert"/>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DF598D01-FF77-E164-994D-8D1B121AF437}"/>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6DF51227-C300-E59C-3301-7363C469C367}"/>
              </a:ext>
            </a:extLst>
          </p:cNvPr>
          <p:cNvSpPr>
            <a:spLocks noGrp="1"/>
          </p:cNvSpPr>
          <p:nvPr>
            <p:ph type="dt" sz="half" idx="10"/>
          </p:nvPr>
        </p:nvSpPr>
        <p:spPr/>
        <p:txBody>
          <a:body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6DAA385C-D960-0860-6FF4-BB6DBE79F404}"/>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60386B64-D348-E32F-B609-89BAD2CF9705}"/>
              </a:ext>
            </a:extLst>
          </p:cNvPr>
          <p:cNvSpPr>
            <a:spLocks noGrp="1"/>
          </p:cNvSpPr>
          <p:nvPr>
            <p:ph type="sldNum" sz="quarter" idx="12"/>
          </p:nvPr>
        </p:nvSpPr>
        <p:spPr/>
        <p:txBody>
          <a:bodyPr/>
          <a:lstStyle/>
          <a:p>
            <a:fld id="{D34FDC64-D606-4700-92C5-C2CE9037D79B}" type="slidenum">
              <a:rPr lang="en-US" smtClean="0"/>
              <a:t>‹N°›</a:t>
            </a:fld>
            <a:endParaRPr lang="en-US"/>
          </a:p>
        </p:txBody>
      </p:sp>
    </p:spTree>
    <p:extLst>
      <p:ext uri="{BB962C8B-B14F-4D97-AF65-F5344CB8AC3E}">
        <p14:creationId xmlns:p14="http://schemas.microsoft.com/office/powerpoint/2010/main" val="34761306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7426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0205D95-5D1C-2912-4CDB-486FB337EB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0F4EA02F-D69C-9E51-F11E-FB0EB59822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9108C67A-A624-0EB1-A6CC-1EA7A7A93FB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07550D6-67AF-4C1D-A2F8-B885D2E138E0}" type="datetimeFigureOut">
              <a:rPr lang="en-US" smtClean="0"/>
              <a:t>10/28/2026</a:t>
            </a:fld>
            <a:endParaRPr lang="en-US"/>
          </a:p>
        </p:txBody>
      </p:sp>
      <p:sp>
        <p:nvSpPr>
          <p:cNvPr id="5" name="Espace réservé du pied de page 4">
            <a:extLst>
              <a:ext uri="{FF2B5EF4-FFF2-40B4-BE49-F238E27FC236}">
                <a16:creationId xmlns:a16="http://schemas.microsoft.com/office/drawing/2014/main" id="{5B376189-E227-DB62-3C1B-C1D9D3D22A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ce réservé du numéro de diapositive 5">
            <a:extLst>
              <a:ext uri="{FF2B5EF4-FFF2-40B4-BE49-F238E27FC236}">
                <a16:creationId xmlns:a16="http://schemas.microsoft.com/office/drawing/2014/main" id="{F86DC5D4-779B-125A-0551-D5C6E38B67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34FDC64-D606-4700-92C5-C2CE9037D79B}" type="slidenum">
              <a:rPr lang="en-US" smtClean="0"/>
              <a:t>‹N°›</a:t>
            </a:fld>
            <a:endParaRPr lang="en-US"/>
          </a:p>
        </p:txBody>
      </p:sp>
    </p:spTree>
    <p:extLst>
      <p:ext uri="{BB962C8B-B14F-4D97-AF65-F5344CB8AC3E}">
        <p14:creationId xmlns:p14="http://schemas.microsoft.com/office/powerpoint/2010/main" val="11883092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p:nvPr/>
        </p:nvSpPr>
        <p:spPr>
          <a:xfrm>
            <a:off x="-33" y="2229307"/>
            <a:ext cx="12192000" cy="1991711"/>
          </a:xfrm>
          <a:prstGeom prst="rect">
            <a:avLst/>
          </a:prstGeom>
          <a:solidFill>
            <a:srgbClr val="7030A0"/>
          </a:solidFill>
          <a:ln>
            <a:noFill/>
          </a:ln>
        </p:spPr>
        <p:txBody>
          <a:bodyPr spcFirstLastPara="1" wrap="square" lIns="121900" tIns="121900" rIns="121900" bIns="121900" anchor="ctr" anchorCtr="0">
            <a:noAutofit/>
          </a:bodyPr>
          <a:lstStyle/>
          <a:p>
            <a:pPr algn="ctr">
              <a:buClr>
                <a:srgbClr val="000000"/>
              </a:buClr>
              <a:buSzPts val="1400"/>
            </a:pPr>
            <a:endParaRPr sz="1867">
              <a:solidFill>
                <a:srgbClr val="000000"/>
              </a:solidFill>
              <a:latin typeface="Arial"/>
              <a:ea typeface="Arial"/>
              <a:cs typeface="Arial"/>
              <a:sym typeface="Arial"/>
            </a:endParaRPr>
          </a:p>
        </p:txBody>
      </p:sp>
      <p:sp>
        <p:nvSpPr>
          <p:cNvPr id="55" name="Google Shape;55;p1"/>
          <p:cNvSpPr txBox="1"/>
          <p:nvPr/>
        </p:nvSpPr>
        <p:spPr>
          <a:xfrm>
            <a:off x="1126566" y="2103629"/>
            <a:ext cx="9938800" cy="1235600"/>
          </a:xfrm>
          <a:prstGeom prst="rect">
            <a:avLst/>
          </a:prstGeom>
          <a:noFill/>
          <a:ln>
            <a:noFill/>
          </a:ln>
          <a:effectLst>
            <a:outerShdw blurRad="28575" dist="19050" dir="5400000" algn="bl" rotWithShape="0">
              <a:srgbClr val="000000">
                <a:alpha val="29411"/>
              </a:srgbClr>
            </a:outerShdw>
          </a:effectLst>
        </p:spPr>
        <p:txBody>
          <a:bodyPr spcFirstLastPara="1" wrap="square" lIns="121900" tIns="121900" rIns="121900" bIns="121900" anchor="ctr" anchorCtr="0">
            <a:noAutofit/>
          </a:bodyPr>
          <a:lstStyle/>
          <a:p>
            <a:pPr algn="ctr">
              <a:lnSpc>
                <a:spcPct val="105000"/>
              </a:lnSpc>
            </a:pPr>
            <a:r>
              <a:rPr lang="en-US" sz="2800" b="1" dirty="0">
                <a:solidFill>
                  <a:srgbClr val="FFFFFF"/>
                </a:solidFill>
                <a:latin typeface="Cambria" pitchFamily="34" charset="0"/>
                <a:ea typeface="Cambria" pitchFamily="34" charset="-122"/>
                <a:cs typeface="Cambria" pitchFamily="34" charset="-120"/>
              </a:rPr>
              <a:t>Minimum Variance Hedging of Electricity Price Risk</a:t>
            </a:r>
          </a:p>
        </p:txBody>
      </p:sp>
      <p:sp>
        <p:nvSpPr>
          <p:cNvPr id="56" name="Google Shape;56;p1"/>
          <p:cNvSpPr txBox="1"/>
          <p:nvPr/>
        </p:nvSpPr>
        <p:spPr>
          <a:xfrm>
            <a:off x="132522" y="6078640"/>
            <a:ext cx="11926956" cy="904459"/>
          </a:xfrm>
          <a:prstGeom prst="rect">
            <a:avLst/>
          </a:prstGeom>
          <a:noFill/>
          <a:ln>
            <a:noFill/>
          </a:ln>
          <a:effectLst>
            <a:outerShdw blurRad="28575" dist="19050" dir="5400000" algn="bl" rotWithShape="0">
              <a:srgbClr val="000000">
                <a:alpha val="29411"/>
              </a:srgbClr>
            </a:outerShdw>
          </a:effectLst>
        </p:spPr>
        <p:txBody>
          <a:bodyPr spcFirstLastPara="1" wrap="square" lIns="121900" tIns="121900" rIns="121900" bIns="121900" anchor="t" anchorCtr="0">
            <a:noAutofit/>
          </a:bodyPr>
          <a:lstStyle/>
          <a:p>
            <a:pPr algn="ctr">
              <a:lnSpc>
                <a:spcPct val="90000"/>
              </a:lnSpc>
              <a:buClr>
                <a:srgbClr val="000000"/>
              </a:buClr>
              <a:buSzPts val="1100"/>
            </a:pPr>
            <a:r>
              <a:rPr lang="fr" sz="900" b="1" dirty="0">
                <a:latin typeface="Open Sans"/>
                <a:ea typeface="Open Sans"/>
                <a:cs typeface="Open Sans"/>
                <a:sym typeface="Open Sans"/>
              </a:rPr>
              <a:t>Groupe A</a:t>
            </a:r>
          </a:p>
          <a:p>
            <a:pPr algn="ctr">
              <a:lnSpc>
                <a:spcPct val="90000"/>
              </a:lnSpc>
              <a:buClr>
                <a:srgbClr val="000000"/>
              </a:buClr>
              <a:buSzPts val="1100"/>
            </a:pPr>
            <a:endParaRPr lang="fr" sz="900" b="1" dirty="0">
              <a:latin typeface="Open Sans"/>
              <a:ea typeface="Open Sans"/>
              <a:cs typeface="Open Sans"/>
              <a:sym typeface="Open Sans"/>
            </a:endParaRPr>
          </a:p>
          <a:p>
            <a:pPr algn="ctr">
              <a:lnSpc>
                <a:spcPct val="90000"/>
              </a:lnSpc>
              <a:buClr>
                <a:srgbClr val="000000"/>
              </a:buClr>
              <a:buSzPts val="1100"/>
            </a:pPr>
            <a:r>
              <a:rPr lang="fr" sz="900" b="1" dirty="0">
                <a:latin typeface="Open Sans"/>
                <a:ea typeface="Open Sans"/>
                <a:cs typeface="Open Sans"/>
                <a:sym typeface="Open Sans"/>
              </a:rPr>
              <a:t>Akram BENAISSA    -    Rania BESSROUR    -    </a:t>
            </a:r>
            <a:r>
              <a:rPr lang="en-US" sz="900" b="1" dirty="0">
                <a:latin typeface="Open Sans"/>
                <a:ea typeface="Open Sans"/>
                <a:cs typeface="Open Sans"/>
                <a:sym typeface="Open Sans"/>
              </a:rPr>
              <a:t>HENIN Baptiste</a:t>
            </a:r>
            <a:r>
              <a:rPr lang="fr" sz="900" b="1" dirty="0">
                <a:latin typeface="Open Sans"/>
                <a:ea typeface="Open Sans"/>
                <a:cs typeface="Open Sans"/>
                <a:sym typeface="Open Sans"/>
              </a:rPr>
              <a:t>    -    </a:t>
            </a:r>
            <a:r>
              <a:rPr lang="en-US" sz="900" b="1" dirty="0">
                <a:latin typeface="Open Sans"/>
                <a:ea typeface="Open Sans"/>
                <a:cs typeface="Open Sans"/>
                <a:sym typeface="Open Sans"/>
              </a:rPr>
              <a:t>Mon-</a:t>
            </a:r>
            <a:r>
              <a:rPr lang="en-US" sz="900" b="1" dirty="0" err="1">
                <a:latin typeface="Open Sans"/>
                <a:ea typeface="Open Sans"/>
                <a:cs typeface="Open Sans"/>
                <a:sym typeface="Open Sans"/>
              </a:rPr>
              <a:t>desir</a:t>
            </a:r>
            <a:r>
              <a:rPr lang="en-US" sz="900" b="1" dirty="0">
                <a:latin typeface="Open Sans"/>
                <a:ea typeface="Open Sans"/>
                <a:cs typeface="Open Sans"/>
                <a:sym typeface="Open Sans"/>
              </a:rPr>
              <a:t> </a:t>
            </a:r>
            <a:r>
              <a:rPr lang="en-US" sz="900" b="1" dirty="0" err="1">
                <a:latin typeface="Open Sans"/>
                <a:ea typeface="Open Sans"/>
                <a:cs typeface="Open Sans"/>
                <a:sym typeface="Open Sans"/>
              </a:rPr>
              <a:t>honce</a:t>
            </a:r>
            <a:r>
              <a:rPr lang="en-US" sz="900" b="1" dirty="0">
                <a:latin typeface="Open Sans"/>
                <a:ea typeface="Open Sans"/>
                <a:cs typeface="Open Sans"/>
                <a:sym typeface="Open Sans"/>
              </a:rPr>
              <a:t> ABDIAS MADOU</a:t>
            </a:r>
            <a:r>
              <a:rPr lang="fr" sz="900" b="1" dirty="0">
                <a:latin typeface="Open Sans"/>
                <a:ea typeface="Open Sans"/>
                <a:cs typeface="Open Sans"/>
                <a:sym typeface="Open Sans"/>
              </a:rPr>
              <a:t>    -    </a:t>
            </a:r>
            <a:r>
              <a:rPr lang="en-US" sz="900" b="1" dirty="0">
                <a:latin typeface="Open Sans"/>
                <a:ea typeface="Open Sans"/>
                <a:cs typeface="Open Sans"/>
                <a:sym typeface="Open Sans"/>
              </a:rPr>
              <a:t>Lilian NKWEMFO TCHAMI </a:t>
            </a:r>
          </a:p>
          <a:p>
            <a:pPr algn="ctr">
              <a:lnSpc>
                <a:spcPct val="100000"/>
              </a:lnSpc>
              <a:buClr>
                <a:srgbClr val="000000"/>
              </a:buClr>
              <a:buSzPts val="1100"/>
            </a:pPr>
            <a:endParaRPr lang="fr" sz="900" b="1" dirty="0">
              <a:latin typeface="Open Sans"/>
              <a:ea typeface="Open Sans"/>
              <a:cs typeface="Open Sans"/>
              <a:sym typeface="Open Sans"/>
            </a:endParaRPr>
          </a:p>
          <a:p>
            <a:pPr algn="ctr">
              <a:lnSpc>
                <a:spcPct val="90000"/>
              </a:lnSpc>
              <a:buClr>
                <a:srgbClr val="000000"/>
              </a:buClr>
              <a:buSzPts val="1100"/>
            </a:pPr>
            <a:endParaRPr sz="900" b="1" dirty="0">
              <a:latin typeface="Open Sans"/>
              <a:ea typeface="Open Sans"/>
              <a:cs typeface="Open Sans"/>
              <a:sym typeface="Open Sans"/>
            </a:endParaRPr>
          </a:p>
        </p:txBody>
      </p:sp>
      <p:sp>
        <p:nvSpPr>
          <p:cNvPr id="57" name="Google Shape;57;p1"/>
          <p:cNvSpPr txBox="1"/>
          <p:nvPr/>
        </p:nvSpPr>
        <p:spPr>
          <a:xfrm>
            <a:off x="5520859" y="4928505"/>
            <a:ext cx="1150216" cy="468000"/>
          </a:xfrm>
          <a:prstGeom prst="rect">
            <a:avLst/>
          </a:prstGeom>
          <a:noFill/>
          <a:ln>
            <a:noFill/>
          </a:ln>
          <a:effectLst>
            <a:outerShdw blurRad="57150" dist="19050" dir="5400000" algn="bl" rotWithShape="0">
              <a:srgbClr val="000000">
                <a:alpha val="50196"/>
              </a:srgbClr>
            </a:outerShdw>
          </a:effectLst>
        </p:spPr>
        <p:txBody>
          <a:bodyPr spcFirstLastPara="1" wrap="square" lIns="121900" tIns="121900" rIns="121900" bIns="121900" anchor="t" anchorCtr="0">
            <a:noAutofit/>
          </a:bodyPr>
          <a:lstStyle/>
          <a:p>
            <a:pPr>
              <a:buClr>
                <a:srgbClr val="000000"/>
              </a:buClr>
              <a:buSzPts val="1200"/>
            </a:pPr>
            <a:r>
              <a:rPr lang="fr" sz="1600" dirty="0">
                <a:solidFill>
                  <a:schemeClr val="dk1"/>
                </a:solidFill>
                <a:latin typeface="Times New Roman"/>
                <a:ea typeface="Times New Roman"/>
                <a:cs typeface="Times New Roman"/>
                <a:sym typeface="Times New Roman"/>
              </a:rPr>
              <a:t>2026/2027</a:t>
            </a:r>
            <a:endParaRPr sz="1600" dirty="0">
              <a:solidFill>
                <a:schemeClr val="dk1"/>
              </a:solidFill>
              <a:latin typeface="Times New Roman"/>
              <a:ea typeface="Times New Roman"/>
              <a:cs typeface="Times New Roman"/>
              <a:sym typeface="Times New Roman"/>
            </a:endParaRPr>
          </a:p>
        </p:txBody>
      </p:sp>
      <p:sp>
        <p:nvSpPr>
          <p:cNvPr id="58" name="Google Shape;58;p1"/>
          <p:cNvSpPr/>
          <p:nvPr/>
        </p:nvSpPr>
        <p:spPr>
          <a:xfrm rot="10800000" flipH="1">
            <a:off x="1999800" y="3620805"/>
            <a:ext cx="8192400" cy="21600"/>
          </a:xfrm>
          <a:prstGeom prst="rect">
            <a:avLst/>
          </a:prstGeom>
          <a:solidFill>
            <a:schemeClr val="lt1"/>
          </a:solidFill>
          <a:ln>
            <a:noFill/>
          </a:ln>
        </p:spPr>
        <p:txBody>
          <a:bodyPr spcFirstLastPara="1" wrap="square" lIns="121900" tIns="121900" rIns="121900" bIns="121900" anchor="ctr" anchorCtr="0">
            <a:noAutofit/>
          </a:bodyPr>
          <a:lstStyle/>
          <a:p>
            <a:pPr algn="ctr">
              <a:buClr>
                <a:srgbClr val="000000"/>
              </a:buClr>
              <a:buSzPts val="1400"/>
            </a:pPr>
            <a:endParaRPr sz="1867">
              <a:solidFill>
                <a:srgbClr val="000000"/>
              </a:solidFill>
              <a:latin typeface="Arial"/>
              <a:ea typeface="Arial"/>
              <a:cs typeface="Arial"/>
              <a:sym typeface="Arial"/>
            </a:endParaRPr>
          </a:p>
        </p:txBody>
      </p:sp>
      <p:sp>
        <p:nvSpPr>
          <p:cNvPr id="61" name="Google Shape;61;p1"/>
          <p:cNvSpPr txBox="1"/>
          <p:nvPr/>
        </p:nvSpPr>
        <p:spPr>
          <a:xfrm>
            <a:off x="4060367" y="4453577"/>
            <a:ext cx="4071200" cy="627200"/>
          </a:xfrm>
          <a:prstGeom prst="rect">
            <a:avLst/>
          </a:prstGeom>
          <a:noFill/>
          <a:ln>
            <a:noFill/>
          </a:ln>
          <a:effectLst>
            <a:outerShdw blurRad="57150" dist="19050" dir="5400000" algn="bl" rotWithShape="0">
              <a:srgbClr val="000000">
                <a:alpha val="50199"/>
              </a:srgbClr>
            </a:outerShdw>
          </a:effectLst>
        </p:spPr>
        <p:txBody>
          <a:bodyPr spcFirstLastPara="1" wrap="square" lIns="121900" tIns="121900" rIns="121900" bIns="121900" anchor="t" anchorCtr="0">
            <a:noAutofit/>
          </a:bodyPr>
          <a:lstStyle/>
          <a:p>
            <a:pPr algn="ctr">
              <a:spcBef>
                <a:spcPts val="800"/>
              </a:spcBef>
              <a:spcAft>
                <a:spcPts val="800"/>
              </a:spcAft>
              <a:buClr>
                <a:schemeClr val="dk1"/>
              </a:buClr>
              <a:buSzPts val="1100"/>
            </a:pPr>
            <a:r>
              <a:rPr lang="fr" sz="1467" b="1" dirty="0">
                <a:latin typeface="Times New Roman"/>
                <a:ea typeface="Times New Roman"/>
                <a:cs typeface="Times New Roman"/>
                <a:sym typeface="Times New Roman"/>
              </a:rPr>
              <a:t>Master 2 Finance &amp; Big Data</a:t>
            </a:r>
            <a:endParaRPr sz="1467" b="1" dirty="0">
              <a:latin typeface="Times New Roman"/>
              <a:ea typeface="Times New Roman"/>
              <a:cs typeface="Times New Roman"/>
              <a:sym typeface="Times New Roman"/>
            </a:endParaRPr>
          </a:p>
        </p:txBody>
      </p:sp>
      <p:sp>
        <p:nvSpPr>
          <p:cNvPr id="3" name="ZoneTexte 2">
            <a:extLst>
              <a:ext uri="{FF2B5EF4-FFF2-40B4-BE49-F238E27FC236}">
                <a16:creationId xmlns:a16="http://schemas.microsoft.com/office/drawing/2014/main" id="{3B20F878-5DC3-ECB5-08BD-F3E4B1402872}"/>
              </a:ext>
            </a:extLst>
          </p:cNvPr>
          <p:cNvSpPr txBox="1"/>
          <p:nvPr/>
        </p:nvSpPr>
        <p:spPr>
          <a:xfrm>
            <a:off x="1178531" y="3040368"/>
            <a:ext cx="9834869" cy="369588"/>
          </a:xfrm>
          <a:prstGeom prst="rect">
            <a:avLst/>
          </a:prstGeom>
          <a:noFill/>
        </p:spPr>
        <p:txBody>
          <a:bodyPr wrap="square">
            <a:spAutoFit/>
          </a:bodyPr>
          <a:lstStyle/>
          <a:p>
            <a:pPr marL="0" indent="0" algn="ctr">
              <a:lnSpc>
                <a:spcPct val="105000"/>
              </a:lnSpc>
              <a:buNone/>
            </a:pPr>
            <a:r>
              <a:rPr lang="en-US" b="1" dirty="0">
                <a:solidFill>
                  <a:srgbClr val="FFFFFF"/>
                </a:solidFill>
                <a:latin typeface="Cambria" pitchFamily="34" charset="0"/>
                <a:ea typeface="Cambria" pitchFamily="34" charset="-122"/>
                <a:cs typeface="Cambria" pitchFamily="34" charset="-120"/>
              </a:rPr>
              <a:t>A Cross-Market Analysis of Nordic &amp; European Electricity Markets</a:t>
            </a:r>
            <a:endParaRPr lang="en-US" sz="1600" dirty="0"/>
          </a:p>
        </p:txBody>
      </p:sp>
      <p:pic>
        <p:nvPicPr>
          <p:cNvPr id="4" name="Image 3">
            <a:extLst>
              <a:ext uri="{FF2B5EF4-FFF2-40B4-BE49-F238E27FC236}">
                <a16:creationId xmlns:a16="http://schemas.microsoft.com/office/drawing/2014/main" id="{EA7DEE0B-2BEE-0786-BC70-E214F48EDD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9170" y="672218"/>
            <a:ext cx="2513593" cy="782007"/>
          </a:xfrm>
          <a:prstGeom prst="rect">
            <a:avLst/>
          </a:prstGeom>
        </p:spPr>
      </p:pic>
      <p:sp>
        <p:nvSpPr>
          <p:cNvPr id="6" name="ZoneTexte 5">
            <a:extLst>
              <a:ext uri="{FF2B5EF4-FFF2-40B4-BE49-F238E27FC236}">
                <a16:creationId xmlns:a16="http://schemas.microsoft.com/office/drawing/2014/main" id="{C079BEB5-7977-A3F7-01D6-C8A3CAC5D080}"/>
              </a:ext>
            </a:extLst>
          </p:cNvPr>
          <p:cNvSpPr txBox="1"/>
          <p:nvPr/>
        </p:nvSpPr>
        <p:spPr>
          <a:xfrm>
            <a:off x="1178531" y="3753344"/>
            <a:ext cx="9834869" cy="338747"/>
          </a:xfrm>
          <a:prstGeom prst="rect">
            <a:avLst/>
          </a:prstGeom>
          <a:noFill/>
        </p:spPr>
        <p:txBody>
          <a:bodyPr wrap="square">
            <a:spAutoFit/>
          </a:bodyPr>
          <a:lstStyle/>
          <a:p>
            <a:pPr marL="0" indent="0" algn="ctr">
              <a:lnSpc>
                <a:spcPct val="105000"/>
              </a:lnSpc>
              <a:buNone/>
            </a:pPr>
            <a:r>
              <a:rPr lang="en-US" sz="1600" dirty="0">
                <a:solidFill>
                  <a:srgbClr val="FFFFFF"/>
                </a:solidFill>
                <a:latin typeface="Cambria" pitchFamily="34" charset="0"/>
                <a:ea typeface="Cambria" pitchFamily="34" charset="-122"/>
                <a:cs typeface="Cambria" pitchFamily="34" charset="-120"/>
              </a:rPr>
              <a:t>Using Historical Day-Ahead Prices (2015-2025)</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02920" y="621792"/>
            <a:ext cx="11155680" cy="713232"/>
          </a:xfrm>
          <a:prstGeom prst="rect">
            <a:avLst/>
          </a:prstGeom>
          <a:noFill/>
          <a:ln/>
        </p:spPr>
        <p:txBody>
          <a:bodyPr wrap="square" lIns="0" tIns="0" rIns="0" bIns="0" rtlCol="0" anchor="ctr"/>
          <a:lstStyle/>
          <a:p>
            <a:pPr marL="0" indent="0">
              <a:lnSpc>
                <a:spcPct val="102000"/>
              </a:lnSpc>
              <a:buNone/>
            </a:pPr>
            <a:r>
              <a:rPr lang="en-US" sz="2900" b="1" dirty="0">
                <a:solidFill>
                  <a:srgbClr val="13314F"/>
                </a:solidFill>
                <a:latin typeface="Cambria" pitchFamily="34" charset="0"/>
                <a:ea typeface="Cambria" pitchFamily="34" charset="-122"/>
                <a:cs typeface="Cambria" pitchFamily="34" charset="-120"/>
              </a:rPr>
              <a:t>ROADMAP</a:t>
            </a:r>
            <a:endParaRPr lang="en-US" sz="2900" dirty="0"/>
          </a:p>
        </p:txBody>
      </p:sp>
      <p:sp>
        <p:nvSpPr>
          <p:cNvPr id="4" name="Shape 2"/>
          <p:cNvSpPr/>
          <p:nvPr/>
        </p:nvSpPr>
        <p:spPr>
          <a:xfrm>
            <a:off x="548640" y="1655064"/>
            <a:ext cx="475488" cy="475488"/>
          </a:xfrm>
          <a:prstGeom prst="ellipse">
            <a:avLst/>
          </a:prstGeom>
          <a:solidFill>
            <a:srgbClr val="13314F"/>
          </a:solidFill>
          <a:ln/>
        </p:spPr>
        <p:txBody>
          <a:bodyPr/>
          <a:lstStyle/>
          <a:p>
            <a:endParaRPr lang="en-US"/>
          </a:p>
        </p:txBody>
      </p:sp>
      <p:sp>
        <p:nvSpPr>
          <p:cNvPr id="5" name="Text 3"/>
          <p:cNvSpPr/>
          <p:nvPr/>
        </p:nvSpPr>
        <p:spPr>
          <a:xfrm>
            <a:off x="548640" y="1655064"/>
            <a:ext cx="475488" cy="47548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34440" y="1700784"/>
            <a:ext cx="6309360" cy="384048"/>
          </a:xfrm>
          <a:prstGeom prst="rect">
            <a:avLst/>
          </a:prstGeom>
          <a:noFill/>
          <a:ln/>
        </p:spPr>
        <p:txBody>
          <a:bodyPr wrap="square" lIns="0" tIns="0" rIns="0" bIns="0" rtlCol="0" anchor="ctr"/>
          <a:lstStyle/>
          <a:p>
            <a:pPr marL="0" indent="0">
              <a:buNone/>
            </a:pPr>
            <a:r>
              <a:rPr lang="en-US" sz="1650" b="1" dirty="0">
                <a:solidFill>
                  <a:srgbClr val="13314F"/>
                </a:solidFill>
                <a:latin typeface="Cambria" pitchFamily="34" charset="0"/>
                <a:ea typeface="Cambria" pitchFamily="34" charset="-122"/>
                <a:cs typeface="Cambria" pitchFamily="34" charset="-120"/>
              </a:rPr>
              <a:t>Motivation and </a:t>
            </a:r>
            <a:r>
              <a:rPr lang="en-US" sz="1650" b="1" dirty="0" err="1">
                <a:solidFill>
                  <a:srgbClr val="13314F"/>
                </a:solidFill>
                <a:latin typeface="Cambria" pitchFamily="34" charset="0"/>
                <a:ea typeface="Cambria" pitchFamily="34" charset="-122"/>
                <a:cs typeface="Cambria" pitchFamily="34" charset="-120"/>
              </a:rPr>
              <a:t>Optimisation</a:t>
            </a:r>
            <a:r>
              <a:rPr lang="en-US" sz="1650" b="1" dirty="0">
                <a:solidFill>
                  <a:srgbClr val="13314F"/>
                </a:solidFill>
                <a:latin typeface="Cambria" pitchFamily="34" charset="0"/>
                <a:ea typeface="Cambria" pitchFamily="34" charset="-122"/>
                <a:cs typeface="Cambria" pitchFamily="34" charset="-120"/>
              </a:rPr>
              <a:t> Problem</a:t>
            </a:r>
            <a:endParaRPr lang="en-US" sz="1650" dirty="0"/>
          </a:p>
        </p:txBody>
      </p:sp>
      <p:sp>
        <p:nvSpPr>
          <p:cNvPr id="8" name="Shape 6"/>
          <p:cNvSpPr/>
          <p:nvPr/>
        </p:nvSpPr>
        <p:spPr>
          <a:xfrm>
            <a:off x="786384" y="2130552"/>
            <a:ext cx="0" cy="365760"/>
          </a:xfrm>
          <a:prstGeom prst="line">
            <a:avLst/>
          </a:prstGeom>
          <a:noFill/>
          <a:ln w="15875">
            <a:solidFill>
              <a:srgbClr val="CBD3DA"/>
            </a:solidFill>
            <a:prstDash val="dash"/>
          </a:ln>
        </p:spPr>
        <p:txBody>
          <a:bodyPr/>
          <a:lstStyle/>
          <a:p>
            <a:endParaRPr lang="en-US"/>
          </a:p>
        </p:txBody>
      </p:sp>
      <p:sp>
        <p:nvSpPr>
          <p:cNvPr id="9" name="Shape 7"/>
          <p:cNvSpPr/>
          <p:nvPr/>
        </p:nvSpPr>
        <p:spPr>
          <a:xfrm>
            <a:off x="548640" y="2551176"/>
            <a:ext cx="475488" cy="475488"/>
          </a:xfrm>
          <a:prstGeom prst="ellipse">
            <a:avLst/>
          </a:prstGeom>
          <a:solidFill>
            <a:srgbClr val="13314F"/>
          </a:solidFill>
          <a:ln/>
        </p:spPr>
        <p:txBody>
          <a:bodyPr/>
          <a:lstStyle/>
          <a:p>
            <a:endParaRPr lang="en-US"/>
          </a:p>
        </p:txBody>
      </p:sp>
      <p:sp>
        <p:nvSpPr>
          <p:cNvPr id="10" name="Text 8"/>
          <p:cNvSpPr/>
          <p:nvPr/>
        </p:nvSpPr>
        <p:spPr>
          <a:xfrm>
            <a:off x="548640" y="2551176"/>
            <a:ext cx="475488" cy="47548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234440" y="2596896"/>
            <a:ext cx="6309360" cy="384048"/>
          </a:xfrm>
          <a:prstGeom prst="rect">
            <a:avLst/>
          </a:prstGeom>
          <a:noFill/>
          <a:ln/>
        </p:spPr>
        <p:txBody>
          <a:bodyPr wrap="square" lIns="0" tIns="0" rIns="0" bIns="0" rtlCol="0" anchor="ctr"/>
          <a:lstStyle/>
          <a:p>
            <a:pPr marL="0" indent="0">
              <a:buNone/>
            </a:pPr>
            <a:r>
              <a:rPr lang="en-US" sz="1650" b="1" dirty="0">
                <a:solidFill>
                  <a:srgbClr val="13314F"/>
                </a:solidFill>
                <a:latin typeface="Cambria" pitchFamily="34" charset="0"/>
                <a:ea typeface="Cambria" pitchFamily="34" charset="-122"/>
                <a:cs typeface="Cambria" pitchFamily="34" charset="-120"/>
              </a:rPr>
              <a:t>Data and Methodology</a:t>
            </a:r>
            <a:endParaRPr lang="en-US" sz="1650" dirty="0"/>
          </a:p>
        </p:txBody>
      </p:sp>
      <p:sp>
        <p:nvSpPr>
          <p:cNvPr id="13" name="Shape 11"/>
          <p:cNvSpPr/>
          <p:nvPr/>
        </p:nvSpPr>
        <p:spPr>
          <a:xfrm>
            <a:off x="786384" y="3026664"/>
            <a:ext cx="0" cy="365760"/>
          </a:xfrm>
          <a:prstGeom prst="line">
            <a:avLst/>
          </a:prstGeom>
          <a:noFill/>
          <a:ln w="15875">
            <a:solidFill>
              <a:srgbClr val="CBD3DA"/>
            </a:solidFill>
            <a:prstDash val="dash"/>
          </a:ln>
        </p:spPr>
        <p:txBody>
          <a:bodyPr/>
          <a:lstStyle/>
          <a:p>
            <a:endParaRPr lang="en-US"/>
          </a:p>
        </p:txBody>
      </p:sp>
      <p:sp>
        <p:nvSpPr>
          <p:cNvPr id="14" name="Shape 12"/>
          <p:cNvSpPr/>
          <p:nvPr/>
        </p:nvSpPr>
        <p:spPr>
          <a:xfrm>
            <a:off x="548640" y="3447288"/>
            <a:ext cx="475488" cy="475488"/>
          </a:xfrm>
          <a:prstGeom prst="ellipse">
            <a:avLst/>
          </a:prstGeom>
          <a:solidFill>
            <a:srgbClr val="13314F"/>
          </a:solidFill>
          <a:ln/>
        </p:spPr>
        <p:txBody>
          <a:bodyPr/>
          <a:lstStyle/>
          <a:p>
            <a:endParaRPr lang="en-US"/>
          </a:p>
        </p:txBody>
      </p:sp>
      <p:sp>
        <p:nvSpPr>
          <p:cNvPr id="15" name="Text 13"/>
          <p:cNvSpPr/>
          <p:nvPr/>
        </p:nvSpPr>
        <p:spPr>
          <a:xfrm>
            <a:off x="548640" y="3447288"/>
            <a:ext cx="475488" cy="47548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6" name="Text 14"/>
          <p:cNvSpPr/>
          <p:nvPr/>
        </p:nvSpPr>
        <p:spPr>
          <a:xfrm>
            <a:off x="1234440" y="3493008"/>
            <a:ext cx="6309360" cy="384048"/>
          </a:xfrm>
          <a:prstGeom prst="rect">
            <a:avLst/>
          </a:prstGeom>
          <a:noFill/>
          <a:ln/>
        </p:spPr>
        <p:txBody>
          <a:bodyPr wrap="square" lIns="0" tIns="0" rIns="0" bIns="0" rtlCol="0" anchor="ctr"/>
          <a:lstStyle/>
          <a:p>
            <a:pPr marL="0" indent="0">
              <a:buNone/>
            </a:pPr>
            <a:r>
              <a:rPr lang="en-US" sz="1650" b="1" dirty="0">
                <a:solidFill>
                  <a:srgbClr val="13314F"/>
                </a:solidFill>
                <a:latin typeface="Cambria" pitchFamily="34" charset="0"/>
                <a:ea typeface="Cambria" pitchFamily="34" charset="-122"/>
                <a:cs typeface="Cambria" pitchFamily="34" charset="-120"/>
              </a:rPr>
              <a:t>Variance &amp; CVaR Results </a:t>
            </a:r>
            <a:endParaRPr lang="en-US" sz="1650" dirty="0"/>
          </a:p>
        </p:txBody>
      </p:sp>
      <p:sp>
        <p:nvSpPr>
          <p:cNvPr id="18" name="Shape 16"/>
          <p:cNvSpPr/>
          <p:nvPr/>
        </p:nvSpPr>
        <p:spPr>
          <a:xfrm>
            <a:off x="786384" y="3922776"/>
            <a:ext cx="0" cy="365760"/>
          </a:xfrm>
          <a:prstGeom prst="line">
            <a:avLst/>
          </a:prstGeom>
          <a:noFill/>
          <a:ln w="15875">
            <a:solidFill>
              <a:srgbClr val="CBD3DA"/>
            </a:solidFill>
            <a:prstDash val="dash"/>
          </a:ln>
        </p:spPr>
        <p:txBody>
          <a:bodyPr/>
          <a:lstStyle/>
          <a:p>
            <a:endParaRPr lang="en-US"/>
          </a:p>
        </p:txBody>
      </p:sp>
      <p:sp>
        <p:nvSpPr>
          <p:cNvPr id="19" name="Shape 17"/>
          <p:cNvSpPr/>
          <p:nvPr/>
        </p:nvSpPr>
        <p:spPr>
          <a:xfrm>
            <a:off x="548640" y="4343400"/>
            <a:ext cx="475488" cy="475488"/>
          </a:xfrm>
          <a:prstGeom prst="ellipse">
            <a:avLst/>
          </a:prstGeom>
          <a:solidFill>
            <a:srgbClr val="13314F"/>
          </a:solidFill>
          <a:ln/>
        </p:spPr>
        <p:txBody>
          <a:bodyPr/>
          <a:lstStyle/>
          <a:p>
            <a:endParaRPr lang="en-US"/>
          </a:p>
        </p:txBody>
      </p:sp>
      <p:sp>
        <p:nvSpPr>
          <p:cNvPr id="20" name="Text 18"/>
          <p:cNvSpPr/>
          <p:nvPr/>
        </p:nvSpPr>
        <p:spPr>
          <a:xfrm>
            <a:off x="548640" y="4343400"/>
            <a:ext cx="475488" cy="47548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1" name="Text 19"/>
          <p:cNvSpPr/>
          <p:nvPr/>
        </p:nvSpPr>
        <p:spPr>
          <a:xfrm>
            <a:off x="1234440" y="4389120"/>
            <a:ext cx="6309360" cy="384048"/>
          </a:xfrm>
          <a:prstGeom prst="rect">
            <a:avLst/>
          </a:prstGeom>
          <a:noFill/>
          <a:ln/>
        </p:spPr>
        <p:txBody>
          <a:bodyPr wrap="square" lIns="0" tIns="0" rIns="0" bIns="0" rtlCol="0" anchor="ctr"/>
          <a:lstStyle/>
          <a:p>
            <a:pPr marL="0" indent="0">
              <a:buNone/>
            </a:pPr>
            <a:r>
              <a:rPr lang="fr-FR" sz="1650" b="1" dirty="0">
                <a:solidFill>
                  <a:srgbClr val="13314F"/>
                </a:solidFill>
                <a:latin typeface="Cambria" pitchFamily="34" charset="0"/>
                <a:ea typeface="Cambria" pitchFamily="34" charset="-122"/>
              </a:rPr>
              <a:t>C</a:t>
            </a:r>
            <a:r>
              <a:rPr lang="en-US" sz="1650" b="1" dirty="0" err="1">
                <a:solidFill>
                  <a:srgbClr val="13314F"/>
                </a:solidFill>
                <a:latin typeface="Cambria" pitchFamily="34" charset="0"/>
                <a:ea typeface="Cambria" pitchFamily="34" charset="-122"/>
              </a:rPr>
              <a:t>onclusion</a:t>
            </a:r>
            <a:r>
              <a:rPr lang="en-US" sz="1650" b="1" dirty="0">
                <a:solidFill>
                  <a:srgbClr val="13314F"/>
                </a:solidFill>
                <a:latin typeface="Cambria" pitchFamily="34" charset="0"/>
                <a:ea typeface="Cambria" pitchFamily="34" charset="-122"/>
              </a:rPr>
              <a:t> &amp; Limitations</a:t>
            </a:r>
            <a:endParaRPr lang="en-US" sz="1650" dirty="0"/>
          </a:p>
        </p:txBody>
      </p:sp>
      <p:sp>
        <p:nvSpPr>
          <p:cNvPr id="25" name="Text 23"/>
          <p:cNvSpPr/>
          <p:nvPr/>
        </p:nvSpPr>
        <p:spPr>
          <a:xfrm>
            <a:off x="548640" y="5239512"/>
            <a:ext cx="475488" cy="47548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4" name="Google Shape;81;p3">
            <a:extLst>
              <a:ext uri="{FF2B5EF4-FFF2-40B4-BE49-F238E27FC236}">
                <a16:creationId xmlns:a16="http://schemas.microsoft.com/office/drawing/2014/main" id="{346E6F74-0459-38F9-FB37-3498C6FA8244}"/>
              </a:ext>
            </a:extLst>
          </p:cNvPr>
          <p:cNvSpPr txBox="1">
            <a:spLocks/>
          </p:cNvSpPr>
          <p:nvPr/>
        </p:nvSpPr>
        <p:spPr>
          <a:xfrm>
            <a:off x="11614633" y="6352967"/>
            <a:ext cx="413600" cy="389600"/>
          </a:xfrm>
          <a:prstGeom prst="rect">
            <a:avLst/>
          </a:prstGeom>
          <a:solidFill>
            <a:srgbClr val="073763"/>
          </a:solidFill>
          <a:ln>
            <a:noFill/>
          </a:ln>
          <a:effectLst>
            <a:outerShdw blurRad="57150" dist="19050" dir="5400000" algn="bl" rotWithShape="0">
              <a:srgbClr val="000000">
                <a:alpha val="69410"/>
              </a:srgbClr>
            </a:outerShdw>
          </a:effectLst>
        </p:spPr>
        <p:txBody>
          <a:bodyPr spcFirstLastPara="1" wrap="square" lIns="121900" tIns="121900" rIns="121900" bIns="121900" anchor="ctr" anchorCtr="0">
            <a:normAutofit fontScale="62500" lnSpcReduction="20000"/>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ct val="100000"/>
            </a:pPr>
            <a:fld id="{00000000-1234-1234-1234-123412341234}" type="slidenum">
              <a:rPr lang="fr" smtClean="0">
                <a:solidFill>
                  <a:schemeClr val="lt1"/>
                </a:solidFill>
                <a:latin typeface="Arial"/>
                <a:ea typeface="Arial"/>
                <a:cs typeface="Arial"/>
                <a:sym typeface="Arial"/>
              </a:rPr>
              <a:pPr algn="ctr">
                <a:buSzPct val="100000"/>
              </a:pPr>
              <a:t>2</a:t>
            </a:fld>
            <a:endParaRPr lang="fr">
              <a:solidFill>
                <a:schemeClr val="lt1"/>
              </a:solidFill>
              <a:latin typeface="Arial"/>
              <a:ea typeface="Arial"/>
              <a:cs typeface="Arial"/>
              <a:sym typeface="Ari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
          <p:cNvSpPr/>
          <p:nvPr/>
        </p:nvSpPr>
        <p:spPr>
          <a:xfrm>
            <a:off x="1879833" y="2069200"/>
            <a:ext cx="8542800" cy="2719600"/>
          </a:xfrm>
          <a:prstGeom prst="rect">
            <a:avLst/>
          </a:prstGeom>
          <a:solidFill>
            <a:srgbClr val="073763"/>
          </a:solidFill>
          <a:ln>
            <a:noFill/>
          </a:ln>
          <a:effectLst>
            <a:outerShdw blurRad="57150" dist="28575" dir="5400000" algn="bl" rotWithShape="0">
              <a:srgbClr val="000000">
                <a:alpha val="29409"/>
              </a:srgbClr>
            </a:outerShdw>
          </a:effectLst>
        </p:spPr>
        <p:txBody>
          <a:bodyPr spcFirstLastPara="1" wrap="square" lIns="121900" tIns="121900" rIns="121900" bIns="121900" anchor="ctr" anchorCtr="0">
            <a:noAutofit/>
          </a:bodyPr>
          <a:lstStyle/>
          <a:p>
            <a:pPr algn="ctr">
              <a:buClr>
                <a:srgbClr val="000000"/>
              </a:buClr>
              <a:buSzPts val="1400"/>
            </a:pPr>
            <a:endParaRPr sz="1867">
              <a:solidFill>
                <a:srgbClr val="000000"/>
              </a:solidFill>
              <a:latin typeface="Arial"/>
              <a:ea typeface="Arial"/>
              <a:cs typeface="Arial"/>
              <a:sym typeface="Arial"/>
            </a:endParaRPr>
          </a:p>
        </p:txBody>
      </p:sp>
      <p:sp>
        <p:nvSpPr>
          <p:cNvPr id="79" name="Google Shape;79;p3"/>
          <p:cNvSpPr txBox="1">
            <a:spLocks noGrp="1"/>
          </p:cNvSpPr>
          <p:nvPr>
            <p:ph type="ctrTitle"/>
          </p:nvPr>
        </p:nvSpPr>
        <p:spPr>
          <a:xfrm>
            <a:off x="2215633" y="2794384"/>
            <a:ext cx="8923422" cy="1269200"/>
          </a:xfrm>
          <a:prstGeom prst="rect">
            <a:avLst/>
          </a:prstGeom>
          <a:noFill/>
          <a:ln>
            <a:noFill/>
          </a:ln>
          <a:effectLst>
            <a:outerShdw blurRad="57150" dist="19050" dir="5400000" algn="bl" rotWithShape="0">
              <a:srgbClr val="000000">
                <a:alpha val="49411"/>
              </a:srgbClr>
            </a:outerShdw>
          </a:effectLst>
        </p:spPr>
        <p:txBody>
          <a:bodyPr spcFirstLastPara="1" wrap="square" lIns="121900" tIns="121900" rIns="121900" bIns="121900" anchor="ctr" anchorCtr="0">
            <a:noAutofit/>
          </a:bodyPr>
          <a:lstStyle/>
          <a:p>
            <a:r>
              <a:rPr lang="fr" sz="2800" b="1" dirty="0">
                <a:solidFill>
                  <a:schemeClr val="lt1"/>
                </a:solidFill>
                <a:latin typeface="Open Sans"/>
                <a:ea typeface="Open Sans"/>
                <a:cs typeface="Open Sans"/>
                <a:sym typeface="Open Sans"/>
              </a:rPr>
              <a:t>Motivation and Research Questions</a:t>
            </a:r>
            <a:endParaRPr sz="2800" b="1" dirty="0">
              <a:solidFill>
                <a:schemeClr val="lt1"/>
              </a:solidFill>
              <a:latin typeface="Open Sans"/>
              <a:ea typeface="Open Sans"/>
              <a:cs typeface="Open Sans"/>
              <a:sym typeface="Open Sans"/>
            </a:endParaRPr>
          </a:p>
        </p:txBody>
      </p:sp>
      <p:pic>
        <p:nvPicPr>
          <p:cNvPr id="80" name="Google Shape;80;p3" title="point-dinterrogation-sur-un-fond-noir-circulaire.png"/>
          <p:cNvPicPr preferRelativeResize="0"/>
          <p:nvPr/>
        </p:nvPicPr>
        <p:blipFill rotWithShape="1">
          <a:blip r:embed="rId3">
            <a:alphaModFix/>
          </a:blip>
          <a:srcRect/>
          <a:stretch/>
        </p:blipFill>
        <p:spPr>
          <a:xfrm>
            <a:off x="2306868" y="2901185"/>
            <a:ext cx="1055633" cy="1055633"/>
          </a:xfrm>
          <a:prstGeom prst="rect">
            <a:avLst/>
          </a:prstGeom>
          <a:noFill/>
          <a:ln>
            <a:noFill/>
          </a:ln>
        </p:spPr>
      </p:pic>
      <p:sp>
        <p:nvSpPr>
          <p:cNvPr id="81" name="Google Shape;81;p3"/>
          <p:cNvSpPr txBox="1">
            <a:spLocks noGrp="1"/>
          </p:cNvSpPr>
          <p:nvPr>
            <p:ph type="sldNum" idx="12"/>
          </p:nvPr>
        </p:nvSpPr>
        <p:spPr>
          <a:xfrm>
            <a:off x="11614633" y="6352967"/>
            <a:ext cx="413600" cy="389600"/>
          </a:xfrm>
          <a:prstGeom prst="rect">
            <a:avLst/>
          </a:prstGeom>
          <a:solidFill>
            <a:srgbClr val="073763"/>
          </a:solidFill>
          <a:ln>
            <a:noFill/>
          </a:ln>
          <a:effectLst>
            <a:outerShdw blurRad="57150" dist="19050" dir="5400000" algn="bl" rotWithShape="0">
              <a:srgbClr val="000000">
                <a:alpha val="69410"/>
              </a:srgbClr>
            </a:outerShdw>
          </a:effectLst>
        </p:spPr>
        <p:txBody>
          <a:bodyPr spcFirstLastPara="1" wrap="square" lIns="121900" tIns="121900" rIns="121900" bIns="121900" anchor="ctr" anchorCtr="0">
            <a:normAutofit fontScale="92500" lnSpcReduction="20000"/>
          </a:bodyPr>
          <a:lstStyle/>
          <a:p>
            <a:pPr algn="ctr">
              <a:buSzPct val="100000"/>
            </a:pPr>
            <a:fld id="{00000000-1234-1234-1234-123412341234}" type="slidenum">
              <a:rPr lang="fr">
                <a:solidFill>
                  <a:schemeClr val="lt1"/>
                </a:solidFill>
                <a:latin typeface="Arial"/>
                <a:ea typeface="Arial"/>
                <a:cs typeface="Arial"/>
                <a:sym typeface="Arial"/>
              </a:rPr>
              <a:pPr algn="ctr">
                <a:buSzPct val="100000"/>
              </a:pPr>
              <a:t>3</a:t>
            </a:fld>
            <a:endParaRPr>
              <a:solidFill>
                <a:schemeClr val="lt1"/>
              </a:solidFill>
              <a:latin typeface="Arial"/>
              <a:ea typeface="Arial"/>
              <a:cs typeface="Arial"/>
              <a:sym typeface="Arial"/>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5" name="Google Shape;75;g3b83c7c63cf_0_48"/>
          <p:cNvSpPr txBox="1"/>
          <p:nvPr/>
        </p:nvSpPr>
        <p:spPr>
          <a:xfrm>
            <a:off x="491200" y="133067"/>
            <a:ext cx="8362513" cy="917600"/>
          </a:xfrm>
          <a:prstGeom prst="rect">
            <a:avLst/>
          </a:prstGeom>
          <a:noFill/>
          <a:ln>
            <a:noFill/>
          </a:ln>
        </p:spPr>
        <p:txBody>
          <a:bodyPr spcFirstLastPara="1" wrap="square" lIns="121900" tIns="121900" rIns="121900" bIns="121900" anchor="b" anchorCtr="0">
            <a:noAutofit/>
          </a:bodyPr>
          <a:lstStyle/>
          <a:p>
            <a:pPr>
              <a:buClr>
                <a:srgbClr val="000000"/>
              </a:buClr>
              <a:buSzPts val="2600"/>
            </a:pPr>
            <a:r>
              <a:rPr lang="en-US" sz="3467" b="1" dirty="0">
                <a:solidFill>
                  <a:srgbClr val="000000"/>
                </a:solidFill>
                <a:latin typeface="Open Sans"/>
                <a:ea typeface="Open Sans"/>
                <a:cs typeface="Open Sans"/>
                <a:sym typeface="Open Sans"/>
              </a:rPr>
              <a:t>Motivation and Research Questions</a:t>
            </a:r>
            <a:endParaRPr sz="3467" b="1" dirty="0">
              <a:solidFill>
                <a:srgbClr val="000000"/>
              </a:solidFill>
              <a:latin typeface="Open Sans"/>
              <a:ea typeface="Open Sans"/>
              <a:cs typeface="Open Sans"/>
              <a:sym typeface="Open Sans"/>
            </a:endParaRPr>
          </a:p>
        </p:txBody>
      </p:sp>
      <p:sp>
        <p:nvSpPr>
          <p:cNvPr id="76" name="Google Shape;76;g3b83c7c63cf_0_48"/>
          <p:cNvSpPr/>
          <p:nvPr/>
        </p:nvSpPr>
        <p:spPr>
          <a:xfrm rot="10800000" flipH="1">
            <a:off x="587168" y="940229"/>
            <a:ext cx="11113600" cy="16400"/>
          </a:xfrm>
          <a:prstGeom prst="rect">
            <a:avLst/>
          </a:prstGeom>
          <a:solidFill>
            <a:srgbClr val="000000"/>
          </a:solidFill>
          <a:ln>
            <a:noFill/>
          </a:ln>
        </p:spPr>
        <p:txBody>
          <a:bodyPr spcFirstLastPara="1" wrap="square" lIns="121900" tIns="121900" rIns="121900" bIns="121900" anchor="ctr" anchorCtr="0">
            <a:noAutofit/>
          </a:bodyPr>
          <a:lstStyle/>
          <a:p>
            <a:pPr algn="ctr">
              <a:buClr>
                <a:srgbClr val="000000"/>
              </a:buClr>
              <a:buSzPts val="400"/>
            </a:pPr>
            <a:endParaRPr sz="533">
              <a:solidFill>
                <a:srgbClr val="000000"/>
              </a:solidFill>
              <a:latin typeface="Arial"/>
              <a:ea typeface="Arial"/>
              <a:cs typeface="Arial"/>
              <a:sym typeface="Arial"/>
            </a:endParaRPr>
          </a:p>
        </p:txBody>
      </p:sp>
      <p:sp>
        <p:nvSpPr>
          <p:cNvPr id="78" name="Google Shape;78;g3b83c7c63cf_0_48"/>
          <p:cNvSpPr/>
          <p:nvPr/>
        </p:nvSpPr>
        <p:spPr>
          <a:xfrm>
            <a:off x="941000" y="1123256"/>
            <a:ext cx="10310000" cy="654400"/>
          </a:xfrm>
          <a:prstGeom prst="rect">
            <a:avLst/>
          </a:prstGeom>
          <a:solidFill>
            <a:schemeClr val="accent1">
              <a:lumMod val="50000"/>
            </a:schemeClr>
          </a:solidFill>
          <a:ln>
            <a:noFill/>
          </a:ln>
          <a:effectLst>
            <a:outerShdw blurRad="57150" dist="19050" dir="5400000" algn="bl" rotWithShape="0">
              <a:srgbClr val="000000">
                <a:alpha val="49019"/>
              </a:srgbClr>
            </a:outerShdw>
          </a:effectLst>
        </p:spPr>
        <p:txBody>
          <a:bodyPr spcFirstLastPara="1" wrap="square" lIns="121900" tIns="121900" rIns="121900" bIns="121900" anchor="ctr" anchorCtr="0">
            <a:noAutofit/>
          </a:bodyPr>
          <a:lstStyle/>
          <a:p>
            <a:pPr algn="ctr">
              <a:buClr>
                <a:srgbClr val="000000"/>
              </a:buClr>
              <a:buSzPts val="1100"/>
            </a:pPr>
            <a:r>
              <a:rPr lang="en-US" sz="2400" b="1" dirty="0">
                <a:solidFill>
                  <a:schemeClr val="lt1"/>
                </a:solidFill>
                <a:latin typeface="Open Sans"/>
                <a:ea typeface="Open Sans"/>
                <a:cs typeface="Open Sans"/>
                <a:sym typeface="Open Sans"/>
              </a:rPr>
              <a:t>Why DK1 is a demanding hedging environment</a:t>
            </a:r>
            <a:endParaRPr sz="1867" b="1" dirty="0">
              <a:solidFill>
                <a:srgbClr val="000000"/>
              </a:solidFill>
              <a:latin typeface="Arial"/>
              <a:ea typeface="Arial"/>
              <a:cs typeface="Arial"/>
              <a:sym typeface="Arial"/>
            </a:endParaRPr>
          </a:p>
        </p:txBody>
      </p:sp>
      <p:sp>
        <p:nvSpPr>
          <p:cNvPr id="2" name="Google Shape;289;p11">
            <a:extLst>
              <a:ext uri="{FF2B5EF4-FFF2-40B4-BE49-F238E27FC236}">
                <a16:creationId xmlns:a16="http://schemas.microsoft.com/office/drawing/2014/main" id="{C0D596AD-FFD7-7A50-369E-C1946F6399BD}"/>
              </a:ext>
            </a:extLst>
          </p:cNvPr>
          <p:cNvSpPr/>
          <p:nvPr/>
        </p:nvSpPr>
        <p:spPr>
          <a:xfrm>
            <a:off x="5251950" y="3116600"/>
            <a:ext cx="1681200" cy="1418700"/>
          </a:xfrm>
          <a:prstGeom prst="ellipse">
            <a:avLst/>
          </a:prstGeom>
          <a:noFill/>
          <a:ln w="29350" cap="flat" cmpd="sng">
            <a:solidFill>
              <a:srgbClr val="595959"/>
            </a:solidFill>
            <a:prstDash val="solid"/>
            <a:round/>
            <a:headEnd type="none" w="sm" len="sm"/>
            <a:tailEnd type="none" w="sm" len="sm"/>
          </a:ln>
          <a:effectLst>
            <a:outerShdw blurRad="44024" dist="19566" dir="5400000" algn="bl" rotWithShape="0">
              <a:srgbClr val="000000">
                <a:alpha val="49019"/>
              </a:srgbClr>
            </a:outerShdw>
          </a:effectLst>
        </p:spPr>
        <p:txBody>
          <a:bodyPr spcFirstLastPara="1" wrap="square" lIns="93900" tIns="93900" rIns="93900" bIns="93900" anchor="ctr" anchorCtr="0">
            <a:noAutofit/>
          </a:bodyPr>
          <a:lstStyle/>
          <a:p>
            <a:pPr marL="0" marR="0" lvl="0" indent="0" algn="ctr" rtl="0">
              <a:lnSpc>
                <a:spcPct val="100000"/>
              </a:lnSpc>
              <a:spcBef>
                <a:spcPts val="0"/>
              </a:spcBef>
              <a:spcAft>
                <a:spcPts val="0"/>
              </a:spcAft>
              <a:buClr>
                <a:srgbClr val="000000"/>
              </a:buClr>
              <a:buSzPts val="1438"/>
              <a:buFont typeface="Arial"/>
              <a:buNone/>
            </a:pPr>
            <a:endParaRPr sz="1437" b="0" i="0" u="none" strike="noStrike" cap="none">
              <a:solidFill>
                <a:srgbClr val="000000"/>
              </a:solidFill>
              <a:latin typeface="Arial"/>
              <a:ea typeface="Arial"/>
              <a:cs typeface="Arial"/>
              <a:sym typeface="Arial"/>
            </a:endParaRPr>
          </a:p>
        </p:txBody>
      </p:sp>
      <p:sp>
        <p:nvSpPr>
          <p:cNvPr id="3" name="Google Shape;293;p11">
            <a:extLst>
              <a:ext uri="{FF2B5EF4-FFF2-40B4-BE49-F238E27FC236}">
                <a16:creationId xmlns:a16="http://schemas.microsoft.com/office/drawing/2014/main" id="{5941CACD-335D-9F9E-049D-EC13831FC07C}"/>
              </a:ext>
            </a:extLst>
          </p:cNvPr>
          <p:cNvSpPr/>
          <p:nvPr/>
        </p:nvSpPr>
        <p:spPr>
          <a:xfrm>
            <a:off x="2439257" y="2758020"/>
            <a:ext cx="2472900" cy="292200"/>
          </a:xfrm>
          <a:prstGeom prst="roundRect">
            <a:avLst>
              <a:gd name="adj" fmla="val 16667"/>
            </a:avLst>
          </a:prstGeom>
          <a:solidFill>
            <a:schemeClr val="accent1">
              <a:lumMod val="75000"/>
            </a:schemeClr>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200" b="1" i="0" u="none" strike="noStrike" cap="none" dirty="0">
                <a:solidFill>
                  <a:srgbClr val="FFFFFF"/>
                </a:solidFill>
                <a:latin typeface="Open Sans"/>
                <a:ea typeface="Open Sans"/>
                <a:cs typeface="Open Sans"/>
                <a:sym typeface="Open Sans"/>
              </a:rPr>
              <a:t>High renewable penetration</a:t>
            </a:r>
            <a:endParaRPr sz="1200" b="1" i="0" u="none" strike="noStrike" cap="none" dirty="0">
              <a:solidFill>
                <a:srgbClr val="FFFFFF"/>
              </a:solidFill>
              <a:latin typeface="Open Sans"/>
              <a:ea typeface="Open Sans"/>
              <a:cs typeface="Open Sans"/>
              <a:sym typeface="Open Sans"/>
            </a:endParaRPr>
          </a:p>
        </p:txBody>
      </p:sp>
      <p:sp>
        <p:nvSpPr>
          <p:cNvPr id="7" name="Google Shape;297;p11">
            <a:extLst>
              <a:ext uri="{FF2B5EF4-FFF2-40B4-BE49-F238E27FC236}">
                <a16:creationId xmlns:a16="http://schemas.microsoft.com/office/drawing/2014/main" id="{9830A3FE-7AF2-477E-0299-7EF17FA7B1BB}"/>
              </a:ext>
            </a:extLst>
          </p:cNvPr>
          <p:cNvSpPr txBox="1"/>
          <p:nvPr/>
        </p:nvSpPr>
        <p:spPr>
          <a:xfrm>
            <a:off x="5412600" y="3525500"/>
            <a:ext cx="1359900" cy="600900"/>
          </a:xfrm>
          <a:prstGeom prst="rect">
            <a:avLst/>
          </a:prstGeom>
          <a:noFill/>
          <a:ln>
            <a:noFill/>
          </a:ln>
        </p:spPr>
        <p:txBody>
          <a:bodyPr spcFirstLastPara="1" wrap="square" lIns="93900" tIns="93900" rIns="93900" bIns="93900" anchor="ctr" anchorCtr="0">
            <a:noAutofit/>
          </a:bodyPr>
          <a:lstStyle/>
          <a:p>
            <a:pPr marL="0" lvl="0" indent="0" algn="ctr" rtl="0">
              <a:spcBef>
                <a:spcPts val="0"/>
              </a:spcBef>
              <a:spcAft>
                <a:spcPts val="0"/>
              </a:spcAft>
              <a:buClr>
                <a:schemeClr val="dk1"/>
              </a:buClr>
              <a:buSzPts val="1335"/>
              <a:buFont typeface="Arial"/>
              <a:buNone/>
            </a:pPr>
            <a:r>
              <a:rPr lang="fr" sz="1435" b="1" dirty="0">
                <a:solidFill>
                  <a:schemeClr val="dk2"/>
                </a:solidFill>
                <a:latin typeface="Open Sans"/>
                <a:ea typeface="Open Sans"/>
                <a:cs typeface="Open Sans"/>
                <a:sym typeface="Open Sans"/>
              </a:rPr>
              <a:t>DK1</a:t>
            </a:r>
            <a:endParaRPr sz="1435" b="1" dirty="0">
              <a:solidFill>
                <a:srgbClr val="595959"/>
              </a:solidFill>
              <a:latin typeface="Open Sans"/>
              <a:ea typeface="Open Sans"/>
              <a:cs typeface="Open Sans"/>
              <a:sym typeface="Open Sans"/>
            </a:endParaRPr>
          </a:p>
        </p:txBody>
      </p:sp>
      <p:cxnSp>
        <p:nvCxnSpPr>
          <p:cNvPr id="30" name="Google Shape;298;p11">
            <a:extLst>
              <a:ext uri="{FF2B5EF4-FFF2-40B4-BE49-F238E27FC236}">
                <a16:creationId xmlns:a16="http://schemas.microsoft.com/office/drawing/2014/main" id="{50148BB0-4288-325F-56A9-D860157E4E02}"/>
              </a:ext>
            </a:extLst>
          </p:cNvPr>
          <p:cNvCxnSpPr>
            <a:stCxn id="3" idx="3"/>
            <a:endCxn id="2" idx="1"/>
          </p:cNvCxnSpPr>
          <p:nvPr/>
        </p:nvCxnSpPr>
        <p:spPr>
          <a:xfrm>
            <a:off x="4912157" y="2904120"/>
            <a:ext cx="585900" cy="420300"/>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sp>
        <p:nvSpPr>
          <p:cNvPr id="66" name="Google Shape;305;p11">
            <a:extLst>
              <a:ext uri="{FF2B5EF4-FFF2-40B4-BE49-F238E27FC236}">
                <a16:creationId xmlns:a16="http://schemas.microsoft.com/office/drawing/2014/main" id="{1CDE8969-2081-9012-3E3D-BDEA8420689E}"/>
              </a:ext>
            </a:extLst>
          </p:cNvPr>
          <p:cNvSpPr/>
          <p:nvPr/>
        </p:nvSpPr>
        <p:spPr>
          <a:xfrm>
            <a:off x="2439250" y="3193307"/>
            <a:ext cx="2472900" cy="688200"/>
          </a:xfrm>
          <a:prstGeom prst="roundRect">
            <a:avLst>
              <a:gd name="adj" fmla="val 16667"/>
            </a:avLst>
          </a:prstGeom>
          <a:solidFill>
            <a:srgbClr val="EEEEEE"/>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Wind-driven variability and negative-price episodes</a:t>
            </a:r>
            <a:endParaRPr sz="1000" dirty="0">
              <a:solidFill>
                <a:srgbClr val="595959"/>
              </a:solidFill>
              <a:latin typeface="Open Sans"/>
              <a:ea typeface="Open Sans"/>
              <a:cs typeface="Open Sans"/>
              <a:sym typeface="Open Sans"/>
            </a:endParaRPr>
          </a:p>
        </p:txBody>
      </p:sp>
      <p:pic>
        <p:nvPicPr>
          <p:cNvPr id="72" name="Image 71">
            <a:extLst>
              <a:ext uri="{FF2B5EF4-FFF2-40B4-BE49-F238E27FC236}">
                <a16:creationId xmlns:a16="http://schemas.microsoft.com/office/drawing/2014/main" id="{822A8D48-EDDC-C7F8-6370-C98E322D254F}"/>
              </a:ext>
            </a:extLst>
          </p:cNvPr>
          <p:cNvPicPr>
            <a:picLocks noChangeAspect="1"/>
          </p:cNvPicPr>
          <p:nvPr/>
        </p:nvPicPr>
        <p:blipFill>
          <a:blip r:embed="rId3"/>
          <a:stretch>
            <a:fillRect/>
          </a:stretch>
        </p:blipFill>
        <p:spPr>
          <a:xfrm>
            <a:off x="425089" y="4126400"/>
            <a:ext cx="4780018" cy="2129518"/>
          </a:xfrm>
          <a:prstGeom prst="rect">
            <a:avLst/>
          </a:prstGeom>
        </p:spPr>
      </p:pic>
      <p:sp>
        <p:nvSpPr>
          <p:cNvPr id="74" name="ZoneTexte 73">
            <a:extLst>
              <a:ext uri="{FF2B5EF4-FFF2-40B4-BE49-F238E27FC236}">
                <a16:creationId xmlns:a16="http://schemas.microsoft.com/office/drawing/2014/main" id="{26A8F010-C716-5A95-CE38-5335A98FE630}"/>
              </a:ext>
            </a:extLst>
          </p:cNvPr>
          <p:cNvSpPr txBox="1"/>
          <p:nvPr/>
        </p:nvSpPr>
        <p:spPr>
          <a:xfrm>
            <a:off x="5251950" y="4741151"/>
            <a:ext cx="4215323" cy="646331"/>
          </a:xfrm>
          <a:prstGeom prst="rect">
            <a:avLst/>
          </a:prstGeom>
          <a:noFill/>
        </p:spPr>
        <p:txBody>
          <a:bodyPr wrap="square">
            <a:spAutoFit/>
          </a:bodyPr>
          <a:lstStyle/>
          <a:p>
            <a:r>
              <a:rPr lang="en-US" sz="1400" dirty="0"/>
              <a:t>High wind penetration is associated with stronger price variability and more frequent negative-price episodes.</a:t>
            </a:r>
            <a:br>
              <a:rPr lang="en-US" sz="1400" dirty="0"/>
            </a:br>
            <a:r>
              <a:rPr lang="en-US" sz="800" i="1" dirty="0"/>
              <a:t>Sources: Unger et al. (2018); </a:t>
            </a:r>
            <a:r>
              <a:rPr lang="en-US" sz="800" i="1" dirty="0" err="1"/>
              <a:t>Grohnheit</a:t>
            </a:r>
            <a:r>
              <a:rPr lang="en-US" sz="800" i="1" dirty="0"/>
              <a:t> &amp; Sneum (2023).</a:t>
            </a:r>
            <a:endParaRPr lang="en-US" sz="1400" dirty="0"/>
          </a:p>
        </p:txBody>
      </p:sp>
      <p:sp>
        <p:nvSpPr>
          <p:cNvPr id="4" name="Google Shape;81;p3">
            <a:extLst>
              <a:ext uri="{FF2B5EF4-FFF2-40B4-BE49-F238E27FC236}">
                <a16:creationId xmlns:a16="http://schemas.microsoft.com/office/drawing/2014/main" id="{AB284ED1-44B7-17F4-E075-37FFC9883D77}"/>
              </a:ext>
            </a:extLst>
          </p:cNvPr>
          <p:cNvSpPr txBox="1">
            <a:spLocks noGrp="1"/>
          </p:cNvSpPr>
          <p:nvPr>
            <p:ph type="sldNum" idx="12"/>
          </p:nvPr>
        </p:nvSpPr>
        <p:spPr>
          <a:xfrm>
            <a:off x="11614633" y="6352967"/>
            <a:ext cx="413600" cy="389600"/>
          </a:xfrm>
          <a:prstGeom prst="rect">
            <a:avLst/>
          </a:prstGeom>
          <a:solidFill>
            <a:srgbClr val="073763"/>
          </a:solidFill>
          <a:ln>
            <a:noFill/>
          </a:ln>
          <a:effectLst>
            <a:outerShdw blurRad="57150" dist="19050" dir="5400000" algn="bl" rotWithShape="0">
              <a:srgbClr val="000000">
                <a:alpha val="69410"/>
              </a:srgbClr>
            </a:outerShdw>
          </a:effectLst>
        </p:spPr>
        <p:txBody>
          <a:bodyPr spcFirstLastPara="1" wrap="square" lIns="121900" tIns="121900" rIns="121900" bIns="121900" anchor="ctr" anchorCtr="0">
            <a:normAutofit fontScale="92500" lnSpcReduction="20000"/>
          </a:bodyPr>
          <a:lstStyle/>
          <a:p>
            <a:pPr algn="ctr">
              <a:buSzPct val="100000"/>
            </a:pPr>
            <a:fld id="{00000000-1234-1234-1234-123412341234}" type="slidenum">
              <a:rPr lang="fr">
                <a:solidFill>
                  <a:schemeClr val="lt1"/>
                </a:solidFill>
                <a:latin typeface="Arial"/>
                <a:ea typeface="Arial"/>
                <a:cs typeface="Arial"/>
                <a:sym typeface="Arial"/>
              </a:rPr>
              <a:pPr algn="ctr">
                <a:buSzPct val="100000"/>
              </a:pPr>
              <a:t>4</a:t>
            </a:fld>
            <a:endParaRPr>
              <a:solidFill>
                <a:schemeClr val="lt1"/>
              </a:solidFill>
              <a:latin typeface="Arial"/>
              <a:ea typeface="Arial"/>
              <a:cs typeface="Arial"/>
              <a:sym typeface="Arial"/>
            </a:endParaRPr>
          </a:p>
        </p:txBody>
      </p:sp>
      <p:sp>
        <p:nvSpPr>
          <p:cNvPr id="9" name="ZoneTexte 8">
            <a:extLst>
              <a:ext uri="{FF2B5EF4-FFF2-40B4-BE49-F238E27FC236}">
                <a16:creationId xmlns:a16="http://schemas.microsoft.com/office/drawing/2014/main" id="{174B0773-8F72-7D49-6F4B-E74477618CAE}"/>
              </a:ext>
            </a:extLst>
          </p:cNvPr>
          <p:cNvSpPr txBox="1"/>
          <p:nvPr/>
        </p:nvSpPr>
        <p:spPr>
          <a:xfrm>
            <a:off x="2021541" y="6125953"/>
            <a:ext cx="1819836" cy="215444"/>
          </a:xfrm>
          <a:prstGeom prst="rect">
            <a:avLst/>
          </a:prstGeom>
          <a:noFill/>
        </p:spPr>
        <p:txBody>
          <a:bodyPr wrap="square">
            <a:spAutoFit/>
          </a:bodyPr>
          <a:lstStyle/>
          <a:p>
            <a:r>
              <a:rPr lang="en-US" sz="800" i="1" dirty="0"/>
              <a:t>Source: Author’s calculations.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9">
          <a:extLst>
            <a:ext uri="{FF2B5EF4-FFF2-40B4-BE49-F238E27FC236}">
              <a16:creationId xmlns:a16="http://schemas.microsoft.com/office/drawing/2014/main" id="{D79FFC43-3BC2-873B-95F4-5CE9A558422B}"/>
            </a:ext>
          </a:extLst>
        </p:cNvPr>
        <p:cNvGrpSpPr/>
        <p:nvPr/>
      </p:nvGrpSpPr>
      <p:grpSpPr>
        <a:xfrm>
          <a:off x="0" y="0"/>
          <a:ext cx="0" cy="0"/>
          <a:chOff x="0" y="0"/>
          <a:chExt cx="0" cy="0"/>
        </a:xfrm>
      </p:grpSpPr>
      <p:sp>
        <p:nvSpPr>
          <p:cNvPr id="75" name="Google Shape;75;g3b83c7c63cf_0_48">
            <a:extLst>
              <a:ext uri="{FF2B5EF4-FFF2-40B4-BE49-F238E27FC236}">
                <a16:creationId xmlns:a16="http://schemas.microsoft.com/office/drawing/2014/main" id="{5C3F4B63-1F36-2E6C-EB76-14D9F010056D}"/>
              </a:ext>
            </a:extLst>
          </p:cNvPr>
          <p:cNvSpPr txBox="1"/>
          <p:nvPr/>
        </p:nvSpPr>
        <p:spPr>
          <a:xfrm>
            <a:off x="491200" y="133067"/>
            <a:ext cx="8362513" cy="917600"/>
          </a:xfrm>
          <a:prstGeom prst="rect">
            <a:avLst/>
          </a:prstGeom>
          <a:noFill/>
          <a:ln>
            <a:noFill/>
          </a:ln>
        </p:spPr>
        <p:txBody>
          <a:bodyPr spcFirstLastPara="1" wrap="square" lIns="121900" tIns="121900" rIns="121900" bIns="121900" anchor="b" anchorCtr="0">
            <a:noAutofit/>
          </a:bodyPr>
          <a:lstStyle/>
          <a:p>
            <a:pPr>
              <a:buClr>
                <a:srgbClr val="000000"/>
              </a:buClr>
              <a:buSzPts val="2600"/>
            </a:pPr>
            <a:r>
              <a:rPr lang="en-US" sz="3467" b="1" dirty="0">
                <a:solidFill>
                  <a:srgbClr val="000000"/>
                </a:solidFill>
                <a:latin typeface="Open Sans"/>
                <a:ea typeface="Open Sans"/>
                <a:cs typeface="Open Sans"/>
                <a:sym typeface="Open Sans"/>
              </a:rPr>
              <a:t>Motivation and Research Questions</a:t>
            </a:r>
            <a:endParaRPr sz="3467" b="1" dirty="0">
              <a:solidFill>
                <a:srgbClr val="000000"/>
              </a:solidFill>
              <a:latin typeface="Open Sans"/>
              <a:ea typeface="Open Sans"/>
              <a:cs typeface="Open Sans"/>
              <a:sym typeface="Open Sans"/>
            </a:endParaRPr>
          </a:p>
        </p:txBody>
      </p:sp>
      <p:sp>
        <p:nvSpPr>
          <p:cNvPr id="76" name="Google Shape;76;g3b83c7c63cf_0_48">
            <a:extLst>
              <a:ext uri="{FF2B5EF4-FFF2-40B4-BE49-F238E27FC236}">
                <a16:creationId xmlns:a16="http://schemas.microsoft.com/office/drawing/2014/main" id="{26FDD9DA-92B9-C118-124C-5AB843CB9FCA}"/>
              </a:ext>
            </a:extLst>
          </p:cNvPr>
          <p:cNvSpPr/>
          <p:nvPr/>
        </p:nvSpPr>
        <p:spPr>
          <a:xfrm rot="10800000" flipH="1">
            <a:off x="587168" y="940229"/>
            <a:ext cx="11113600" cy="16400"/>
          </a:xfrm>
          <a:prstGeom prst="rect">
            <a:avLst/>
          </a:prstGeom>
          <a:solidFill>
            <a:srgbClr val="000000"/>
          </a:solidFill>
          <a:ln>
            <a:noFill/>
          </a:ln>
        </p:spPr>
        <p:txBody>
          <a:bodyPr spcFirstLastPara="1" wrap="square" lIns="121900" tIns="121900" rIns="121900" bIns="121900" anchor="ctr" anchorCtr="0">
            <a:noAutofit/>
          </a:bodyPr>
          <a:lstStyle/>
          <a:p>
            <a:pPr algn="ctr">
              <a:buClr>
                <a:srgbClr val="000000"/>
              </a:buClr>
              <a:buSzPts val="400"/>
            </a:pPr>
            <a:endParaRPr sz="533">
              <a:solidFill>
                <a:srgbClr val="000000"/>
              </a:solidFill>
              <a:latin typeface="Arial"/>
              <a:ea typeface="Arial"/>
              <a:cs typeface="Arial"/>
              <a:sym typeface="Arial"/>
            </a:endParaRPr>
          </a:p>
        </p:txBody>
      </p:sp>
      <p:sp>
        <p:nvSpPr>
          <p:cNvPr id="78" name="Google Shape;78;g3b83c7c63cf_0_48">
            <a:extLst>
              <a:ext uri="{FF2B5EF4-FFF2-40B4-BE49-F238E27FC236}">
                <a16:creationId xmlns:a16="http://schemas.microsoft.com/office/drawing/2014/main" id="{353E6392-F78E-E50B-6F71-AD5A29B4AA4A}"/>
              </a:ext>
            </a:extLst>
          </p:cNvPr>
          <p:cNvSpPr/>
          <p:nvPr/>
        </p:nvSpPr>
        <p:spPr>
          <a:xfrm>
            <a:off x="941000" y="1123256"/>
            <a:ext cx="10310000" cy="654400"/>
          </a:xfrm>
          <a:prstGeom prst="rect">
            <a:avLst/>
          </a:prstGeom>
          <a:solidFill>
            <a:schemeClr val="accent1">
              <a:lumMod val="50000"/>
            </a:schemeClr>
          </a:solidFill>
          <a:ln>
            <a:noFill/>
          </a:ln>
          <a:effectLst>
            <a:outerShdw blurRad="57150" dist="19050" dir="5400000" algn="bl" rotWithShape="0">
              <a:srgbClr val="000000">
                <a:alpha val="49019"/>
              </a:srgbClr>
            </a:outerShdw>
          </a:effectLst>
        </p:spPr>
        <p:txBody>
          <a:bodyPr spcFirstLastPara="1" wrap="square" lIns="121900" tIns="121900" rIns="121900" bIns="121900" anchor="ctr" anchorCtr="0">
            <a:noAutofit/>
          </a:bodyPr>
          <a:lstStyle/>
          <a:p>
            <a:pPr algn="ctr">
              <a:buClr>
                <a:srgbClr val="000000"/>
              </a:buClr>
              <a:buSzPts val="1100"/>
            </a:pPr>
            <a:r>
              <a:rPr lang="en-US" sz="2400" b="1" dirty="0">
                <a:solidFill>
                  <a:schemeClr val="lt1"/>
                </a:solidFill>
                <a:latin typeface="Open Sans"/>
                <a:ea typeface="Open Sans"/>
                <a:cs typeface="Open Sans"/>
                <a:sym typeface="Open Sans"/>
              </a:rPr>
              <a:t>Why DK1 is a demanding hedging environment</a:t>
            </a:r>
            <a:endParaRPr sz="1867" b="1" dirty="0">
              <a:solidFill>
                <a:srgbClr val="000000"/>
              </a:solidFill>
              <a:latin typeface="Arial"/>
              <a:ea typeface="Arial"/>
              <a:cs typeface="Arial"/>
              <a:sym typeface="Arial"/>
            </a:endParaRPr>
          </a:p>
        </p:txBody>
      </p:sp>
      <p:sp>
        <p:nvSpPr>
          <p:cNvPr id="2" name="Google Shape;289;p11">
            <a:extLst>
              <a:ext uri="{FF2B5EF4-FFF2-40B4-BE49-F238E27FC236}">
                <a16:creationId xmlns:a16="http://schemas.microsoft.com/office/drawing/2014/main" id="{6E50FB28-1878-F36F-E5FE-D0D1D22C5900}"/>
              </a:ext>
            </a:extLst>
          </p:cNvPr>
          <p:cNvSpPr/>
          <p:nvPr/>
        </p:nvSpPr>
        <p:spPr>
          <a:xfrm>
            <a:off x="3570750" y="2377587"/>
            <a:ext cx="1681200" cy="1418700"/>
          </a:xfrm>
          <a:prstGeom prst="ellipse">
            <a:avLst/>
          </a:prstGeom>
          <a:noFill/>
          <a:ln w="29350" cap="flat" cmpd="sng">
            <a:solidFill>
              <a:srgbClr val="595959"/>
            </a:solidFill>
            <a:prstDash val="solid"/>
            <a:round/>
            <a:headEnd type="none" w="sm" len="sm"/>
            <a:tailEnd type="none" w="sm" len="sm"/>
          </a:ln>
          <a:effectLst>
            <a:outerShdw blurRad="44024" dist="19566" dir="5400000" algn="bl" rotWithShape="0">
              <a:srgbClr val="000000">
                <a:alpha val="49019"/>
              </a:srgbClr>
            </a:outerShdw>
          </a:effectLst>
        </p:spPr>
        <p:txBody>
          <a:bodyPr spcFirstLastPara="1" wrap="square" lIns="93900" tIns="93900" rIns="93900" bIns="93900" anchor="ctr" anchorCtr="0">
            <a:noAutofit/>
          </a:bodyPr>
          <a:lstStyle/>
          <a:p>
            <a:pPr marL="0" marR="0" lvl="0" indent="0" algn="ctr" rtl="0">
              <a:lnSpc>
                <a:spcPct val="100000"/>
              </a:lnSpc>
              <a:spcBef>
                <a:spcPts val="0"/>
              </a:spcBef>
              <a:spcAft>
                <a:spcPts val="0"/>
              </a:spcAft>
              <a:buClr>
                <a:srgbClr val="000000"/>
              </a:buClr>
              <a:buSzPts val="1438"/>
              <a:buFont typeface="Arial"/>
              <a:buNone/>
            </a:pPr>
            <a:endParaRPr sz="1437" b="0" i="0" u="none" strike="noStrike" cap="none">
              <a:solidFill>
                <a:srgbClr val="000000"/>
              </a:solidFill>
              <a:latin typeface="Arial"/>
              <a:ea typeface="Arial"/>
              <a:cs typeface="Arial"/>
              <a:sym typeface="Arial"/>
            </a:endParaRPr>
          </a:p>
        </p:txBody>
      </p:sp>
      <p:sp>
        <p:nvSpPr>
          <p:cNvPr id="3" name="Google Shape;293;p11">
            <a:extLst>
              <a:ext uri="{FF2B5EF4-FFF2-40B4-BE49-F238E27FC236}">
                <a16:creationId xmlns:a16="http://schemas.microsoft.com/office/drawing/2014/main" id="{9DBAC1E0-AB5D-ABEC-B462-1324811F8FB7}"/>
              </a:ext>
            </a:extLst>
          </p:cNvPr>
          <p:cNvSpPr/>
          <p:nvPr/>
        </p:nvSpPr>
        <p:spPr>
          <a:xfrm>
            <a:off x="758057" y="2019007"/>
            <a:ext cx="2472900" cy="292200"/>
          </a:xfrm>
          <a:prstGeom prst="roundRect">
            <a:avLst>
              <a:gd name="adj" fmla="val 16667"/>
            </a:avLst>
          </a:prstGeom>
          <a:solidFill>
            <a:schemeClr val="accent1">
              <a:lumMod val="75000"/>
            </a:schemeClr>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200" b="1" i="0" u="none" strike="noStrike" cap="none" dirty="0">
                <a:solidFill>
                  <a:srgbClr val="FFFFFF"/>
                </a:solidFill>
                <a:latin typeface="Open Sans"/>
                <a:ea typeface="Open Sans"/>
                <a:cs typeface="Open Sans"/>
                <a:sym typeface="Open Sans"/>
              </a:rPr>
              <a:t>High renewable penetration</a:t>
            </a:r>
            <a:endParaRPr sz="1200" b="1" i="0" u="none" strike="noStrike" cap="none" dirty="0">
              <a:solidFill>
                <a:srgbClr val="FFFFFF"/>
              </a:solidFill>
              <a:latin typeface="Open Sans"/>
              <a:ea typeface="Open Sans"/>
              <a:cs typeface="Open Sans"/>
              <a:sym typeface="Open Sans"/>
            </a:endParaRPr>
          </a:p>
        </p:txBody>
      </p:sp>
      <p:sp>
        <p:nvSpPr>
          <p:cNvPr id="5" name="Google Shape;295;p11">
            <a:extLst>
              <a:ext uri="{FF2B5EF4-FFF2-40B4-BE49-F238E27FC236}">
                <a16:creationId xmlns:a16="http://schemas.microsoft.com/office/drawing/2014/main" id="{FDE056DA-A93D-6629-664E-B6FB6F24D06A}"/>
              </a:ext>
            </a:extLst>
          </p:cNvPr>
          <p:cNvSpPr/>
          <p:nvPr/>
        </p:nvSpPr>
        <p:spPr>
          <a:xfrm>
            <a:off x="5609550" y="2019019"/>
            <a:ext cx="2472900" cy="292200"/>
          </a:xfrm>
          <a:prstGeom prst="roundRect">
            <a:avLst>
              <a:gd name="adj" fmla="val 16667"/>
            </a:avLst>
          </a:prstGeom>
          <a:solidFill>
            <a:schemeClr val="accent1">
              <a:lumMod val="75000"/>
            </a:schemeClr>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algn="ctr">
              <a:buClr>
                <a:srgbClr val="000000"/>
              </a:buClr>
              <a:buSzPts val="1400"/>
            </a:pPr>
            <a:r>
              <a:rPr lang="en-US" sz="1200" b="1" dirty="0">
                <a:solidFill>
                  <a:srgbClr val="FFFFFF"/>
                </a:solidFill>
                <a:latin typeface="Open Sans"/>
                <a:ea typeface="Open Sans"/>
                <a:cs typeface="Open Sans"/>
                <a:sym typeface="Open Sans"/>
              </a:rPr>
              <a:t>Strong market integration</a:t>
            </a:r>
            <a:endParaRPr sz="1200" b="1" dirty="0">
              <a:solidFill>
                <a:srgbClr val="FFFFFF"/>
              </a:solidFill>
              <a:latin typeface="Open Sans"/>
              <a:ea typeface="Open Sans"/>
              <a:cs typeface="Open Sans"/>
              <a:sym typeface="Open Sans"/>
            </a:endParaRPr>
          </a:p>
        </p:txBody>
      </p:sp>
      <p:sp>
        <p:nvSpPr>
          <p:cNvPr id="7" name="Google Shape;297;p11">
            <a:extLst>
              <a:ext uri="{FF2B5EF4-FFF2-40B4-BE49-F238E27FC236}">
                <a16:creationId xmlns:a16="http://schemas.microsoft.com/office/drawing/2014/main" id="{FDF58E82-EB65-B2DA-761D-5CF558DC2454}"/>
              </a:ext>
            </a:extLst>
          </p:cNvPr>
          <p:cNvSpPr txBox="1"/>
          <p:nvPr/>
        </p:nvSpPr>
        <p:spPr>
          <a:xfrm>
            <a:off x="3731400" y="2786487"/>
            <a:ext cx="1359900" cy="600900"/>
          </a:xfrm>
          <a:prstGeom prst="rect">
            <a:avLst/>
          </a:prstGeom>
          <a:noFill/>
          <a:ln>
            <a:noFill/>
          </a:ln>
        </p:spPr>
        <p:txBody>
          <a:bodyPr spcFirstLastPara="1" wrap="square" lIns="93900" tIns="93900" rIns="93900" bIns="93900" anchor="ctr" anchorCtr="0">
            <a:noAutofit/>
          </a:bodyPr>
          <a:lstStyle/>
          <a:p>
            <a:pPr marL="0" lvl="0" indent="0" algn="ctr" rtl="0">
              <a:spcBef>
                <a:spcPts val="0"/>
              </a:spcBef>
              <a:spcAft>
                <a:spcPts val="0"/>
              </a:spcAft>
              <a:buClr>
                <a:schemeClr val="dk1"/>
              </a:buClr>
              <a:buSzPts val="1335"/>
              <a:buFont typeface="Arial"/>
              <a:buNone/>
            </a:pPr>
            <a:r>
              <a:rPr lang="fr" sz="1435" b="1" dirty="0">
                <a:solidFill>
                  <a:schemeClr val="dk2"/>
                </a:solidFill>
                <a:latin typeface="Open Sans"/>
                <a:ea typeface="Open Sans"/>
                <a:cs typeface="Open Sans"/>
                <a:sym typeface="Open Sans"/>
              </a:rPr>
              <a:t>DK1</a:t>
            </a:r>
            <a:endParaRPr sz="1435" b="1" dirty="0">
              <a:solidFill>
                <a:srgbClr val="595959"/>
              </a:solidFill>
              <a:latin typeface="Open Sans"/>
              <a:ea typeface="Open Sans"/>
              <a:cs typeface="Open Sans"/>
              <a:sym typeface="Open Sans"/>
            </a:endParaRPr>
          </a:p>
        </p:txBody>
      </p:sp>
      <p:cxnSp>
        <p:nvCxnSpPr>
          <p:cNvPr id="30" name="Google Shape;298;p11">
            <a:extLst>
              <a:ext uri="{FF2B5EF4-FFF2-40B4-BE49-F238E27FC236}">
                <a16:creationId xmlns:a16="http://schemas.microsoft.com/office/drawing/2014/main" id="{D6D5E73F-67E9-5628-AEA5-37110D308BD7}"/>
              </a:ext>
            </a:extLst>
          </p:cNvPr>
          <p:cNvCxnSpPr>
            <a:cxnSpLocks/>
            <a:stCxn id="3" idx="3"/>
            <a:endCxn id="2" idx="1"/>
          </p:cNvCxnSpPr>
          <p:nvPr/>
        </p:nvCxnSpPr>
        <p:spPr>
          <a:xfrm>
            <a:off x="3230957" y="2165107"/>
            <a:ext cx="585900" cy="420300"/>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cxnSp>
        <p:nvCxnSpPr>
          <p:cNvPr id="64" name="Google Shape;301;p11">
            <a:extLst>
              <a:ext uri="{FF2B5EF4-FFF2-40B4-BE49-F238E27FC236}">
                <a16:creationId xmlns:a16="http://schemas.microsoft.com/office/drawing/2014/main" id="{5FB5800E-0F45-A95D-C255-DC99C50B1D8F}"/>
              </a:ext>
            </a:extLst>
          </p:cNvPr>
          <p:cNvCxnSpPr>
            <a:stCxn id="5" idx="1"/>
            <a:endCxn id="2" idx="7"/>
          </p:cNvCxnSpPr>
          <p:nvPr/>
        </p:nvCxnSpPr>
        <p:spPr>
          <a:xfrm flipH="1">
            <a:off x="5005650" y="2165119"/>
            <a:ext cx="603900" cy="420300"/>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sp>
        <p:nvSpPr>
          <p:cNvPr id="66" name="Google Shape;305;p11">
            <a:extLst>
              <a:ext uri="{FF2B5EF4-FFF2-40B4-BE49-F238E27FC236}">
                <a16:creationId xmlns:a16="http://schemas.microsoft.com/office/drawing/2014/main" id="{B36C8079-EEBA-007F-E163-FD9B16C5BE87}"/>
              </a:ext>
            </a:extLst>
          </p:cNvPr>
          <p:cNvSpPr/>
          <p:nvPr/>
        </p:nvSpPr>
        <p:spPr>
          <a:xfrm>
            <a:off x="758050" y="2454294"/>
            <a:ext cx="2472900" cy="688200"/>
          </a:xfrm>
          <a:prstGeom prst="roundRect">
            <a:avLst>
              <a:gd name="adj" fmla="val 16667"/>
            </a:avLst>
          </a:prstGeom>
          <a:solidFill>
            <a:srgbClr val="EEEEEE"/>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Wind-driven variability and negative-price episodes</a:t>
            </a:r>
            <a:endParaRPr sz="1000" dirty="0">
              <a:solidFill>
                <a:srgbClr val="595959"/>
              </a:solidFill>
              <a:latin typeface="Open Sans"/>
              <a:ea typeface="Open Sans"/>
              <a:cs typeface="Open Sans"/>
              <a:sym typeface="Open Sans"/>
            </a:endParaRPr>
          </a:p>
        </p:txBody>
      </p:sp>
      <p:sp>
        <p:nvSpPr>
          <p:cNvPr id="67" name="Google Shape;306;p11">
            <a:extLst>
              <a:ext uri="{FF2B5EF4-FFF2-40B4-BE49-F238E27FC236}">
                <a16:creationId xmlns:a16="http://schemas.microsoft.com/office/drawing/2014/main" id="{5F39294B-17C2-D045-5AC7-A860DE04E257}"/>
              </a:ext>
            </a:extLst>
          </p:cNvPr>
          <p:cNvSpPr/>
          <p:nvPr/>
        </p:nvSpPr>
        <p:spPr>
          <a:xfrm>
            <a:off x="5613750" y="2454307"/>
            <a:ext cx="2472900" cy="688200"/>
          </a:xfrm>
          <a:prstGeom prst="roundRect">
            <a:avLst>
              <a:gd name="adj" fmla="val 16667"/>
            </a:avLst>
          </a:prstGeom>
          <a:solidFill>
            <a:srgbClr val="EEEEEE"/>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Nordic and Continental market exposure</a:t>
            </a:r>
            <a:endParaRPr sz="1000" dirty="0">
              <a:solidFill>
                <a:srgbClr val="595959"/>
              </a:solidFill>
              <a:latin typeface="Open Sans"/>
              <a:ea typeface="Open Sans"/>
              <a:cs typeface="Open Sans"/>
              <a:sym typeface="Open Sans"/>
            </a:endParaRPr>
          </a:p>
        </p:txBody>
      </p:sp>
      <p:pic>
        <p:nvPicPr>
          <p:cNvPr id="8" name="Image 7">
            <a:extLst>
              <a:ext uri="{FF2B5EF4-FFF2-40B4-BE49-F238E27FC236}">
                <a16:creationId xmlns:a16="http://schemas.microsoft.com/office/drawing/2014/main" id="{0D9E185E-2FFD-543D-095C-D3D2710093C3}"/>
              </a:ext>
            </a:extLst>
          </p:cNvPr>
          <p:cNvPicPr>
            <a:picLocks noChangeAspect="1"/>
          </p:cNvPicPr>
          <p:nvPr/>
        </p:nvPicPr>
        <p:blipFill>
          <a:blip r:embed="rId3"/>
          <a:stretch>
            <a:fillRect/>
          </a:stretch>
        </p:blipFill>
        <p:spPr>
          <a:xfrm>
            <a:off x="5696292" y="3461589"/>
            <a:ext cx="1962633" cy="2456183"/>
          </a:xfrm>
          <a:prstGeom prst="rect">
            <a:avLst/>
          </a:prstGeom>
        </p:spPr>
      </p:pic>
      <p:sp>
        <p:nvSpPr>
          <p:cNvPr id="10" name="ZoneTexte 9">
            <a:extLst>
              <a:ext uri="{FF2B5EF4-FFF2-40B4-BE49-F238E27FC236}">
                <a16:creationId xmlns:a16="http://schemas.microsoft.com/office/drawing/2014/main" id="{C405AC62-6C43-0F29-4539-731B9938D682}"/>
              </a:ext>
            </a:extLst>
          </p:cNvPr>
          <p:cNvSpPr txBox="1"/>
          <p:nvPr/>
        </p:nvSpPr>
        <p:spPr>
          <a:xfrm>
            <a:off x="5883905" y="5917772"/>
            <a:ext cx="1587406" cy="253916"/>
          </a:xfrm>
          <a:prstGeom prst="rect">
            <a:avLst/>
          </a:prstGeom>
          <a:noFill/>
        </p:spPr>
        <p:txBody>
          <a:bodyPr wrap="square">
            <a:spAutoFit/>
          </a:bodyPr>
          <a:lstStyle/>
          <a:p>
            <a:pPr algn="l"/>
            <a:r>
              <a:rPr lang="en-US" sz="1050" b="0" i="0" u="none" strike="noStrike" baseline="0" dirty="0">
                <a:solidFill>
                  <a:srgbClr val="000000"/>
                </a:solidFill>
                <a:latin typeface="LMRoman12-Regular"/>
              </a:rPr>
              <a:t>Source: Energinet (</a:t>
            </a:r>
            <a:r>
              <a:rPr lang="en-US" sz="1050" b="0" i="0" u="none" strike="noStrike" baseline="0" dirty="0">
                <a:solidFill>
                  <a:srgbClr val="0000B3"/>
                </a:solidFill>
                <a:latin typeface="LMRoman12-Regular"/>
              </a:rPr>
              <a:t>2024</a:t>
            </a:r>
            <a:r>
              <a:rPr lang="en-US" sz="1050" b="0" i="0" u="none" strike="noStrike" baseline="0" dirty="0">
                <a:solidFill>
                  <a:srgbClr val="000000"/>
                </a:solidFill>
                <a:latin typeface="LMRoman12-Regular"/>
              </a:rPr>
              <a:t>)</a:t>
            </a:r>
            <a:endParaRPr lang="en-US" sz="1400" dirty="0"/>
          </a:p>
        </p:txBody>
      </p:sp>
      <p:pic>
        <p:nvPicPr>
          <p:cNvPr id="12" name="Image 11">
            <a:extLst>
              <a:ext uri="{FF2B5EF4-FFF2-40B4-BE49-F238E27FC236}">
                <a16:creationId xmlns:a16="http://schemas.microsoft.com/office/drawing/2014/main" id="{6C5235B2-C8BF-D875-F4CD-B5510C5BA8E8}"/>
              </a:ext>
            </a:extLst>
          </p:cNvPr>
          <p:cNvPicPr>
            <a:picLocks noChangeAspect="1"/>
          </p:cNvPicPr>
          <p:nvPr/>
        </p:nvPicPr>
        <p:blipFill>
          <a:blip r:embed="rId4"/>
          <a:stretch>
            <a:fillRect/>
          </a:stretch>
        </p:blipFill>
        <p:spPr>
          <a:xfrm>
            <a:off x="8082450" y="3087767"/>
            <a:ext cx="4026592" cy="3375367"/>
          </a:xfrm>
          <a:prstGeom prst="rect">
            <a:avLst/>
          </a:prstGeom>
        </p:spPr>
      </p:pic>
      <p:sp>
        <p:nvSpPr>
          <p:cNvPr id="4" name="Google Shape;81;p3">
            <a:extLst>
              <a:ext uri="{FF2B5EF4-FFF2-40B4-BE49-F238E27FC236}">
                <a16:creationId xmlns:a16="http://schemas.microsoft.com/office/drawing/2014/main" id="{756745BB-4A9F-3B3D-870E-1567B0D6DDC9}"/>
              </a:ext>
            </a:extLst>
          </p:cNvPr>
          <p:cNvSpPr txBox="1">
            <a:spLocks noGrp="1"/>
          </p:cNvSpPr>
          <p:nvPr>
            <p:ph type="sldNum" idx="12"/>
          </p:nvPr>
        </p:nvSpPr>
        <p:spPr>
          <a:xfrm>
            <a:off x="11778400" y="6547767"/>
            <a:ext cx="413600" cy="389600"/>
          </a:xfrm>
          <a:prstGeom prst="rect">
            <a:avLst/>
          </a:prstGeom>
          <a:solidFill>
            <a:srgbClr val="073763"/>
          </a:solidFill>
          <a:ln>
            <a:noFill/>
          </a:ln>
          <a:effectLst>
            <a:outerShdw blurRad="57150" dist="19050" dir="5400000" algn="bl" rotWithShape="0">
              <a:srgbClr val="000000">
                <a:alpha val="69410"/>
              </a:srgbClr>
            </a:outerShdw>
          </a:effectLst>
        </p:spPr>
        <p:txBody>
          <a:bodyPr spcFirstLastPara="1" wrap="square" lIns="121900" tIns="121900" rIns="121900" bIns="121900" anchor="ctr" anchorCtr="0">
            <a:normAutofit fontScale="92500" lnSpcReduction="20000"/>
          </a:bodyPr>
          <a:lstStyle/>
          <a:p>
            <a:pPr algn="ctr">
              <a:buSzPct val="100000"/>
            </a:pPr>
            <a:fld id="{00000000-1234-1234-1234-123412341234}" type="slidenum">
              <a:rPr lang="fr">
                <a:solidFill>
                  <a:schemeClr val="lt1"/>
                </a:solidFill>
                <a:latin typeface="Arial"/>
                <a:ea typeface="Arial"/>
                <a:cs typeface="Arial"/>
                <a:sym typeface="Arial"/>
              </a:rPr>
              <a:pPr algn="ctr">
                <a:buSzPct val="100000"/>
              </a:pPr>
              <a:t>5</a:t>
            </a:fld>
            <a:endParaRPr>
              <a:solidFill>
                <a:schemeClr val="lt1"/>
              </a:solidFill>
              <a:latin typeface="Arial"/>
              <a:ea typeface="Arial"/>
              <a:cs typeface="Arial"/>
              <a:sym typeface="Arial"/>
            </a:endParaRPr>
          </a:p>
        </p:txBody>
      </p:sp>
      <p:sp>
        <p:nvSpPr>
          <p:cNvPr id="9" name="ZoneTexte 8">
            <a:extLst>
              <a:ext uri="{FF2B5EF4-FFF2-40B4-BE49-F238E27FC236}">
                <a16:creationId xmlns:a16="http://schemas.microsoft.com/office/drawing/2014/main" id="{9739EBCE-A1F2-F5C7-D26B-F70E095F0F63}"/>
              </a:ext>
            </a:extLst>
          </p:cNvPr>
          <p:cNvSpPr txBox="1"/>
          <p:nvPr/>
        </p:nvSpPr>
        <p:spPr>
          <a:xfrm>
            <a:off x="9575042" y="6440045"/>
            <a:ext cx="1819836" cy="215444"/>
          </a:xfrm>
          <a:prstGeom prst="rect">
            <a:avLst/>
          </a:prstGeom>
          <a:noFill/>
        </p:spPr>
        <p:txBody>
          <a:bodyPr wrap="square">
            <a:spAutoFit/>
          </a:bodyPr>
          <a:lstStyle/>
          <a:p>
            <a:r>
              <a:rPr lang="en-US" sz="800" i="1" dirty="0"/>
              <a:t>Source: Author’s calculations.</a:t>
            </a:r>
          </a:p>
        </p:txBody>
      </p:sp>
    </p:spTree>
    <p:extLst>
      <p:ext uri="{BB962C8B-B14F-4D97-AF65-F5344CB8AC3E}">
        <p14:creationId xmlns:p14="http://schemas.microsoft.com/office/powerpoint/2010/main" val="250457270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9">
          <a:extLst>
            <a:ext uri="{FF2B5EF4-FFF2-40B4-BE49-F238E27FC236}">
              <a16:creationId xmlns:a16="http://schemas.microsoft.com/office/drawing/2014/main" id="{C94CF196-3BBC-D1C7-F157-2AD28B63772B}"/>
            </a:ext>
          </a:extLst>
        </p:cNvPr>
        <p:cNvGrpSpPr/>
        <p:nvPr/>
      </p:nvGrpSpPr>
      <p:grpSpPr>
        <a:xfrm>
          <a:off x="0" y="0"/>
          <a:ext cx="0" cy="0"/>
          <a:chOff x="0" y="0"/>
          <a:chExt cx="0" cy="0"/>
        </a:xfrm>
      </p:grpSpPr>
      <p:sp>
        <p:nvSpPr>
          <p:cNvPr id="75" name="Google Shape;75;g3b83c7c63cf_0_48">
            <a:extLst>
              <a:ext uri="{FF2B5EF4-FFF2-40B4-BE49-F238E27FC236}">
                <a16:creationId xmlns:a16="http://schemas.microsoft.com/office/drawing/2014/main" id="{A01012E3-6067-B0F8-31F4-B4B76BFC77E5}"/>
              </a:ext>
            </a:extLst>
          </p:cNvPr>
          <p:cNvSpPr txBox="1"/>
          <p:nvPr/>
        </p:nvSpPr>
        <p:spPr>
          <a:xfrm>
            <a:off x="491200" y="133067"/>
            <a:ext cx="8362513" cy="917600"/>
          </a:xfrm>
          <a:prstGeom prst="rect">
            <a:avLst/>
          </a:prstGeom>
          <a:noFill/>
          <a:ln>
            <a:noFill/>
          </a:ln>
        </p:spPr>
        <p:txBody>
          <a:bodyPr spcFirstLastPara="1" wrap="square" lIns="121900" tIns="121900" rIns="121900" bIns="121900" anchor="b" anchorCtr="0">
            <a:noAutofit/>
          </a:bodyPr>
          <a:lstStyle/>
          <a:p>
            <a:pPr>
              <a:buClr>
                <a:srgbClr val="000000"/>
              </a:buClr>
              <a:buSzPts val="2600"/>
            </a:pPr>
            <a:r>
              <a:rPr lang="en-US" sz="3467" b="1" dirty="0">
                <a:solidFill>
                  <a:srgbClr val="000000"/>
                </a:solidFill>
                <a:latin typeface="Open Sans"/>
                <a:ea typeface="Open Sans"/>
                <a:cs typeface="Open Sans"/>
                <a:sym typeface="Open Sans"/>
              </a:rPr>
              <a:t>Motivation and Research Questions</a:t>
            </a:r>
            <a:endParaRPr sz="3467" b="1" dirty="0">
              <a:solidFill>
                <a:srgbClr val="000000"/>
              </a:solidFill>
              <a:latin typeface="Open Sans"/>
              <a:ea typeface="Open Sans"/>
              <a:cs typeface="Open Sans"/>
              <a:sym typeface="Open Sans"/>
            </a:endParaRPr>
          </a:p>
        </p:txBody>
      </p:sp>
      <p:sp>
        <p:nvSpPr>
          <p:cNvPr id="76" name="Google Shape;76;g3b83c7c63cf_0_48">
            <a:extLst>
              <a:ext uri="{FF2B5EF4-FFF2-40B4-BE49-F238E27FC236}">
                <a16:creationId xmlns:a16="http://schemas.microsoft.com/office/drawing/2014/main" id="{B9A7C2A4-FB93-7B0F-D59C-16CF90BD6F8D}"/>
              </a:ext>
            </a:extLst>
          </p:cNvPr>
          <p:cNvSpPr/>
          <p:nvPr/>
        </p:nvSpPr>
        <p:spPr>
          <a:xfrm rot="10800000" flipH="1">
            <a:off x="587168" y="940229"/>
            <a:ext cx="11113600" cy="16400"/>
          </a:xfrm>
          <a:prstGeom prst="rect">
            <a:avLst/>
          </a:prstGeom>
          <a:solidFill>
            <a:srgbClr val="000000"/>
          </a:solidFill>
          <a:ln>
            <a:noFill/>
          </a:ln>
        </p:spPr>
        <p:txBody>
          <a:bodyPr spcFirstLastPara="1" wrap="square" lIns="121900" tIns="121900" rIns="121900" bIns="121900" anchor="ctr" anchorCtr="0">
            <a:noAutofit/>
          </a:bodyPr>
          <a:lstStyle/>
          <a:p>
            <a:pPr algn="ctr">
              <a:buClr>
                <a:srgbClr val="000000"/>
              </a:buClr>
              <a:buSzPts val="400"/>
            </a:pPr>
            <a:endParaRPr sz="533">
              <a:solidFill>
                <a:srgbClr val="000000"/>
              </a:solidFill>
              <a:latin typeface="Arial"/>
              <a:ea typeface="Arial"/>
              <a:cs typeface="Arial"/>
              <a:sym typeface="Arial"/>
            </a:endParaRPr>
          </a:p>
        </p:txBody>
      </p:sp>
      <p:sp>
        <p:nvSpPr>
          <p:cNvPr id="78" name="Google Shape;78;g3b83c7c63cf_0_48">
            <a:extLst>
              <a:ext uri="{FF2B5EF4-FFF2-40B4-BE49-F238E27FC236}">
                <a16:creationId xmlns:a16="http://schemas.microsoft.com/office/drawing/2014/main" id="{E1DA0A84-9F09-2242-11C2-E9BDEE486F47}"/>
              </a:ext>
            </a:extLst>
          </p:cNvPr>
          <p:cNvSpPr/>
          <p:nvPr/>
        </p:nvSpPr>
        <p:spPr>
          <a:xfrm>
            <a:off x="941000" y="1123256"/>
            <a:ext cx="10310000" cy="654400"/>
          </a:xfrm>
          <a:prstGeom prst="rect">
            <a:avLst/>
          </a:prstGeom>
          <a:solidFill>
            <a:schemeClr val="accent1">
              <a:lumMod val="50000"/>
            </a:schemeClr>
          </a:solidFill>
          <a:ln>
            <a:noFill/>
          </a:ln>
          <a:effectLst>
            <a:outerShdw blurRad="57150" dist="19050" dir="5400000" algn="bl" rotWithShape="0">
              <a:srgbClr val="000000">
                <a:alpha val="49019"/>
              </a:srgbClr>
            </a:outerShdw>
          </a:effectLst>
        </p:spPr>
        <p:txBody>
          <a:bodyPr spcFirstLastPara="1" wrap="square" lIns="121900" tIns="121900" rIns="121900" bIns="121900" anchor="ctr" anchorCtr="0">
            <a:noAutofit/>
          </a:bodyPr>
          <a:lstStyle/>
          <a:p>
            <a:pPr algn="ctr">
              <a:buClr>
                <a:srgbClr val="000000"/>
              </a:buClr>
              <a:buSzPts val="1100"/>
            </a:pPr>
            <a:r>
              <a:rPr lang="en-US" sz="2400" b="1" dirty="0">
                <a:solidFill>
                  <a:schemeClr val="lt1"/>
                </a:solidFill>
                <a:latin typeface="Open Sans"/>
                <a:ea typeface="Open Sans"/>
                <a:cs typeface="Open Sans"/>
                <a:sym typeface="Open Sans"/>
              </a:rPr>
              <a:t>Why DK1 is a demanding hedging environment</a:t>
            </a:r>
            <a:endParaRPr sz="1867" b="1" dirty="0">
              <a:solidFill>
                <a:srgbClr val="000000"/>
              </a:solidFill>
              <a:latin typeface="Arial"/>
              <a:ea typeface="Arial"/>
              <a:cs typeface="Arial"/>
              <a:sym typeface="Arial"/>
            </a:endParaRPr>
          </a:p>
        </p:txBody>
      </p:sp>
      <p:sp>
        <p:nvSpPr>
          <p:cNvPr id="2" name="Google Shape;289;p11">
            <a:extLst>
              <a:ext uri="{FF2B5EF4-FFF2-40B4-BE49-F238E27FC236}">
                <a16:creationId xmlns:a16="http://schemas.microsoft.com/office/drawing/2014/main" id="{4C002E68-6A6C-18D2-A925-5F3970AEEABF}"/>
              </a:ext>
            </a:extLst>
          </p:cNvPr>
          <p:cNvSpPr/>
          <p:nvPr/>
        </p:nvSpPr>
        <p:spPr>
          <a:xfrm>
            <a:off x="5251950" y="3116600"/>
            <a:ext cx="1681200" cy="1418700"/>
          </a:xfrm>
          <a:prstGeom prst="ellipse">
            <a:avLst/>
          </a:prstGeom>
          <a:noFill/>
          <a:ln w="29350" cap="flat" cmpd="sng">
            <a:solidFill>
              <a:srgbClr val="595959"/>
            </a:solidFill>
            <a:prstDash val="solid"/>
            <a:round/>
            <a:headEnd type="none" w="sm" len="sm"/>
            <a:tailEnd type="none" w="sm" len="sm"/>
          </a:ln>
          <a:effectLst>
            <a:outerShdw blurRad="44024" dist="19566" dir="5400000" algn="bl" rotWithShape="0">
              <a:srgbClr val="000000">
                <a:alpha val="49019"/>
              </a:srgbClr>
            </a:outerShdw>
          </a:effectLst>
        </p:spPr>
        <p:txBody>
          <a:bodyPr spcFirstLastPara="1" wrap="square" lIns="93900" tIns="93900" rIns="93900" bIns="93900" anchor="ctr" anchorCtr="0">
            <a:noAutofit/>
          </a:bodyPr>
          <a:lstStyle/>
          <a:p>
            <a:pPr marL="0" marR="0" lvl="0" indent="0" algn="ctr" rtl="0">
              <a:lnSpc>
                <a:spcPct val="100000"/>
              </a:lnSpc>
              <a:spcBef>
                <a:spcPts val="0"/>
              </a:spcBef>
              <a:spcAft>
                <a:spcPts val="0"/>
              </a:spcAft>
              <a:buClr>
                <a:srgbClr val="000000"/>
              </a:buClr>
              <a:buSzPts val="1438"/>
              <a:buFont typeface="Arial"/>
              <a:buNone/>
            </a:pPr>
            <a:endParaRPr sz="1437" b="0" i="0" u="none" strike="noStrike" cap="none">
              <a:solidFill>
                <a:srgbClr val="000000"/>
              </a:solidFill>
              <a:latin typeface="Arial"/>
              <a:ea typeface="Arial"/>
              <a:cs typeface="Arial"/>
              <a:sym typeface="Arial"/>
            </a:endParaRPr>
          </a:p>
        </p:txBody>
      </p:sp>
      <p:sp>
        <p:nvSpPr>
          <p:cNvPr id="3" name="Google Shape;293;p11">
            <a:extLst>
              <a:ext uri="{FF2B5EF4-FFF2-40B4-BE49-F238E27FC236}">
                <a16:creationId xmlns:a16="http://schemas.microsoft.com/office/drawing/2014/main" id="{F4017973-1113-541B-AB5A-2C2722C38E77}"/>
              </a:ext>
            </a:extLst>
          </p:cNvPr>
          <p:cNvSpPr/>
          <p:nvPr/>
        </p:nvSpPr>
        <p:spPr>
          <a:xfrm>
            <a:off x="2439257" y="2758020"/>
            <a:ext cx="2472900" cy="292200"/>
          </a:xfrm>
          <a:prstGeom prst="roundRect">
            <a:avLst>
              <a:gd name="adj" fmla="val 16667"/>
            </a:avLst>
          </a:prstGeom>
          <a:solidFill>
            <a:schemeClr val="accent1">
              <a:lumMod val="75000"/>
            </a:schemeClr>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US" sz="1200" b="1" i="0" u="none" strike="noStrike" cap="none" dirty="0">
                <a:solidFill>
                  <a:srgbClr val="FFFFFF"/>
                </a:solidFill>
                <a:latin typeface="Open Sans"/>
                <a:ea typeface="Open Sans"/>
                <a:cs typeface="Open Sans"/>
                <a:sym typeface="Open Sans"/>
              </a:rPr>
              <a:t>High renewable penetration</a:t>
            </a:r>
            <a:endParaRPr sz="1200" b="1" i="0" u="none" strike="noStrike" cap="none" dirty="0">
              <a:solidFill>
                <a:srgbClr val="FFFFFF"/>
              </a:solidFill>
              <a:latin typeface="Open Sans"/>
              <a:ea typeface="Open Sans"/>
              <a:cs typeface="Open Sans"/>
              <a:sym typeface="Open Sans"/>
            </a:endParaRPr>
          </a:p>
        </p:txBody>
      </p:sp>
      <p:sp>
        <p:nvSpPr>
          <p:cNvPr id="4" name="Google Shape;294;p11">
            <a:extLst>
              <a:ext uri="{FF2B5EF4-FFF2-40B4-BE49-F238E27FC236}">
                <a16:creationId xmlns:a16="http://schemas.microsoft.com/office/drawing/2014/main" id="{8E9BECEB-C91F-7C14-A89A-92CD72F9B614}"/>
              </a:ext>
            </a:extLst>
          </p:cNvPr>
          <p:cNvSpPr/>
          <p:nvPr/>
        </p:nvSpPr>
        <p:spPr>
          <a:xfrm>
            <a:off x="4916350" y="5067300"/>
            <a:ext cx="2472900" cy="292200"/>
          </a:xfrm>
          <a:prstGeom prst="roundRect">
            <a:avLst>
              <a:gd name="adj" fmla="val 16667"/>
            </a:avLst>
          </a:prstGeom>
          <a:solidFill>
            <a:schemeClr val="accent1">
              <a:lumMod val="75000"/>
            </a:schemeClr>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algn="ctr">
              <a:buClr>
                <a:srgbClr val="000000"/>
              </a:buClr>
              <a:buSzPts val="1400"/>
            </a:pPr>
            <a:r>
              <a:rPr lang="en-US" sz="1200" b="1" dirty="0">
                <a:solidFill>
                  <a:srgbClr val="FFFFFF"/>
                </a:solidFill>
                <a:latin typeface="Open Sans"/>
                <a:ea typeface="Open Sans"/>
                <a:cs typeface="Open Sans"/>
                <a:sym typeface="Open Sans"/>
              </a:rPr>
              <a:t>Structural instability</a:t>
            </a:r>
            <a:endParaRPr sz="1200" b="1" dirty="0">
              <a:solidFill>
                <a:srgbClr val="FFFFFF"/>
              </a:solidFill>
              <a:latin typeface="Open Sans"/>
              <a:ea typeface="Open Sans"/>
              <a:cs typeface="Open Sans"/>
              <a:sym typeface="Open Sans"/>
            </a:endParaRPr>
          </a:p>
        </p:txBody>
      </p:sp>
      <p:sp>
        <p:nvSpPr>
          <p:cNvPr id="5" name="Google Shape;295;p11">
            <a:extLst>
              <a:ext uri="{FF2B5EF4-FFF2-40B4-BE49-F238E27FC236}">
                <a16:creationId xmlns:a16="http://schemas.microsoft.com/office/drawing/2014/main" id="{55737D9F-E69A-BE1A-BF6F-3026FC680265}"/>
              </a:ext>
            </a:extLst>
          </p:cNvPr>
          <p:cNvSpPr/>
          <p:nvPr/>
        </p:nvSpPr>
        <p:spPr>
          <a:xfrm>
            <a:off x="7290750" y="2758032"/>
            <a:ext cx="2472900" cy="292200"/>
          </a:xfrm>
          <a:prstGeom prst="roundRect">
            <a:avLst>
              <a:gd name="adj" fmla="val 16667"/>
            </a:avLst>
          </a:prstGeom>
          <a:solidFill>
            <a:schemeClr val="accent1">
              <a:lumMod val="75000"/>
            </a:schemeClr>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algn="ctr">
              <a:buClr>
                <a:srgbClr val="000000"/>
              </a:buClr>
              <a:buSzPts val="1400"/>
            </a:pPr>
            <a:r>
              <a:rPr lang="en-US" sz="1200" b="1" dirty="0">
                <a:solidFill>
                  <a:srgbClr val="FFFFFF"/>
                </a:solidFill>
                <a:latin typeface="Open Sans"/>
                <a:ea typeface="Open Sans"/>
                <a:cs typeface="Open Sans"/>
                <a:sym typeface="Open Sans"/>
              </a:rPr>
              <a:t>Strong market integration</a:t>
            </a:r>
            <a:endParaRPr sz="1200" b="1" dirty="0">
              <a:solidFill>
                <a:srgbClr val="FFFFFF"/>
              </a:solidFill>
              <a:latin typeface="Open Sans"/>
              <a:ea typeface="Open Sans"/>
              <a:cs typeface="Open Sans"/>
              <a:sym typeface="Open Sans"/>
            </a:endParaRPr>
          </a:p>
        </p:txBody>
      </p:sp>
      <p:sp>
        <p:nvSpPr>
          <p:cNvPr id="7" name="Google Shape;297;p11">
            <a:extLst>
              <a:ext uri="{FF2B5EF4-FFF2-40B4-BE49-F238E27FC236}">
                <a16:creationId xmlns:a16="http://schemas.microsoft.com/office/drawing/2014/main" id="{5F62D533-5176-8A53-9EDA-9EE48919FA61}"/>
              </a:ext>
            </a:extLst>
          </p:cNvPr>
          <p:cNvSpPr txBox="1"/>
          <p:nvPr/>
        </p:nvSpPr>
        <p:spPr>
          <a:xfrm>
            <a:off x="5412600" y="3525500"/>
            <a:ext cx="1359900" cy="600900"/>
          </a:xfrm>
          <a:prstGeom prst="rect">
            <a:avLst/>
          </a:prstGeom>
          <a:noFill/>
          <a:ln>
            <a:noFill/>
          </a:ln>
        </p:spPr>
        <p:txBody>
          <a:bodyPr spcFirstLastPara="1" wrap="square" lIns="93900" tIns="93900" rIns="93900" bIns="93900" anchor="ctr" anchorCtr="0">
            <a:noAutofit/>
          </a:bodyPr>
          <a:lstStyle/>
          <a:p>
            <a:pPr marL="0" lvl="0" indent="0" algn="ctr" rtl="0">
              <a:spcBef>
                <a:spcPts val="0"/>
              </a:spcBef>
              <a:spcAft>
                <a:spcPts val="0"/>
              </a:spcAft>
              <a:buClr>
                <a:schemeClr val="dk1"/>
              </a:buClr>
              <a:buSzPts val="1335"/>
              <a:buFont typeface="Arial"/>
              <a:buNone/>
            </a:pPr>
            <a:r>
              <a:rPr lang="fr" sz="1435" b="1" dirty="0">
                <a:solidFill>
                  <a:schemeClr val="dk2"/>
                </a:solidFill>
                <a:latin typeface="Open Sans"/>
                <a:ea typeface="Open Sans"/>
                <a:cs typeface="Open Sans"/>
                <a:sym typeface="Open Sans"/>
              </a:rPr>
              <a:t>DK1</a:t>
            </a:r>
            <a:endParaRPr sz="1435" b="1" dirty="0">
              <a:solidFill>
                <a:srgbClr val="595959"/>
              </a:solidFill>
              <a:latin typeface="Open Sans"/>
              <a:ea typeface="Open Sans"/>
              <a:cs typeface="Open Sans"/>
              <a:sym typeface="Open Sans"/>
            </a:endParaRPr>
          </a:p>
        </p:txBody>
      </p:sp>
      <p:cxnSp>
        <p:nvCxnSpPr>
          <p:cNvPr id="30" name="Google Shape;298;p11">
            <a:extLst>
              <a:ext uri="{FF2B5EF4-FFF2-40B4-BE49-F238E27FC236}">
                <a16:creationId xmlns:a16="http://schemas.microsoft.com/office/drawing/2014/main" id="{A0503EA2-AB4C-59C8-770A-D9E4D9219847}"/>
              </a:ext>
            </a:extLst>
          </p:cNvPr>
          <p:cNvCxnSpPr>
            <a:stCxn id="3" idx="3"/>
            <a:endCxn id="2" idx="1"/>
          </p:cNvCxnSpPr>
          <p:nvPr/>
        </p:nvCxnSpPr>
        <p:spPr>
          <a:xfrm>
            <a:off x="4912157" y="2904120"/>
            <a:ext cx="585900" cy="420300"/>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cxnSp>
        <p:nvCxnSpPr>
          <p:cNvPr id="31" name="Google Shape;299;p11">
            <a:extLst>
              <a:ext uri="{FF2B5EF4-FFF2-40B4-BE49-F238E27FC236}">
                <a16:creationId xmlns:a16="http://schemas.microsoft.com/office/drawing/2014/main" id="{A2A8396F-B91D-2B9F-245E-286DC7F35731}"/>
              </a:ext>
            </a:extLst>
          </p:cNvPr>
          <p:cNvCxnSpPr>
            <a:cxnSpLocks/>
          </p:cNvCxnSpPr>
          <p:nvPr/>
        </p:nvCxnSpPr>
        <p:spPr>
          <a:xfrm>
            <a:off x="6143968" y="4548657"/>
            <a:ext cx="0" cy="518643"/>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cxnSp>
        <p:nvCxnSpPr>
          <p:cNvPr id="64" name="Google Shape;301;p11">
            <a:extLst>
              <a:ext uri="{FF2B5EF4-FFF2-40B4-BE49-F238E27FC236}">
                <a16:creationId xmlns:a16="http://schemas.microsoft.com/office/drawing/2014/main" id="{7B7B35E6-E785-B7FB-493D-2BBFB3B41E33}"/>
              </a:ext>
            </a:extLst>
          </p:cNvPr>
          <p:cNvCxnSpPr>
            <a:stCxn id="5" idx="1"/>
            <a:endCxn id="2" idx="7"/>
          </p:cNvCxnSpPr>
          <p:nvPr/>
        </p:nvCxnSpPr>
        <p:spPr>
          <a:xfrm flipH="1">
            <a:off x="6686850" y="2904132"/>
            <a:ext cx="603900" cy="420300"/>
          </a:xfrm>
          <a:prstGeom prst="straightConnector1">
            <a:avLst/>
          </a:prstGeom>
          <a:noFill/>
          <a:ln w="19050" cap="flat" cmpd="sng">
            <a:solidFill>
              <a:srgbClr val="595959"/>
            </a:solidFill>
            <a:prstDash val="solid"/>
            <a:round/>
            <a:headEnd type="none" w="sm" len="sm"/>
            <a:tailEnd type="none" w="sm" len="sm"/>
          </a:ln>
          <a:effectLst>
            <a:outerShdw blurRad="42863" dist="19050" dir="5400000" algn="bl" rotWithShape="0">
              <a:srgbClr val="000000">
                <a:alpha val="49019"/>
              </a:srgbClr>
            </a:outerShdw>
          </a:effectLst>
        </p:spPr>
      </p:cxnSp>
      <p:sp>
        <p:nvSpPr>
          <p:cNvPr id="66" name="Google Shape;305;p11">
            <a:extLst>
              <a:ext uri="{FF2B5EF4-FFF2-40B4-BE49-F238E27FC236}">
                <a16:creationId xmlns:a16="http://schemas.microsoft.com/office/drawing/2014/main" id="{DC8D2EDC-F5DD-F9FB-2F35-2F18B381E26C}"/>
              </a:ext>
            </a:extLst>
          </p:cNvPr>
          <p:cNvSpPr/>
          <p:nvPr/>
        </p:nvSpPr>
        <p:spPr>
          <a:xfrm>
            <a:off x="2439250" y="3193307"/>
            <a:ext cx="2472900" cy="688200"/>
          </a:xfrm>
          <a:prstGeom prst="roundRect">
            <a:avLst>
              <a:gd name="adj" fmla="val 16667"/>
            </a:avLst>
          </a:prstGeom>
          <a:solidFill>
            <a:srgbClr val="EEEEEE"/>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Wind-driven variability and negative-price episodes</a:t>
            </a:r>
            <a:endParaRPr sz="1000" dirty="0">
              <a:solidFill>
                <a:srgbClr val="595959"/>
              </a:solidFill>
              <a:latin typeface="Open Sans"/>
              <a:ea typeface="Open Sans"/>
              <a:cs typeface="Open Sans"/>
              <a:sym typeface="Open Sans"/>
            </a:endParaRPr>
          </a:p>
        </p:txBody>
      </p:sp>
      <p:sp>
        <p:nvSpPr>
          <p:cNvPr id="67" name="Google Shape;306;p11">
            <a:extLst>
              <a:ext uri="{FF2B5EF4-FFF2-40B4-BE49-F238E27FC236}">
                <a16:creationId xmlns:a16="http://schemas.microsoft.com/office/drawing/2014/main" id="{DE876C45-CD1F-0B39-8A91-8C1E21E2E7F9}"/>
              </a:ext>
            </a:extLst>
          </p:cNvPr>
          <p:cNvSpPr/>
          <p:nvPr/>
        </p:nvSpPr>
        <p:spPr>
          <a:xfrm>
            <a:off x="7294950" y="3193320"/>
            <a:ext cx="2472900" cy="688200"/>
          </a:xfrm>
          <a:prstGeom prst="roundRect">
            <a:avLst>
              <a:gd name="adj" fmla="val 16667"/>
            </a:avLst>
          </a:prstGeom>
          <a:solidFill>
            <a:srgbClr val="EEEEEE"/>
          </a:solidFill>
          <a:ln>
            <a:no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Nordic and Continental market exposure</a:t>
            </a:r>
            <a:endParaRPr sz="1000" dirty="0">
              <a:solidFill>
                <a:srgbClr val="595959"/>
              </a:solidFill>
              <a:latin typeface="Open Sans"/>
              <a:ea typeface="Open Sans"/>
              <a:cs typeface="Open Sans"/>
              <a:sym typeface="Open Sans"/>
            </a:endParaRPr>
          </a:p>
        </p:txBody>
      </p:sp>
      <p:sp>
        <p:nvSpPr>
          <p:cNvPr id="68" name="Google Shape;307;p11">
            <a:extLst>
              <a:ext uri="{FF2B5EF4-FFF2-40B4-BE49-F238E27FC236}">
                <a16:creationId xmlns:a16="http://schemas.microsoft.com/office/drawing/2014/main" id="{EF41B9B7-DFC1-836B-ACB8-C5E091F74019}"/>
              </a:ext>
            </a:extLst>
          </p:cNvPr>
          <p:cNvSpPr/>
          <p:nvPr/>
        </p:nvSpPr>
        <p:spPr>
          <a:xfrm>
            <a:off x="4916350" y="5462113"/>
            <a:ext cx="2472900" cy="688200"/>
          </a:xfrm>
          <a:prstGeom prst="roundRect">
            <a:avLst>
              <a:gd name="adj" fmla="val 16667"/>
            </a:avLst>
          </a:prstGeom>
          <a:solidFill>
            <a:srgbClr val="EEEEEE"/>
          </a:solidFill>
          <a:ln>
            <a:solidFill>
              <a:srgbClr val="FF0000"/>
            </a:solidFill>
          </a:ln>
          <a:effectLst>
            <a:outerShdw blurRad="42863" dist="19050" dir="5400000" algn="bl" rotWithShape="0">
              <a:srgbClr val="000000">
                <a:alpha val="49019"/>
              </a:srgbClr>
            </a:outerShdw>
          </a:effectLst>
        </p:spPr>
        <p:txBody>
          <a:bodyPr spcFirstLastPara="1" wrap="square" lIns="91425" tIns="91425" rIns="91425" bIns="91425" anchor="ctr" anchorCtr="0">
            <a:noAutofit/>
          </a:bodyPr>
          <a:lstStyle/>
          <a:p>
            <a:pPr marL="0" lvl="0" indent="0" algn="ctr" rtl="0">
              <a:lnSpc>
                <a:spcPct val="115000"/>
              </a:lnSpc>
              <a:spcBef>
                <a:spcPts val="0"/>
              </a:spcBef>
              <a:spcAft>
                <a:spcPts val="0"/>
              </a:spcAft>
              <a:buClr>
                <a:schemeClr val="dk1"/>
              </a:buClr>
              <a:buSzPts val="1100"/>
              <a:buFont typeface="Arial"/>
              <a:buNone/>
            </a:pPr>
            <a:r>
              <a:rPr lang="en-US" sz="1000" dirty="0">
                <a:solidFill>
                  <a:schemeClr val="dk2"/>
                </a:solidFill>
                <a:latin typeface="Open Sans"/>
                <a:ea typeface="Open Sans"/>
                <a:cs typeface="Open Sans"/>
                <a:sym typeface="Open Sans"/>
              </a:rPr>
              <a:t>2021–2023 European energy crisis</a:t>
            </a:r>
            <a:endParaRPr sz="1000" dirty="0">
              <a:solidFill>
                <a:schemeClr val="dk2"/>
              </a:solidFill>
              <a:latin typeface="Open Sans"/>
              <a:ea typeface="Open Sans"/>
              <a:cs typeface="Open Sans"/>
              <a:sym typeface="Open Sans"/>
            </a:endParaRPr>
          </a:p>
        </p:txBody>
      </p:sp>
      <p:pic>
        <p:nvPicPr>
          <p:cNvPr id="8" name="Image 7">
            <a:extLst>
              <a:ext uri="{FF2B5EF4-FFF2-40B4-BE49-F238E27FC236}">
                <a16:creationId xmlns:a16="http://schemas.microsoft.com/office/drawing/2014/main" id="{C128B5C2-3F1F-D88B-B95F-DB3572205325}"/>
              </a:ext>
            </a:extLst>
          </p:cNvPr>
          <p:cNvPicPr>
            <a:picLocks noChangeAspect="1"/>
          </p:cNvPicPr>
          <p:nvPr/>
        </p:nvPicPr>
        <p:blipFill>
          <a:blip r:embed="rId3"/>
          <a:stretch>
            <a:fillRect/>
          </a:stretch>
        </p:blipFill>
        <p:spPr>
          <a:xfrm>
            <a:off x="7490130" y="4109795"/>
            <a:ext cx="4210638" cy="2353003"/>
          </a:xfrm>
          <a:prstGeom prst="rect">
            <a:avLst/>
          </a:prstGeom>
        </p:spPr>
      </p:pic>
      <p:sp>
        <p:nvSpPr>
          <p:cNvPr id="6" name="Google Shape;81;p3">
            <a:extLst>
              <a:ext uri="{FF2B5EF4-FFF2-40B4-BE49-F238E27FC236}">
                <a16:creationId xmlns:a16="http://schemas.microsoft.com/office/drawing/2014/main" id="{19A49B4A-6433-2A0E-9EE0-EA153681F186}"/>
              </a:ext>
            </a:extLst>
          </p:cNvPr>
          <p:cNvSpPr txBox="1">
            <a:spLocks noGrp="1"/>
          </p:cNvSpPr>
          <p:nvPr>
            <p:ph type="sldNum" idx="12"/>
          </p:nvPr>
        </p:nvSpPr>
        <p:spPr>
          <a:xfrm>
            <a:off x="11614633" y="6352967"/>
            <a:ext cx="413600" cy="389600"/>
          </a:xfrm>
          <a:prstGeom prst="rect">
            <a:avLst/>
          </a:prstGeom>
          <a:solidFill>
            <a:srgbClr val="073763"/>
          </a:solidFill>
          <a:ln>
            <a:noFill/>
          </a:ln>
          <a:effectLst>
            <a:outerShdw blurRad="57150" dist="19050" dir="5400000" algn="bl" rotWithShape="0">
              <a:srgbClr val="000000">
                <a:alpha val="69410"/>
              </a:srgbClr>
            </a:outerShdw>
          </a:effectLst>
        </p:spPr>
        <p:txBody>
          <a:bodyPr spcFirstLastPara="1" wrap="square" lIns="121900" tIns="121900" rIns="121900" bIns="121900" anchor="ctr" anchorCtr="0">
            <a:normAutofit fontScale="92500" lnSpcReduction="20000"/>
          </a:bodyPr>
          <a:lstStyle/>
          <a:p>
            <a:pPr algn="ctr">
              <a:buSzPct val="100000"/>
            </a:pPr>
            <a:fld id="{00000000-1234-1234-1234-123412341234}" type="slidenum">
              <a:rPr lang="fr">
                <a:solidFill>
                  <a:schemeClr val="lt1"/>
                </a:solidFill>
                <a:latin typeface="Arial"/>
                <a:ea typeface="Arial"/>
                <a:cs typeface="Arial"/>
                <a:sym typeface="Arial"/>
              </a:rPr>
              <a:pPr algn="ctr">
                <a:buSzPct val="100000"/>
              </a:pPr>
              <a:t>6</a:t>
            </a:fld>
            <a:endParaRPr>
              <a:solidFill>
                <a:schemeClr val="lt1"/>
              </a:solidFill>
              <a:latin typeface="Arial"/>
              <a:ea typeface="Arial"/>
              <a:cs typeface="Arial"/>
              <a:sym typeface="Arial"/>
            </a:endParaRPr>
          </a:p>
        </p:txBody>
      </p:sp>
      <p:sp>
        <p:nvSpPr>
          <p:cNvPr id="10" name="ZoneTexte 9">
            <a:extLst>
              <a:ext uri="{FF2B5EF4-FFF2-40B4-BE49-F238E27FC236}">
                <a16:creationId xmlns:a16="http://schemas.microsoft.com/office/drawing/2014/main" id="{53CD7A3C-60CD-328F-8E7D-72952E4FA9A3}"/>
              </a:ext>
            </a:extLst>
          </p:cNvPr>
          <p:cNvSpPr txBox="1"/>
          <p:nvPr/>
        </p:nvSpPr>
        <p:spPr>
          <a:xfrm>
            <a:off x="9336741" y="6387238"/>
            <a:ext cx="1819836" cy="215444"/>
          </a:xfrm>
          <a:prstGeom prst="rect">
            <a:avLst/>
          </a:prstGeom>
          <a:noFill/>
        </p:spPr>
        <p:txBody>
          <a:bodyPr wrap="square">
            <a:spAutoFit/>
          </a:bodyPr>
          <a:lstStyle/>
          <a:p>
            <a:r>
              <a:rPr lang="en-US" sz="800" i="1" dirty="0"/>
              <a:t>Source: Author’s calculations.</a:t>
            </a:r>
          </a:p>
        </p:txBody>
      </p:sp>
    </p:spTree>
    <p:extLst>
      <p:ext uri="{BB962C8B-B14F-4D97-AF65-F5344CB8AC3E}">
        <p14:creationId xmlns:p14="http://schemas.microsoft.com/office/powerpoint/2010/main" val="32444672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MOTIVATION AND OPTIMISATION PROBLEM</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The client: an industrial company in DK1</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A hypothetical Danish manufacturer with electricity-intensive operations</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7</a:t>
            </a:r>
          </a:p>
        </p:txBody>
      </p:sp>
      <p:sp>
        <p:nvSpPr>
          <p:cNvPr id="9" name="Rounded Rectangle 8"/>
          <p:cNvSpPr/>
          <p:nvPr/>
        </p:nvSpPr>
        <p:spPr>
          <a:xfrm>
            <a:off x="685800" y="2148840"/>
            <a:ext cx="3429000" cy="32461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2148840"/>
            <a:ext cx="68580" cy="3246120"/>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2350008"/>
            <a:ext cx="3017520" cy="457200"/>
          </a:xfrm>
          <a:prstGeom prst="rect">
            <a:avLst/>
          </a:prstGeom>
          <a:noFill/>
        </p:spPr>
        <p:txBody>
          <a:bodyPr wrap="square" lIns="45720" rIns="45720">
            <a:spAutoFit/>
          </a:bodyPr>
          <a:lstStyle/>
          <a:p>
            <a:pPr>
              <a:defRPr sz="1900" b="1">
                <a:solidFill>
                  <a:srgbClr val="2E1B4C"/>
                </a:solidFill>
                <a:latin typeface="Aptos"/>
              </a:defRPr>
            </a:pPr>
            <a:r>
              <a:t>Business model</a:t>
            </a:r>
          </a:p>
        </p:txBody>
      </p:sp>
      <p:sp>
        <p:nvSpPr>
          <p:cNvPr id="12" name="TextBox 11"/>
          <p:cNvSpPr txBox="1"/>
          <p:nvPr/>
        </p:nvSpPr>
        <p:spPr>
          <a:xfrm>
            <a:off x="886968" y="2898648"/>
            <a:ext cx="3008376" cy="2377439"/>
          </a:xfrm>
          <a:prstGeom prst="rect">
            <a:avLst/>
          </a:prstGeom>
          <a:noFill/>
        </p:spPr>
        <p:txBody>
          <a:bodyPr wrap="square" lIns="45720" rIns="45720">
            <a:spAutoFit/>
          </a:bodyPr>
          <a:lstStyle/>
          <a:p>
            <a:pPr>
              <a:defRPr sz="1600" b="0">
                <a:solidFill>
                  <a:srgbClr val="5F5B67"/>
                </a:solidFill>
                <a:latin typeface="Aptos"/>
              </a:defRPr>
            </a:pPr>
            <a:r>
              <a:t>Production requires continuous electricity consumption. The company purchases power at prices linked to the DK1 market.</a:t>
            </a:r>
          </a:p>
        </p:txBody>
      </p:sp>
      <p:sp>
        <p:nvSpPr>
          <p:cNvPr id="13" name="Rounded Rectangle 12"/>
          <p:cNvSpPr/>
          <p:nvPr/>
        </p:nvSpPr>
        <p:spPr>
          <a:xfrm>
            <a:off x="4370832" y="2148840"/>
            <a:ext cx="3429000" cy="32461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370832" y="2148840"/>
            <a:ext cx="68580" cy="3246120"/>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0" y="2350008"/>
            <a:ext cx="3017520" cy="457200"/>
          </a:xfrm>
          <a:prstGeom prst="rect">
            <a:avLst/>
          </a:prstGeom>
          <a:noFill/>
        </p:spPr>
        <p:txBody>
          <a:bodyPr wrap="square" lIns="45720" rIns="45720">
            <a:spAutoFit/>
          </a:bodyPr>
          <a:lstStyle/>
          <a:p>
            <a:pPr>
              <a:defRPr sz="1900" b="1">
                <a:solidFill>
                  <a:srgbClr val="2E1B4C"/>
                </a:solidFill>
                <a:latin typeface="Aptos"/>
              </a:defRPr>
            </a:pPr>
            <a:r>
              <a:t>Financial exposure</a:t>
            </a:r>
          </a:p>
        </p:txBody>
      </p:sp>
      <p:sp>
        <p:nvSpPr>
          <p:cNvPr id="16" name="TextBox 15"/>
          <p:cNvSpPr txBox="1"/>
          <p:nvPr/>
        </p:nvSpPr>
        <p:spPr>
          <a:xfrm>
            <a:off x="4572000" y="2898648"/>
            <a:ext cx="3008376" cy="2377439"/>
          </a:xfrm>
          <a:prstGeom prst="rect">
            <a:avLst/>
          </a:prstGeom>
          <a:noFill/>
        </p:spPr>
        <p:txBody>
          <a:bodyPr wrap="square" lIns="45720" rIns="45720">
            <a:spAutoFit/>
          </a:bodyPr>
          <a:lstStyle/>
          <a:p>
            <a:pPr>
              <a:defRPr sz="1600" b="0">
                <a:solidFill>
                  <a:srgbClr val="5F5B67"/>
                </a:solidFill>
                <a:latin typeface="Aptos"/>
              </a:defRPr>
            </a:pPr>
            <a:r>
              <a:t>Hourly price fluctuations create uncertainty in procurement expenditure and operating margins.</a:t>
            </a:r>
          </a:p>
        </p:txBody>
      </p:sp>
      <p:sp>
        <p:nvSpPr>
          <p:cNvPr id="17" name="Rounded Rectangle 16"/>
          <p:cNvSpPr/>
          <p:nvPr/>
        </p:nvSpPr>
        <p:spPr>
          <a:xfrm>
            <a:off x="8055864" y="2148840"/>
            <a:ext cx="3429000" cy="32461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055864" y="2148840"/>
            <a:ext cx="68580" cy="3246120"/>
          </a:xfrm>
          <a:prstGeom prst="rect">
            <a:avLst/>
          </a:prstGeom>
          <a:solidFill>
            <a:srgbClr val="C49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57032" y="2350008"/>
            <a:ext cx="3017520" cy="457200"/>
          </a:xfrm>
          <a:prstGeom prst="rect">
            <a:avLst/>
          </a:prstGeom>
          <a:noFill/>
        </p:spPr>
        <p:txBody>
          <a:bodyPr wrap="square" lIns="45720" rIns="45720">
            <a:spAutoFit/>
          </a:bodyPr>
          <a:lstStyle/>
          <a:p>
            <a:pPr>
              <a:defRPr sz="1900" b="1">
                <a:solidFill>
                  <a:srgbClr val="2E1B4C"/>
                </a:solidFill>
                <a:latin typeface="Aptos"/>
              </a:defRPr>
            </a:pPr>
            <a:r>
              <a:t>Management mandate</a:t>
            </a:r>
          </a:p>
        </p:txBody>
      </p:sp>
      <p:sp>
        <p:nvSpPr>
          <p:cNvPr id="20" name="TextBox 19"/>
          <p:cNvSpPr txBox="1"/>
          <p:nvPr/>
        </p:nvSpPr>
        <p:spPr>
          <a:xfrm>
            <a:off x="8257032" y="2898648"/>
            <a:ext cx="3008376" cy="2377439"/>
          </a:xfrm>
          <a:prstGeom prst="rect">
            <a:avLst/>
          </a:prstGeom>
          <a:noFill/>
        </p:spPr>
        <p:txBody>
          <a:bodyPr wrap="square" lIns="45720" rIns="45720">
            <a:spAutoFit/>
          </a:bodyPr>
          <a:lstStyle/>
          <a:p>
            <a:pPr>
              <a:defRPr sz="1600" b="0">
                <a:solidFill>
                  <a:srgbClr val="5F5B67"/>
                </a:solidFill>
                <a:latin typeface="Aptos"/>
              </a:defRPr>
            </a:pPr>
            <a:r>
              <a:t>Explore whether neighboring electricity markets can help stabilize the company’s price exposure.</a:t>
            </a:r>
          </a:p>
        </p:txBody>
      </p:sp>
      <p:sp>
        <p:nvSpPr>
          <p:cNvPr id="21" name="TextBox 20"/>
          <p:cNvSpPr txBox="1"/>
          <p:nvPr/>
        </p:nvSpPr>
        <p:spPr>
          <a:xfrm>
            <a:off x="960120" y="5687568"/>
            <a:ext cx="10515600" cy="457200"/>
          </a:xfrm>
          <a:prstGeom prst="rect">
            <a:avLst/>
          </a:prstGeom>
          <a:noFill/>
        </p:spPr>
        <p:txBody>
          <a:bodyPr wrap="square" lIns="45720" rIns="45720">
            <a:spAutoFit/>
          </a:bodyPr>
          <a:lstStyle/>
          <a:p>
            <a:pPr algn="ctr">
              <a:defRPr sz="1900" b="1">
                <a:solidFill>
                  <a:srgbClr val="4E287F"/>
                </a:solidFill>
                <a:latin typeface="Aptos"/>
              </a:defRPr>
            </a:pPr>
            <a:r>
              <a:t>The goal is lower cost variability:not necessarily lower average electricity prices.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MOTIVATION AND OPTIMISATION PROBLEM</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From electricity costs to a hedgeable risk measure</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We start with hourly price changes before modelling real procurement cash flows</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8</a:t>
            </a:r>
          </a:p>
        </p:txBody>
      </p:sp>
      <p:sp>
        <p:nvSpPr>
          <p:cNvPr id="9" name="Rounded Rectangle 8"/>
          <p:cNvSpPr/>
          <p:nvPr/>
        </p:nvSpPr>
        <p:spPr>
          <a:xfrm>
            <a:off x="749808" y="2103120"/>
            <a:ext cx="5074920" cy="246888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33271" y="2404872"/>
            <a:ext cx="4572000" cy="411480"/>
          </a:xfrm>
          <a:prstGeom prst="rect">
            <a:avLst/>
          </a:prstGeom>
          <a:noFill/>
        </p:spPr>
        <p:txBody>
          <a:bodyPr wrap="square" lIns="45720" rIns="45720">
            <a:spAutoFit/>
          </a:bodyPr>
          <a:lstStyle/>
          <a:p>
            <a:pPr>
              <a:defRPr sz="2100" b="1">
                <a:solidFill>
                  <a:srgbClr val="2E1B4C"/>
                </a:solidFill>
                <a:latin typeface="Aptos"/>
              </a:defRPr>
            </a:pPr>
            <a:r>
              <a:t>Electricity procurement cost</a:t>
            </a:r>
          </a:p>
        </p:txBody>
      </p:sp>
      <p:sp>
        <p:nvSpPr>
          <p:cNvPr id="11" name="TextBox 10"/>
          <p:cNvSpPr txBox="1"/>
          <p:nvPr/>
        </p:nvSpPr>
        <p:spPr>
          <a:xfrm>
            <a:off x="1033271" y="3017520"/>
            <a:ext cx="4572000" cy="594360"/>
          </a:xfrm>
          <a:prstGeom prst="rect">
            <a:avLst/>
          </a:prstGeom>
          <a:noFill/>
        </p:spPr>
        <p:txBody>
          <a:bodyPr wrap="square" lIns="45720" rIns="45720">
            <a:spAutoFit/>
          </a:bodyPr>
          <a:lstStyle/>
          <a:p>
            <a:pPr>
              <a:defRPr sz="2100" b="1">
                <a:solidFill>
                  <a:srgbClr val="4E287F"/>
                </a:solidFill>
                <a:latin typeface="Aptos"/>
              </a:defRPr>
            </a:pPr>
            <a:r>
              <a:t>Costₜ = Consumptionₜ × DK1 priceₜ</a:t>
            </a:r>
          </a:p>
        </p:txBody>
      </p:sp>
      <p:sp>
        <p:nvSpPr>
          <p:cNvPr id="12" name="TextBox 11"/>
          <p:cNvSpPr txBox="1"/>
          <p:nvPr/>
        </p:nvSpPr>
        <p:spPr>
          <a:xfrm>
            <a:off x="1033271" y="3858768"/>
            <a:ext cx="4572000" cy="475488"/>
          </a:xfrm>
          <a:prstGeom prst="rect">
            <a:avLst/>
          </a:prstGeom>
          <a:noFill/>
        </p:spPr>
        <p:txBody>
          <a:bodyPr wrap="square" lIns="45720" rIns="45720">
            <a:spAutoFit/>
          </a:bodyPr>
          <a:lstStyle/>
          <a:p>
            <a:pPr>
              <a:defRPr sz="1500" b="0">
                <a:solidFill>
                  <a:srgbClr val="5F5B67"/>
                </a:solidFill>
                <a:latin typeface="Aptos"/>
              </a:defRPr>
            </a:pPr>
            <a:r>
              <a:t>Actual costs also depend on load volumes and contract terms.</a:t>
            </a:r>
          </a:p>
        </p:txBody>
      </p:sp>
      <p:sp>
        <p:nvSpPr>
          <p:cNvPr id="13" name="Rounded Rectangle 12"/>
          <p:cNvSpPr/>
          <p:nvPr/>
        </p:nvSpPr>
        <p:spPr>
          <a:xfrm>
            <a:off x="6291072" y="2103120"/>
            <a:ext cx="5074920" cy="246888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2404872"/>
            <a:ext cx="4572000" cy="411480"/>
          </a:xfrm>
          <a:prstGeom prst="rect">
            <a:avLst/>
          </a:prstGeom>
          <a:noFill/>
        </p:spPr>
        <p:txBody>
          <a:bodyPr wrap="square" lIns="45720" rIns="45720">
            <a:spAutoFit/>
          </a:bodyPr>
          <a:lstStyle/>
          <a:p>
            <a:pPr>
              <a:defRPr sz="2100" b="1">
                <a:solidFill>
                  <a:srgbClr val="2E1B4C"/>
                </a:solidFill>
                <a:latin typeface="Aptos"/>
              </a:defRPr>
            </a:pPr>
            <a:r>
              <a:t>What this study measures</a:t>
            </a:r>
          </a:p>
        </p:txBody>
      </p:sp>
      <p:sp>
        <p:nvSpPr>
          <p:cNvPr id="15" name="TextBox 14"/>
          <p:cNvSpPr txBox="1"/>
          <p:nvPr/>
        </p:nvSpPr>
        <p:spPr>
          <a:xfrm>
            <a:off x="6583680" y="3017520"/>
            <a:ext cx="4389120" cy="594360"/>
          </a:xfrm>
          <a:prstGeom prst="rect">
            <a:avLst/>
          </a:prstGeom>
          <a:noFill/>
        </p:spPr>
        <p:txBody>
          <a:bodyPr wrap="square" lIns="45720" rIns="45720">
            <a:spAutoFit/>
          </a:bodyPr>
          <a:lstStyle/>
          <a:p>
            <a:pPr>
              <a:defRPr sz="2300" b="1">
                <a:solidFill>
                  <a:srgbClr val="4E287F"/>
                </a:solidFill>
                <a:latin typeface="Aptos"/>
              </a:defRPr>
            </a:pPr>
            <a:r>
              <a:t>ΔPₜ = Pₜ − Pₜ₋₁</a:t>
            </a:r>
          </a:p>
        </p:txBody>
      </p:sp>
      <p:sp>
        <p:nvSpPr>
          <p:cNvPr id="16" name="TextBox 15"/>
          <p:cNvSpPr txBox="1"/>
          <p:nvPr/>
        </p:nvSpPr>
        <p:spPr>
          <a:xfrm>
            <a:off x="6583680" y="3858768"/>
            <a:ext cx="4572000" cy="475488"/>
          </a:xfrm>
          <a:prstGeom prst="rect">
            <a:avLst/>
          </a:prstGeom>
          <a:noFill/>
        </p:spPr>
        <p:txBody>
          <a:bodyPr wrap="square" lIns="45720" rIns="45720">
            <a:spAutoFit/>
          </a:bodyPr>
          <a:lstStyle/>
          <a:p>
            <a:pPr>
              <a:defRPr sz="1500" b="0">
                <a:solidFill>
                  <a:srgbClr val="5F5B67"/>
                </a:solidFill>
                <a:latin typeface="Aptos"/>
              </a:defRPr>
            </a:pPr>
            <a:r>
              <a:t>Risk = variance of hourly DK1 price changes.</a:t>
            </a:r>
          </a:p>
        </p:txBody>
      </p:sp>
      <p:sp>
        <p:nvSpPr>
          <p:cNvPr id="17" name="TextBox 16"/>
          <p:cNvSpPr txBox="1"/>
          <p:nvPr/>
        </p:nvSpPr>
        <p:spPr>
          <a:xfrm>
            <a:off x="1024128" y="5193792"/>
            <a:ext cx="10149840" cy="804672"/>
          </a:xfrm>
          <a:prstGeom prst="rect">
            <a:avLst/>
          </a:prstGeom>
          <a:noFill/>
        </p:spPr>
        <p:txBody>
          <a:bodyPr wrap="square" lIns="45720" rIns="45720">
            <a:spAutoFit/>
          </a:bodyPr>
          <a:lstStyle/>
          <a:p>
            <a:pPr algn="ctr">
              <a:defRPr sz="2300" b="1">
                <a:solidFill>
                  <a:srgbClr val="2E1B4C"/>
                </a:solidFill>
                <a:latin typeface="Aptos"/>
              </a:defRPr>
            </a:pPr>
            <a:r>
              <a:t>Research question: Can cross-market price movements reduce DK1 price-change variance?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Electricity prices changed the risk landscape</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The 2021 to 2023 crisis shows why the company needs to manage price uncertainty.</a:t>
            </a:r>
          </a:p>
        </p:txBody>
      </p:sp>
      <p:pic>
        <p:nvPicPr>
          <p:cNvPr id="4" name="Picture 3" descr="01_dk1_historical_prices.png"/>
          <p:cNvPicPr>
            <a:picLocks noChangeAspect="1"/>
          </p:cNvPicPr>
          <p:nvPr/>
        </p:nvPicPr>
        <p:blipFill>
          <a:blip r:embed="rId3"/>
          <a:stretch>
            <a:fillRect/>
          </a:stretch>
        </p:blipFill>
        <p:spPr>
          <a:xfrm>
            <a:off x="609447" y="1503330"/>
            <a:ext cx="10972800" cy="4500562"/>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Price uncertainty rises sharply in stress periods</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The 30-day rolling standard deviation captures changes in market risk over time.</a:t>
            </a:r>
          </a:p>
        </p:txBody>
      </p:sp>
      <p:pic>
        <p:nvPicPr>
          <p:cNvPr id="4" name="Picture 3" descr="02_dk1_rolling_volatility.png"/>
          <p:cNvPicPr>
            <a:picLocks noChangeAspect="1"/>
          </p:cNvPicPr>
          <p:nvPr/>
        </p:nvPicPr>
        <p:blipFill>
          <a:blip r:embed="rId3"/>
          <a:stretch>
            <a:fillRect/>
          </a:stretch>
        </p:blipFill>
        <p:spPr>
          <a:xfrm>
            <a:off x="609447" y="1503330"/>
            <a:ext cx="10972800" cy="4500562"/>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DATA AND METHODOLOGY</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Five interconnected electricity markets</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Historical hourly day-ahead prices (EUR/MWh), original ENTSO-E exports</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9</a:t>
            </a:r>
          </a:p>
        </p:txBody>
      </p:sp>
      <p:sp>
        <p:nvSpPr>
          <p:cNvPr id="9" name="Rounded Rectangle 8"/>
          <p:cNvSpPr/>
          <p:nvPr/>
        </p:nvSpPr>
        <p:spPr>
          <a:xfrm>
            <a:off x="731520" y="2331720"/>
            <a:ext cx="2148840" cy="2331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1965960" cy="640080"/>
          </a:xfrm>
          <a:prstGeom prst="rect">
            <a:avLst/>
          </a:prstGeom>
          <a:noFill/>
        </p:spPr>
        <p:txBody>
          <a:bodyPr wrap="square" lIns="45720" rIns="45720">
            <a:spAutoFit/>
          </a:bodyPr>
          <a:lstStyle/>
          <a:p>
            <a:pPr algn="ctr">
              <a:defRPr sz="3100" b="1">
                <a:solidFill>
                  <a:srgbClr val="4E287F"/>
                </a:solidFill>
                <a:latin typeface="Aptos"/>
              </a:defRPr>
            </a:pPr>
            <a:r>
              <a:t>DK1</a:t>
            </a:r>
          </a:p>
        </p:txBody>
      </p:sp>
      <p:sp>
        <p:nvSpPr>
          <p:cNvPr id="11" name="TextBox 10"/>
          <p:cNvSpPr txBox="1"/>
          <p:nvPr/>
        </p:nvSpPr>
        <p:spPr>
          <a:xfrm>
            <a:off x="822960" y="3291840"/>
            <a:ext cx="1965960" cy="365760"/>
          </a:xfrm>
          <a:prstGeom prst="rect">
            <a:avLst/>
          </a:prstGeom>
          <a:noFill/>
        </p:spPr>
        <p:txBody>
          <a:bodyPr wrap="square" lIns="45720" rIns="45720">
            <a:spAutoFit/>
          </a:bodyPr>
          <a:lstStyle/>
          <a:p>
            <a:pPr algn="ctr">
              <a:defRPr sz="1200" b="1">
                <a:solidFill>
                  <a:srgbClr val="C49A45"/>
                </a:solidFill>
                <a:latin typeface="Aptos"/>
              </a:defRPr>
            </a:pPr>
            <a:r>
              <a:t>TARGET</a:t>
            </a:r>
          </a:p>
        </p:txBody>
      </p:sp>
      <p:sp>
        <p:nvSpPr>
          <p:cNvPr id="12" name="TextBox 11"/>
          <p:cNvSpPr txBox="1"/>
          <p:nvPr/>
        </p:nvSpPr>
        <p:spPr>
          <a:xfrm>
            <a:off x="822960" y="3776472"/>
            <a:ext cx="1965960" cy="530352"/>
          </a:xfrm>
          <a:prstGeom prst="rect">
            <a:avLst/>
          </a:prstGeom>
          <a:noFill/>
        </p:spPr>
        <p:txBody>
          <a:bodyPr wrap="square" lIns="45720" rIns="45720">
            <a:spAutoFit/>
          </a:bodyPr>
          <a:lstStyle/>
          <a:p>
            <a:pPr algn="ctr">
              <a:defRPr sz="1500" b="0">
                <a:solidFill>
                  <a:srgbClr val="2E1B4C"/>
                </a:solidFill>
                <a:latin typeface="Aptos"/>
              </a:defRPr>
            </a:pPr>
            <a:r>
              <a:t>Western Denmark</a:t>
            </a:r>
          </a:p>
        </p:txBody>
      </p:sp>
      <p:sp>
        <p:nvSpPr>
          <p:cNvPr id="13" name="Rounded Rectangle 12"/>
          <p:cNvSpPr/>
          <p:nvPr/>
        </p:nvSpPr>
        <p:spPr>
          <a:xfrm>
            <a:off x="3063239" y="2331720"/>
            <a:ext cx="2148840" cy="2331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154679" y="2606040"/>
            <a:ext cx="1965960" cy="640080"/>
          </a:xfrm>
          <a:prstGeom prst="rect">
            <a:avLst/>
          </a:prstGeom>
          <a:noFill/>
        </p:spPr>
        <p:txBody>
          <a:bodyPr wrap="square" lIns="45720" rIns="45720">
            <a:spAutoFit/>
          </a:bodyPr>
          <a:lstStyle/>
          <a:p>
            <a:pPr algn="ctr">
              <a:defRPr sz="3100" b="1">
                <a:solidFill>
                  <a:srgbClr val="4E287F"/>
                </a:solidFill>
                <a:latin typeface="Aptos"/>
              </a:defRPr>
            </a:pPr>
            <a:r>
              <a:t>DE</a:t>
            </a:r>
          </a:p>
        </p:txBody>
      </p:sp>
      <p:sp>
        <p:nvSpPr>
          <p:cNvPr id="15" name="TextBox 14"/>
          <p:cNvSpPr txBox="1"/>
          <p:nvPr/>
        </p:nvSpPr>
        <p:spPr>
          <a:xfrm>
            <a:off x="3154679" y="3291840"/>
            <a:ext cx="1965960" cy="365760"/>
          </a:xfrm>
          <a:prstGeom prst="rect">
            <a:avLst/>
          </a:prstGeom>
          <a:noFill/>
        </p:spPr>
        <p:txBody>
          <a:bodyPr wrap="square" lIns="45720" rIns="45720">
            <a:spAutoFit/>
          </a:bodyPr>
          <a:lstStyle/>
          <a:p>
            <a:pPr algn="ctr">
              <a:defRPr sz="1200" b="1">
                <a:solidFill>
                  <a:srgbClr val="5F5B67"/>
                </a:solidFill>
                <a:latin typeface="Aptos"/>
              </a:defRPr>
            </a:pPr>
            <a:r>
              <a:t>HEDGE</a:t>
            </a:r>
          </a:p>
        </p:txBody>
      </p:sp>
      <p:sp>
        <p:nvSpPr>
          <p:cNvPr id="16" name="TextBox 15"/>
          <p:cNvSpPr txBox="1"/>
          <p:nvPr/>
        </p:nvSpPr>
        <p:spPr>
          <a:xfrm>
            <a:off x="3154679" y="3776472"/>
            <a:ext cx="1965960" cy="530352"/>
          </a:xfrm>
          <a:prstGeom prst="rect">
            <a:avLst/>
          </a:prstGeom>
          <a:noFill/>
        </p:spPr>
        <p:txBody>
          <a:bodyPr wrap="square" lIns="45720" rIns="45720">
            <a:spAutoFit/>
          </a:bodyPr>
          <a:lstStyle/>
          <a:p>
            <a:pPr algn="ctr">
              <a:defRPr sz="1500" b="0">
                <a:solidFill>
                  <a:srgbClr val="2E1B4C"/>
                </a:solidFill>
                <a:latin typeface="Aptos"/>
              </a:defRPr>
            </a:pPr>
            <a:r>
              <a:t>Germany</a:t>
            </a:r>
          </a:p>
        </p:txBody>
      </p:sp>
      <p:sp>
        <p:nvSpPr>
          <p:cNvPr id="17" name="Rounded Rectangle 16"/>
          <p:cNvSpPr/>
          <p:nvPr/>
        </p:nvSpPr>
        <p:spPr>
          <a:xfrm>
            <a:off x="5394959" y="2331720"/>
            <a:ext cx="2148840" cy="2331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399" y="2606040"/>
            <a:ext cx="1965960" cy="640080"/>
          </a:xfrm>
          <a:prstGeom prst="rect">
            <a:avLst/>
          </a:prstGeom>
          <a:noFill/>
        </p:spPr>
        <p:txBody>
          <a:bodyPr wrap="square" lIns="45720" rIns="45720">
            <a:spAutoFit/>
          </a:bodyPr>
          <a:lstStyle/>
          <a:p>
            <a:pPr algn="ctr">
              <a:defRPr sz="3100" b="1">
                <a:solidFill>
                  <a:srgbClr val="4E287F"/>
                </a:solidFill>
                <a:latin typeface="Aptos"/>
              </a:defRPr>
            </a:pPr>
            <a:r>
              <a:t>DK2</a:t>
            </a:r>
          </a:p>
        </p:txBody>
      </p:sp>
      <p:sp>
        <p:nvSpPr>
          <p:cNvPr id="19" name="TextBox 18"/>
          <p:cNvSpPr txBox="1"/>
          <p:nvPr/>
        </p:nvSpPr>
        <p:spPr>
          <a:xfrm>
            <a:off x="5486399" y="3291840"/>
            <a:ext cx="1965960" cy="365760"/>
          </a:xfrm>
          <a:prstGeom prst="rect">
            <a:avLst/>
          </a:prstGeom>
          <a:noFill/>
        </p:spPr>
        <p:txBody>
          <a:bodyPr wrap="square" lIns="45720" rIns="45720">
            <a:spAutoFit/>
          </a:bodyPr>
          <a:lstStyle/>
          <a:p>
            <a:pPr algn="ctr">
              <a:defRPr sz="1200" b="1">
                <a:solidFill>
                  <a:srgbClr val="5F5B67"/>
                </a:solidFill>
                <a:latin typeface="Aptos"/>
              </a:defRPr>
            </a:pPr>
            <a:r>
              <a:t>HEDGE</a:t>
            </a:r>
          </a:p>
        </p:txBody>
      </p:sp>
      <p:sp>
        <p:nvSpPr>
          <p:cNvPr id="20" name="TextBox 19"/>
          <p:cNvSpPr txBox="1"/>
          <p:nvPr/>
        </p:nvSpPr>
        <p:spPr>
          <a:xfrm>
            <a:off x="5486399" y="3776472"/>
            <a:ext cx="1965960" cy="530352"/>
          </a:xfrm>
          <a:prstGeom prst="rect">
            <a:avLst/>
          </a:prstGeom>
          <a:noFill/>
        </p:spPr>
        <p:txBody>
          <a:bodyPr wrap="square" lIns="45720" rIns="45720">
            <a:spAutoFit/>
          </a:bodyPr>
          <a:lstStyle/>
          <a:p>
            <a:pPr algn="ctr">
              <a:defRPr sz="1500" b="0">
                <a:solidFill>
                  <a:srgbClr val="2E1B4C"/>
                </a:solidFill>
                <a:latin typeface="Aptos"/>
              </a:defRPr>
            </a:pPr>
            <a:r>
              <a:t>Eastern Denmark</a:t>
            </a:r>
          </a:p>
        </p:txBody>
      </p:sp>
      <p:sp>
        <p:nvSpPr>
          <p:cNvPr id="21" name="Rounded Rectangle 20"/>
          <p:cNvSpPr/>
          <p:nvPr/>
        </p:nvSpPr>
        <p:spPr>
          <a:xfrm>
            <a:off x="7726679" y="2331720"/>
            <a:ext cx="2148840" cy="2331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18119" y="2606040"/>
            <a:ext cx="1965960" cy="640080"/>
          </a:xfrm>
          <a:prstGeom prst="rect">
            <a:avLst/>
          </a:prstGeom>
          <a:noFill/>
        </p:spPr>
        <p:txBody>
          <a:bodyPr wrap="square" lIns="45720" rIns="45720">
            <a:spAutoFit/>
          </a:bodyPr>
          <a:lstStyle/>
          <a:p>
            <a:pPr algn="ctr">
              <a:defRPr sz="3100" b="1">
                <a:solidFill>
                  <a:srgbClr val="4E287F"/>
                </a:solidFill>
                <a:latin typeface="Aptos"/>
              </a:defRPr>
            </a:pPr>
            <a:r>
              <a:t>NO2</a:t>
            </a:r>
          </a:p>
        </p:txBody>
      </p:sp>
      <p:sp>
        <p:nvSpPr>
          <p:cNvPr id="23" name="TextBox 22"/>
          <p:cNvSpPr txBox="1"/>
          <p:nvPr/>
        </p:nvSpPr>
        <p:spPr>
          <a:xfrm>
            <a:off x="7818119" y="3291840"/>
            <a:ext cx="1965960" cy="365760"/>
          </a:xfrm>
          <a:prstGeom prst="rect">
            <a:avLst/>
          </a:prstGeom>
          <a:noFill/>
        </p:spPr>
        <p:txBody>
          <a:bodyPr wrap="square" lIns="45720" rIns="45720">
            <a:spAutoFit/>
          </a:bodyPr>
          <a:lstStyle/>
          <a:p>
            <a:pPr algn="ctr">
              <a:defRPr sz="1200" b="1">
                <a:solidFill>
                  <a:srgbClr val="5F5B67"/>
                </a:solidFill>
                <a:latin typeface="Aptos"/>
              </a:defRPr>
            </a:pPr>
            <a:r>
              <a:t>HEDGE</a:t>
            </a:r>
          </a:p>
        </p:txBody>
      </p:sp>
      <p:sp>
        <p:nvSpPr>
          <p:cNvPr id="24" name="TextBox 23"/>
          <p:cNvSpPr txBox="1"/>
          <p:nvPr/>
        </p:nvSpPr>
        <p:spPr>
          <a:xfrm>
            <a:off x="7818119" y="3776472"/>
            <a:ext cx="1965960" cy="530352"/>
          </a:xfrm>
          <a:prstGeom prst="rect">
            <a:avLst/>
          </a:prstGeom>
          <a:noFill/>
        </p:spPr>
        <p:txBody>
          <a:bodyPr wrap="square" lIns="45720" rIns="45720">
            <a:spAutoFit/>
          </a:bodyPr>
          <a:lstStyle/>
          <a:p>
            <a:pPr algn="ctr">
              <a:defRPr sz="1500" b="0">
                <a:solidFill>
                  <a:srgbClr val="2E1B4C"/>
                </a:solidFill>
                <a:latin typeface="Aptos"/>
              </a:defRPr>
            </a:pPr>
            <a:r>
              <a:t>Southern Norway</a:t>
            </a:r>
          </a:p>
        </p:txBody>
      </p:sp>
      <p:sp>
        <p:nvSpPr>
          <p:cNvPr id="25" name="Rounded Rectangle 24"/>
          <p:cNvSpPr/>
          <p:nvPr/>
        </p:nvSpPr>
        <p:spPr>
          <a:xfrm>
            <a:off x="10058400" y="2331720"/>
            <a:ext cx="2148840" cy="2331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149840" y="2606040"/>
            <a:ext cx="1965960" cy="640080"/>
          </a:xfrm>
          <a:prstGeom prst="rect">
            <a:avLst/>
          </a:prstGeom>
          <a:noFill/>
        </p:spPr>
        <p:txBody>
          <a:bodyPr wrap="square" lIns="45720" rIns="45720">
            <a:spAutoFit/>
          </a:bodyPr>
          <a:lstStyle/>
          <a:p>
            <a:pPr algn="ctr">
              <a:defRPr sz="3100" b="1">
                <a:solidFill>
                  <a:srgbClr val="4E287F"/>
                </a:solidFill>
                <a:latin typeface="Aptos"/>
              </a:defRPr>
            </a:pPr>
            <a:r>
              <a:t>SE4</a:t>
            </a:r>
          </a:p>
        </p:txBody>
      </p:sp>
      <p:sp>
        <p:nvSpPr>
          <p:cNvPr id="27" name="TextBox 26"/>
          <p:cNvSpPr txBox="1"/>
          <p:nvPr/>
        </p:nvSpPr>
        <p:spPr>
          <a:xfrm>
            <a:off x="10149840" y="3291840"/>
            <a:ext cx="1965960" cy="365760"/>
          </a:xfrm>
          <a:prstGeom prst="rect">
            <a:avLst/>
          </a:prstGeom>
          <a:noFill/>
        </p:spPr>
        <p:txBody>
          <a:bodyPr wrap="square" lIns="45720" rIns="45720">
            <a:spAutoFit/>
          </a:bodyPr>
          <a:lstStyle/>
          <a:p>
            <a:pPr algn="ctr">
              <a:defRPr sz="1200" b="1">
                <a:solidFill>
                  <a:srgbClr val="5F5B67"/>
                </a:solidFill>
                <a:latin typeface="Aptos"/>
              </a:defRPr>
            </a:pPr>
            <a:r>
              <a:t>HEDGE</a:t>
            </a:r>
          </a:p>
        </p:txBody>
      </p:sp>
      <p:sp>
        <p:nvSpPr>
          <p:cNvPr id="28" name="TextBox 27"/>
          <p:cNvSpPr txBox="1"/>
          <p:nvPr/>
        </p:nvSpPr>
        <p:spPr>
          <a:xfrm>
            <a:off x="10149840" y="3776472"/>
            <a:ext cx="1965960" cy="530352"/>
          </a:xfrm>
          <a:prstGeom prst="rect">
            <a:avLst/>
          </a:prstGeom>
          <a:noFill/>
        </p:spPr>
        <p:txBody>
          <a:bodyPr wrap="square" lIns="45720" rIns="45720">
            <a:spAutoFit/>
          </a:bodyPr>
          <a:lstStyle/>
          <a:p>
            <a:pPr algn="ctr">
              <a:defRPr sz="1500" b="0">
                <a:solidFill>
                  <a:srgbClr val="2E1B4C"/>
                </a:solidFill>
                <a:latin typeface="Aptos"/>
              </a:defRPr>
            </a:pPr>
            <a:r>
              <a:t>Southern Sweden</a:t>
            </a:r>
          </a:p>
        </p:txBody>
      </p:sp>
      <p:sp>
        <p:nvSpPr>
          <p:cNvPr id="29" name="Rounded Rectangle 28"/>
          <p:cNvSpPr/>
          <p:nvPr/>
        </p:nvSpPr>
        <p:spPr>
          <a:xfrm>
            <a:off x="1005840" y="5029200"/>
            <a:ext cx="10149840" cy="1024128"/>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005840" y="5029200"/>
            <a:ext cx="68580" cy="10241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207008" y="5230368"/>
            <a:ext cx="9738360" cy="457200"/>
          </a:xfrm>
          <a:prstGeom prst="rect">
            <a:avLst/>
          </a:prstGeom>
          <a:noFill/>
        </p:spPr>
        <p:txBody>
          <a:bodyPr wrap="square" lIns="45720" rIns="45720">
            <a:spAutoFit/>
          </a:bodyPr>
          <a:lstStyle/>
          <a:p>
            <a:pPr>
              <a:defRPr sz="1900" b="1">
                <a:solidFill>
                  <a:srgbClr val="2E1B4C"/>
                </a:solidFill>
                <a:latin typeface="Aptos"/>
              </a:defRPr>
            </a:pPr>
            <a:r>
              <a:t>Data preparation</a:t>
            </a:r>
          </a:p>
        </p:txBody>
      </p:sp>
      <p:sp>
        <p:nvSpPr>
          <p:cNvPr id="32" name="TextBox 31"/>
          <p:cNvSpPr txBox="1"/>
          <p:nvPr/>
        </p:nvSpPr>
        <p:spPr>
          <a:xfrm>
            <a:off x="1207008" y="5779008"/>
            <a:ext cx="9729215" cy="155448"/>
          </a:xfrm>
          <a:prstGeom prst="rect">
            <a:avLst/>
          </a:prstGeom>
          <a:noFill/>
        </p:spPr>
        <p:txBody>
          <a:bodyPr wrap="square" lIns="45720" rIns="45720">
            <a:spAutoFit/>
          </a:bodyPr>
          <a:lstStyle/>
          <a:p>
            <a:pPr>
              <a:defRPr sz="1600" b="0">
                <a:solidFill>
                  <a:srgbClr val="5F5B67"/>
                </a:solidFill>
                <a:latin typeface="Aptos"/>
              </a:defRPr>
            </a:pPr>
            <a:r>
              <a:t>Parse hourly delivery intervals → convert CET/CEST to UTC → align common timestamps → calculate consecutive hourly changes.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DK1 price changes move closely with DE and DK2</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Correlations of hourly price changes motivate a cross-market proxy hedge.</a:t>
            </a:r>
          </a:p>
        </p:txBody>
      </p:sp>
      <p:pic>
        <p:nvPicPr>
          <p:cNvPr id="4" name="Picture 3" descr="03_cross_market_correlations.png"/>
          <p:cNvPicPr>
            <a:picLocks noChangeAspect="1"/>
          </p:cNvPicPr>
          <p:nvPr/>
        </p:nvPicPr>
        <p:blipFill>
          <a:blip r:embed="rId3"/>
          <a:stretch>
            <a:fillRect/>
          </a:stretch>
        </p:blipFill>
        <p:spPr>
          <a:xfrm>
            <a:off x="3029203" y="1193292"/>
            <a:ext cx="6133288" cy="5120640"/>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DATA AND METHODOLOGY</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Minimum-variance hedging framework</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Four proxy hedge weights are estimated on historical hourly price changes</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10</a:t>
            </a:r>
          </a:p>
        </p:txBody>
      </p:sp>
      <p:sp>
        <p:nvSpPr>
          <p:cNvPr id="9" name="Rounded Rectangle 8"/>
          <p:cNvSpPr/>
          <p:nvPr/>
        </p:nvSpPr>
        <p:spPr>
          <a:xfrm>
            <a:off x="731520" y="2057400"/>
            <a:ext cx="10716768" cy="114300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2359152"/>
            <a:ext cx="10241280" cy="594360"/>
          </a:xfrm>
          <a:prstGeom prst="rect">
            <a:avLst/>
          </a:prstGeom>
          <a:noFill/>
        </p:spPr>
        <p:txBody>
          <a:bodyPr wrap="square" lIns="45720" rIns="45720">
            <a:spAutoFit/>
          </a:bodyPr>
          <a:lstStyle/>
          <a:p>
            <a:pPr algn="ctr">
              <a:defRPr sz="2000" b="1">
                <a:solidFill>
                  <a:srgbClr val="2E1B4C"/>
                </a:solidFill>
                <a:latin typeface="Aptos"/>
              </a:defRPr>
            </a:pPr>
            <a:r>
              <a:t>ΔPᴴₜ  =  ΔPᴰᴷ¹ₜ  −  wᴰᴱΔPᴰᴱₜ  −  wᴰᴷ²ΔPᴰᴷ²ₜ  −  wᴺᴼ²ΔPᴺᴼ²ₜ  −  wˢᴱ⁴ΔPˢᴱ⁴ₜ</a:t>
            </a:r>
          </a:p>
        </p:txBody>
      </p:sp>
      <p:sp>
        <p:nvSpPr>
          <p:cNvPr id="11" name="Rounded Rectangle 10"/>
          <p:cNvSpPr/>
          <p:nvPr/>
        </p:nvSpPr>
        <p:spPr>
          <a:xfrm>
            <a:off x="777240" y="3675887"/>
            <a:ext cx="3337560" cy="173736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3675887"/>
            <a:ext cx="68580" cy="1737360"/>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78408" y="3877055"/>
            <a:ext cx="2926079" cy="457200"/>
          </a:xfrm>
          <a:prstGeom prst="rect">
            <a:avLst/>
          </a:prstGeom>
          <a:noFill/>
        </p:spPr>
        <p:txBody>
          <a:bodyPr wrap="square" lIns="45720" rIns="45720">
            <a:spAutoFit/>
          </a:bodyPr>
          <a:lstStyle/>
          <a:p>
            <a:pPr>
              <a:defRPr sz="1900" b="1">
                <a:solidFill>
                  <a:srgbClr val="2E1B4C"/>
                </a:solidFill>
                <a:latin typeface="Aptos"/>
              </a:defRPr>
            </a:pPr>
            <a:r>
              <a:t>Objective</a:t>
            </a:r>
          </a:p>
        </p:txBody>
      </p:sp>
      <p:sp>
        <p:nvSpPr>
          <p:cNvPr id="14" name="TextBox 13"/>
          <p:cNvSpPr txBox="1"/>
          <p:nvPr/>
        </p:nvSpPr>
        <p:spPr>
          <a:xfrm>
            <a:off x="978408" y="4425696"/>
            <a:ext cx="2916936" cy="868680"/>
          </a:xfrm>
          <a:prstGeom prst="rect">
            <a:avLst/>
          </a:prstGeom>
          <a:noFill/>
        </p:spPr>
        <p:txBody>
          <a:bodyPr wrap="square" lIns="45720" rIns="45720">
            <a:spAutoFit/>
          </a:bodyPr>
          <a:lstStyle/>
          <a:p>
            <a:pPr>
              <a:defRPr sz="1600" b="0">
                <a:solidFill>
                  <a:srgbClr val="5F5B67"/>
                </a:solidFill>
                <a:latin typeface="Aptos"/>
              </a:defRPr>
            </a:pPr>
            <a:r>
              <a:t>Minimize the variance of the residual hourly price changes.</a:t>
            </a:r>
          </a:p>
        </p:txBody>
      </p:sp>
      <p:sp>
        <p:nvSpPr>
          <p:cNvPr id="15" name="Rounded Rectangle 14"/>
          <p:cNvSpPr/>
          <p:nvPr/>
        </p:nvSpPr>
        <p:spPr>
          <a:xfrm>
            <a:off x="4434840" y="3675887"/>
            <a:ext cx="3337560" cy="173736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434840" y="3675887"/>
            <a:ext cx="68580" cy="1737360"/>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636007" y="3877055"/>
            <a:ext cx="2926079" cy="457200"/>
          </a:xfrm>
          <a:prstGeom prst="rect">
            <a:avLst/>
          </a:prstGeom>
          <a:noFill/>
        </p:spPr>
        <p:txBody>
          <a:bodyPr wrap="square" lIns="45720" rIns="45720">
            <a:spAutoFit/>
          </a:bodyPr>
          <a:lstStyle/>
          <a:p>
            <a:pPr>
              <a:defRPr sz="1900" b="1">
                <a:solidFill>
                  <a:srgbClr val="2E1B4C"/>
                </a:solidFill>
                <a:latin typeface="Aptos"/>
              </a:defRPr>
            </a:pPr>
            <a:r>
              <a:t>Constraints</a:t>
            </a:r>
          </a:p>
        </p:txBody>
      </p:sp>
      <p:sp>
        <p:nvSpPr>
          <p:cNvPr id="18" name="TextBox 17"/>
          <p:cNvSpPr txBox="1"/>
          <p:nvPr/>
        </p:nvSpPr>
        <p:spPr>
          <a:xfrm>
            <a:off x="4636007" y="4425696"/>
            <a:ext cx="2916936" cy="868680"/>
          </a:xfrm>
          <a:prstGeom prst="rect">
            <a:avLst/>
          </a:prstGeom>
          <a:noFill/>
        </p:spPr>
        <p:txBody>
          <a:bodyPr wrap="square" lIns="45720" rIns="45720">
            <a:spAutoFit/>
          </a:bodyPr>
          <a:lstStyle/>
          <a:p>
            <a:pPr>
              <a:defRPr sz="1600" b="0">
                <a:solidFill>
                  <a:srgbClr val="5F5B67"/>
                </a:solidFill>
                <a:latin typeface="Aptos"/>
              </a:defRPr>
            </a:pPr>
            <a:r>
              <a:t>0 ≤ each weight ≤ 1; total weight ≤ 1.</a:t>
            </a:r>
          </a:p>
        </p:txBody>
      </p:sp>
      <p:sp>
        <p:nvSpPr>
          <p:cNvPr id="19" name="Rounded Rectangle 18"/>
          <p:cNvSpPr/>
          <p:nvPr/>
        </p:nvSpPr>
        <p:spPr>
          <a:xfrm>
            <a:off x="8092440" y="3675887"/>
            <a:ext cx="3337560" cy="173736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092440" y="3675887"/>
            <a:ext cx="68580" cy="1737360"/>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93608" y="3877055"/>
            <a:ext cx="2926079" cy="457200"/>
          </a:xfrm>
          <a:prstGeom prst="rect">
            <a:avLst/>
          </a:prstGeom>
          <a:noFill/>
        </p:spPr>
        <p:txBody>
          <a:bodyPr wrap="square" lIns="45720" rIns="45720">
            <a:spAutoFit/>
          </a:bodyPr>
          <a:lstStyle/>
          <a:p>
            <a:pPr>
              <a:defRPr sz="1900" b="1">
                <a:solidFill>
                  <a:srgbClr val="2E1B4C"/>
                </a:solidFill>
                <a:latin typeface="Aptos"/>
              </a:defRPr>
            </a:pPr>
            <a:r>
              <a:t>Estimation</a:t>
            </a:r>
          </a:p>
        </p:txBody>
      </p:sp>
      <p:sp>
        <p:nvSpPr>
          <p:cNvPr id="22" name="TextBox 21"/>
          <p:cNvSpPr txBox="1"/>
          <p:nvPr/>
        </p:nvSpPr>
        <p:spPr>
          <a:xfrm>
            <a:off x="8293608" y="4425696"/>
            <a:ext cx="2916936" cy="868680"/>
          </a:xfrm>
          <a:prstGeom prst="rect">
            <a:avLst/>
          </a:prstGeom>
          <a:noFill/>
        </p:spPr>
        <p:txBody>
          <a:bodyPr wrap="square" lIns="45720" rIns="45720">
            <a:spAutoFit/>
          </a:bodyPr>
          <a:lstStyle/>
          <a:p>
            <a:pPr>
              <a:defRPr sz="1600" b="0">
                <a:solidFill>
                  <a:srgbClr val="5F5B67"/>
                </a:solidFill>
                <a:latin typeface="Aptos"/>
              </a:defRPr>
            </a:pPr>
            <a:r>
              <a:t>SciPy SLSQP; chronological 70% train / 30% test.</a:t>
            </a:r>
          </a:p>
        </p:txBody>
      </p:sp>
      <p:sp>
        <p:nvSpPr>
          <p:cNvPr id="23" name="TextBox 22"/>
          <p:cNvSpPr txBox="1"/>
          <p:nvPr/>
        </p:nvSpPr>
        <p:spPr>
          <a:xfrm>
            <a:off x="987552" y="5852160"/>
            <a:ext cx="10241280" cy="365760"/>
          </a:xfrm>
          <a:prstGeom prst="rect">
            <a:avLst/>
          </a:prstGeom>
          <a:noFill/>
        </p:spPr>
        <p:txBody>
          <a:bodyPr wrap="square" lIns="45720" rIns="45720">
            <a:spAutoFit/>
          </a:bodyPr>
          <a:lstStyle/>
          <a:p>
            <a:pPr algn="ctr">
              <a:defRPr sz="1500" b="0">
                <a:solidFill>
                  <a:srgbClr val="5F5B67"/>
                </a:solidFill>
                <a:latin typeface="Aptos"/>
              </a:defRPr>
            </a:pPr>
            <a:r>
              <a:t>Only spot prices are used: this is a statistical proxy hedge, not a traded derivatives strategy.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118872"/>
          </a:xfrm>
          <a:prstGeom prst="roundRect">
            <a:avLst/>
          </a:prstGeom>
          <a:solidFill>
            <a:srgbClr val="4D28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0972800" cy="320040"/>
          </a:xfrm>
          <a:prstGeom prst="rect">
            <a:avLst/>
          </a:prstGeom>
          <a:noFill/>
        </p:spPr>
        <p:txBody>
          <a:bodyPr wrap="square">
            <a:spAutoFit/>
          </a:bodyPr>
          <a:lstStyle/>
          <a:p>
            <a:pPr>
              <a:defRPr sz="1200" b="1">
                <a:solidFill>
                  <a:srgbClr val="4D287D"/>
                </a:solidFill>
              </a:defRPr>
            </a:pPr>
            <a:r>
              <a:t>DATA AND METHODOLOGY</a:t>
            </a:r>
          </a:p>
        </p:txBody>
      </p:sp>
      <p:sp>
        <p:nvSpPr>
          <p:cNvPr id="4" name="TextBox 3"/>
          <p:cNvSpPr txBox="1"/>
          <p:nvPr/>
        </p:nvSpPr>
        <p:spPr>
          <a:xfrm>
            <a:off x="548640" y="777240"/>
            <a:ext cx="10972800" cy="594360"/>
          </a:xfrm>
          <a:prstGeom prst="rect">
            <a:avLst/>
          </a:prstGeom>
          <a:noFill/>
        </p:spPr>
        <p:txBody>
          <a:bodyPr wrap="square">
            <a:spAutoFit/>
          </a:bodyPr>
          <a:lstStyle/>
          <a:p>
            <a:pPr>
              <a:defRPr sz="2900" b="1">
                <a:solidFill>
                  <a:srgbClr val="25193D"/>
                </a:solidFill>
              </a:defRPr>
            </a:pPr>
            <a:r>
              <a:t>Beyond volatility: why optimize CVaR?</a:t>
            </a:r>
          </a:p>
        </p:txBody>
      </p:sp>
      <p:sp>
        <p:nvSpPr>
          <p:cNvPr id="5" name="TextBox 4"/>
          <p:cNvSpPr txBox="1"/>
          <p:nvPr/>
        </p:nvSpPr>
        <p:spPr>
          <a:xfrm>
            <a:off x="548640" y="1417320"/>
            <a:ext cx="10972800" cy="457200"/>
          </a:xfrm>
          <a:prstGeom prst="rect">
            <a:avLst/>
          </a:prstGeom>
          <a:noFill/>
        </p:spPr>
        <p:txBody>
          <a:bodyPr wrap="square">
            <a:spAutoFit/>
          </a:bodyPr>
          <a:lstStyle/>
          <a:p>
            <a:pPr>
              <a:defRPr sz="1500" b="0">
                <a:solidFill>
                  <a:srgbClr val="65646B"/>
                </a:solidFill>
              </a:defRPr>
            </a:pPr>
            <a:r>
              <a:t>The company also wants protection against unusually large upward price changes</a:t>
            </a:r>
          </a:p>
        </p:txBody>
      </p:sp>
      <p:sp>
        <p:nvSpPr>
          <p:cNvPr id="6" name="TextBox 5"/>
          <p:cNvSpPr txBox="1"/>
          <p:nvPr/>
        </p:nvSpPr>
        <p:spPr>
          <a:xfrm>
            <a:off x="548640" y="6446520"/>
            <a:ext cx="10058400" cy="182880"/>
          </a:xfrm>
          <a:prstGeom prst="rect">
            <a:avLst/>
          </a:prstGeom>
          <a:noFill/>
        </p:spPr>
        <p:txBody>
          <a:bodyPr wrap="square">
            <a:spAutoFit/>
          </a:bodyPr>
          <a:lstStyle/>
          <a:p>
            <a:pPr>
              <a:defRPr sz="1000" b="0">
                <a:solidFill>
                  <a:srgbClr val="65646B"/>
                </a:solidFill>
              </a:defRPr>
            </a:pPr>
            <a:r>
              <a:t>NEOMA  |  Electricity Price Risk Hedging  •  Statistical spot-price proxy</a:t>
            </a:r>
          </a:p>
        </p:txBody>
      </p:sp>
      <p:sp>
        <p:nvSpPr>
          <p:cNvPr id="7" name="TextBox 6"/>
          <p:cNvSpPr txBox="1"/>
          <p:nvPr/>
        </p:nvSpPr>
        <p:spPr>
          <a:xfrm>
            <a:off x="11201400" y="6419088"/>
            <a:ext cx="411480" cy="228600"/>
          </a:xfrm>
          <a:prstGeom prst="rect">
            <a:avLst/>
          </a:prstGeom>
          <a:noFill/>
        </p:spPr>
        <p:txBody>
          <a:bodyPr wrap="square">
            <a:spAutoFit/>
          </a:bodyPr>
          <a:lstStyle/>
          <a:p>
            <a:pPr>
              <a:defRPr sz="1000" b="0">
                <a:solidFill>
                  <a:srgbClr val="65646B"/>
                </a:solidFill>
              </a:defRPr>
            </a:pPr>
            <a:r>
              <a:t>16</a:t>
            </a:r>
          </a:p>
        </p:txBody>
      </p:sp>
      <p:sp>
        <p:nvSpPr>
          <p:cNvPr id="8" name="Rounded Rectangle 7"/>
          <p:cNvSpPr/>
          <p:nvPr/>
        </p:nvSpPr>
        <p:spPr>
          <a:xfrm>
            <a:off x="594360" y="2057400"/>
            <a:ext cx="5303520" cy="3474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263640" y="2057400"/>
            <a:ext cx="5303520" cy="347472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423160"/>
            <a:ext cx="4754880" cy="502920"/>
          </a:xfrm>
          <a:prstGeom prst="rect">
            <a:avLst/>
          </a:prstGeom>
          <a:noFill/>
        </p:spPr>
        <p:txBody>
          <a:bodyPr wrap="square">
            <a:spAutoFit/>
          </a:bodyPr>
          <a:lstStyle/>
          <a:p>
            <a:pPr>
              <a:defRPr sz="1900" b="1">
                <a:solidFill>
                  <a:srgbClr val="4D287D"/>
                </a:solidFill>
              </a:defRPr>
            </a:pPr>
            <a:r>
              <a:t>MINIMUM VARIANCE</a:t>
            </a:r>
          </a:p>
        </p:txBody>
      </p:sp>
      <p:sp>
        <p:nvSpPr>
          <p:cNvPr id="11" name="TextBox 10"/>
          <p:cNvSpPr txBox="1"/>
          <p:nvPr/>
        </p:nvSpPr>
        <p:spPr>
          <a:xfrm>
            <a:off x="914400" y="3127248"/>
            <a:ext cx="4617720" cy="1737360"/>
          </a:xfrm>
          <a:prstGeom prst="rect">
            <a:avLst/>
          </a:prstGeom>
          <a:noFill/>
        </p:spPr>
        <p:txBody>
          <a:bodyPr wrap="square">
            <a:spAutoFit/>
          </a:bodyPr>
          <a:lstStyle/>
          <a:p>
            <a:pPr>
              <a:defRPr sz="1800" b="0">
                <a:solidFill>
                  <a:srgbClr val="25193D"/>
                </a:solidFill>
              </a:defRPr>
            </a:pPr>
            <a:r>
              <a:t>Minimize the dispersion of residual hourly price changes.</a:t>
            </a:r>
          </a:p>
          <a:p>
            <a:pPr>
              <a:defRPr sz="1800" b="0">
                <a:solidFill>
                  <a:srgbClr val="25193D"/>
                </a:solidFill>
              </a:defRPr>
            </a:pPr>
            <a:endParaRPr/>
          </a:p>
          <a:p>
            <a:pPr>
              <a:defRPr sz="1800" b="0">
                <a:solidFill>
                  <a:srgbClr val="25193D"/>
                </a:solidFill>
              </a:defRPr>
            </a:pPr>
            <a:r>
              <a:t>Focus: overall volatility.</a:t>
            </a:r>
          </a:p>
        </p:txBody>
      </p:sp>
      <p:sp>
        <p:nvSpPr>
          <p:cNvPr id="12" name="TextBox 11"/>
          <p:cNvSpPr txBox="1"/>
          <p:nvPr/>
        </p:nvSpPr>
        <p:spPr>
          <a:xfrm>
            <a:off x="6583680" y="2423160"/>
            <a:ext cx="4663440" cy="502920"/>
          </a:xfrm>
          <a:prstGeom prst="rect">
            <a:avLst/>
          </a:prstGeom>
          <a:noFill/>
        </p:spPr>
        <p:txBody>
          <a:bodyPr wrap="square">
            <a:spAutoFit/>
          </a:bodyPr>
          <a:lstStyle/>
          <a:p>
            <a:pPr>
              <a:defRPr sz="1900" b="1">
                <a:solidFill>
                  <a:srgbClr val="4D287D"/>
                </a:solidFill>
              </a:defRPr>
            </a:pPr>
            <a:r>
              <a:t>MINIMUM CVaR</a:t>
            </a:r>
          </a:p>
        </p:txBody>
      </p:sp>
      <p:sp>
        <p:nvSpPr>
          <p:cNvPr id="13" name="TextBox 12"/>
          <p:cNvSpPr txBox="1"/>
          <p:nvPr/>
        </p:nvSpPr>
        <p:spPr>
          <a:xfrm>
            <a:off x="6583680" y="3127248"/>
            <a:ext cx="4663440" cy="2011680"/>
          </a:xfrm>
          <a:prstGeom prst="rect">
            <a:avLst/>
          </a:prstGeom>
          <a:noFill/>
        </p:spPr>
        <p:txBody>
          <a:bodyPr wrap="square">
            <a:spAutoFit/>
          </a:bodyPr>
          <a:lstStyle/>
          <a:p>
            <a:pPr>
              <a:defRPr sz="1800" b="0">
                <a:solidFill>
                  <a:srgbClr val="25193D"/>
                </a:solidFill>
              </a:defRPr>
            </a:pPr>
            <a:r>
              <a:t>Minimize the average residual price increase in the worst 5% or 1% of scenarios.</a:t>
            </a:r>
          </a:p>
          <a:p>
            <a:pPr>
              <a:defRPr sz="1800" b="0">
                <a:solidFill>
                  <a:srgbClr val="25193D"/>
                </a:solidFill>
              </a:defRPr>
            </a:pPr>
            <a:endParaRPr/>
          </a:p>
          <a:p>
            <a:pPr>
              <a:defRPr sz="1800" b="0">
                <a:solidFill>
                  <a:srgbClr val="25193D"/>
                </a:solidFill>
              </a:defRPr>
            </a:pPr>
            <a:r>
              <a:t>Focus: adverse upper-tail outcomes.</a:t>
            </a:r>
          </a:p>
        </p:txBody>
      </p:sp>
      <p:sp>
        <p:nvSpPr>
          <p:cNvPr id="14" name="TextBox 13"/>
          <p:cNvSpPr txBox="1"/>
          <p:nvPr/>
        </p:nvSpPr>
        <p:spPr>
          <a:xfrm>
            <a:off x="731520" y="5806440"/>
            <a:ext cx="10881360" cy="365760"/>
          </a:xfrm>
          <a:prstGeom prst="rect">
            <a:avLst/>
          </a:prstGeom>
          <a:noFill/>
        </p:spPr>
        <p:txBody>
          <a:bodyPr wrap="square">
            <a:spAutoFit/>
          </a:bodyPr>
          <a:lstStyle/>
          <a:p>
            <a:pPr>
              <a:defRPr sz="1400" b="0">
                <a:solidFill>
                  <a:srgbClr val="65646B"/>
                </a:solidFill>
              </a:defRPr>
            </a:pPr>
            <a:r>
              <a:t>Both methods use the same constraints: 0 ≤ each weight ≤ 1 and total weights ≤ 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Different risk objectives lead to different allocations</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Minimum variance, CVaR 95% and CVaR 99% shift exposure between DE and DK2.</a:t>
            </a:r>
          </a:p>
        </p:txBody>
      </p:sp>
      <p:pic>
        <p:nvPicPr>
          <p:cNvPr id="4" name="Picture 3" descr="04_optimal_hedge_weights.png"/>
          <p:cNvPicPr>
            <a:picLocks noChangeAspect="1"/>
          </p:cNvPicPr>
          <p:nvPr/>
        </p:nvPicPr>
        <p:blipFill>
          <a:blip r:embed="rId3"/>
          <a:stretch>
            <a:fillRect/>
          </a:stretch>
        </p:blipFill>
        <p:spPr>
          <a:xfrm>
            <a:off x="609447" y="1404211"/>
            <a:ext cx="10972800" cy="4698801"/>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The hedged distribution is much narrower</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Out-of-sample residual price changes show less dispersion than unhedged DK1.</a:t>
            </a:r>
          </a:p>
        </p:txBody>
      </p:sp>
      <p:pic>
        <p:nvPicPr>
          <p:cNvPr id="4" name="Picture 3" descr="05_before_after_distribution.png"/>
          <p:cNvPicPr>
            <a:picLocks noChangeAspect="1"/>
          </p:cNvPicPr>
          <p:nvPr/>
        </p:nvPicPr>
        <p:blipFill>
          <a:blip r:embed="rId3"/>
          <a:stretch>
            <a:fillRect/>
          </a:stretch>
        </p:blipFill>
        <p:spPr>
          <a:xfrm>
            <a:off x="609447" y="1294376"/>
            <a:ext cx="10972800" cy="4918471"/>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30352" y="219456"/>
            <a:ext cx="10881360" cy="438912"/>
          </a:xfrm>
          <a:prstGeom prst="rect">
            <a:avLst/>
          </a:prstGeom>
          <a:noFill/>
        </p:spPr>
        <p:txBody>
          <a:bodyPr wrap="square">
            <a:spAutoFit/>
          </a:bodyPr>
          <a:lstStyle/>
          <a:p>
            <a:pPr>
              <a:defRPr sz="2400" b="1">
                <a:solidFill>
                  <a:srgbClr val="452477"/>
                </a:solidFill>
                <a:latin typeface="Aptos"/>
              </a:defRPr>
            </a:pPr>
            <a:r>
              <a:t>Tail-risk protection is strong across all three hedges</a:t>
            </a:r>
          </a:p>
        </p:txBody>
      </p:sp>
      <p:sp>
        <p:nvSpPr>
          <p:cNvPr id="3" name="TextBox 2"/>
          <p:cNvSpPr txBox="1"/>
          <p:nvPr/>
        </p:nvSpPr>
        <p:spPr>
          <a:xfrm>
            <a:off x="548640" y="740664"/>
            <a:ext cx="10789920" cy="329184"/>
          </a:xfrm>
          <a:prstGeom prst="rect">
            <a:avLst/>
          </a:prstGeom>
          <a:noFill/>
        </p:spPr>
        <p:txBody>
          <a:bodyPr wrap="square">
            <a:spAutoFit/>
          </a:bodyPr>
          <a:lstStyle/>
          <a:p>
            <a:pPr>
              <a:defRPr sz="1200" b="0">
                <a:solidFill>
                  <a:srgbClr val="5F5E67"/>
                </a:solidFill>
                <a:latin typeface="Aptos"/>
              </a:defRPr>
            </a:pPr>
            <a:r>
              <a:t>CVaR 95% has a slight edge at 95%, while minimum variance is lowest at 99%.</a:t>
            </a:r>
          </a:p>
        </p:txBody>
      </p:sp>
      <p:pic>
        <p:nvPicPr>
          <p:cNvPr id="4" name="Picture 3" descr="06_cvar_risk_comparison.png"/>
          <p:cNvPicPr>
            <a:picLocks noChangeAspect="1"/>
          </p:cNvPicPr>
          <p:nvPr/>
        </p:nvPicPr>
        <p:blipFill>
          <a:blip r:embed="rId3"/>
          <a:stretch>
            <a:fillRect/>
          </a:stretch>
        </p:blipFill>
        <p:spPr>
          <a:xfrm>
            <a:off x="904228" y="1193292"/>
            <a:ext cx="10383238" cy="5120640"/>
          </a:xfrm>
          <a:prstGeom prst="rect">
            <a:avLst/>
          </a:prstGeom>
        </p:spPr>
      </p:pic>
      <p:sp>
        <p:nvSpPr>
          <p:cNvPr id="5" name="TextBox 4"/>
          <p:cNvSpPr txBox="1"/>
          <p:nvPr/>
        </p:nvSpPr>
        <p:spPr>
          <a:xfrm>
            <a:off x="548640" y="6510528"/>
            <a:ext cx="10881360" cy="182880"/>
          </a:xfrm>
          <a:prstGeom prst="rect">
            <a:avLst/>
          </a:prstGeom>
          <a:noFill/>
        </p:spPr>
        <p:txBody>
          <a:bodyPr wrap="square">
            <a:spAutoFit/>
          </a:bodyPr>
          <a:lstStyle/>
          <a:p>
            <a:pPr>
              <a:defRPr sz="900" b="0">
                <a:solidFill>
                  <a:srgbClr val="73707A"/>
                </a:solidFill>
                <a:latin typeface="Aptos"/>
              </a:defRPr>
            </a:pPr>
            <a:r>
              <a:t>NEOMA  |  Electricity price risk hedging  |  Statistical spot-price proxy</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EMPIRICAL RESULTS</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What do the findings mean for management?</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The model delivers strong historical risk reduction:but not a realized cost saving</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13</a:t>
            </a:r>
          </a:p>
        </p:txBody>
      </p:sp>
      <p:sp>
        <p:nvSpPr>
          <p:cNvPr id="9" name="Rounded Rectangle 8"/>
          <p:cNvSpPr/>
          <p:nvPr/>
        </p:nvSpPr>
        <p:spPr>
          <a:xfrm>
            <a:off x="822960" y="2194560"/>
            <a:ext cx="5074920" cy="315468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60" y="2194560"/>
            <a:ext cx="68580" cy="3154680"/>
          </a:xfrm>
          <a:prstGeom prst="rect">
            <a:avLst/>
          </a:prstGeom>
          <a:solidFill>
            <a:srgbClr val="318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24128" y="2395728"/>
            <a:ext cx="4663440" cy="457200"/>
          </a:xfrm>
          <a:prstGeom prst="rect">
            <a:avLst/>
          </a:prstGeom>
          <a:noFill/>
        </p:spPr>
        <p:txBody>
          <a:bodyPr wrap="square" lIns="45720" rIns="45720">
            <a:spAutoFit/>
          </a:bodyPr>
          <a:lstStyle/>
          <a:p>
            <a:pPr>
              <a:defRPr sz="1900" b="1">
                <a:solidFill>
                  <a:srgbClr val="2E1B4C"/>
                </a:solidFill>
                <a:latin typeface="Aptos"/>
              </a:defRPr>
            </a:pPr>
            <a:r>
              <a:t>What the analysis supports</a:t>
            </a:r>
          </a:p>
        </p:txBody>
      </p:sp>
      <p:sp>
        <p:nvSpPr>
          <p:cNvPr id="12" name="TextBox 11"/>
          <p:cNvSpPr txBox="1"/>
          <p:nvPr/>
        </p:nvSpPr>
        <p:spPr>
          <a:xfrm>
            <a:off x="1024128" y="2944368"/>
            <a:ext cx="4654296" cy="2286000"/>
          </a:xfrm>
          <a:prstGeom prst="rect">
            <a:avLst/>
          </a:prstGeom>
          <a:noFill/>
        </p:spPr>
        <p:txBody>
          <a:bodyPr wrap="square" lIns="45720" rIns="45720">
            <a:spAutoFit/>
          </a:bodyPr>
          <a:lstStyle/>
          <a:p>
            <a:pPr>
              <a:defRPr sz="1600" b="0">
                <a:solidFill>
                  <a:srgbClr val="5F5B67"/>
                </a:solidFill>
                <a:latin typeface="Aptos"/>
              </a:defRPr>
            </a:pPr>
            <a:r>
              <a:t>A combination of DE, DK2, NO2 and SE4 price changes substantially offsets DK1 hourly price changes in the held-out period.</a:t>
            </a:r>
          </a:p>
        </p:txBody>
      </p:sp>
      <p:sp>
        <p:nvSpPr>
          <p:cNvPr id="13" name="Rounded Rectangle 12"/>
          <p:cNvSpPr/>
          <p:nvPr/>
        </p:nvSpPr>
        <p:spPr>
          <a:xfrm>
            <a:off x="6272784" y="2194560"/>
            <a:ext cx="5074920" cy="315468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72784" y="2194560"/>
            <a:ext cx="68580" cy="3154680"/>
          </a:xfrm>
          <a:prstGeom prst="rect">
            <a:avLst/>
          </a:prstGeom>
          <a:solidFill>
            <a:srgbClr val="C49A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73952" y="2395728"/>
            <a:ext cx="4663440" cy="457200"/>
          </a:xfrm>
          <a:prstGeom prst="rect">
            <a:avLst/>
          </a:prstGeom>
          <a:noFill/>
        </p:spPr>
        <p:txBody>
          <a:bodyPr wrap="square" lIns="45720" rIns="45720">
            <a:spAutoFit/>
          </a:bodyPr>
          <a:lstStyle/>
          <a:p>
            <a:pPr>
              <a:defRPr sz="1900" b="1">
                <a:solidFill>
                  <a:srgbClr val="2E1B4C"/>
                </a:solidFill>
                <a:latin typeface="Aptos"/>
              </a:defRPr>
            </a:pPr>
            <a:r>
              <a:t>What it does not prove</a:t>
            </a:r>
          </a:p>
        </p:txBody>
      </p:sp>
      <p:sp>
        <p:nvSpPr>
          <p:cNvPr id="16" name="TextBox 15"/>
          <p:cNvSpPr txBox="1"/>
          <p:nvPr/>
        </p:nvSpPr>
        <p:spPr>
          <a:xfrm>
            <a:off x="6473952" y="2944368"/>
            <a:ext cx="4654296" cy="2286000"/>
          </a:xfrm>
          <a:prstGeom prst="rect">
            <a:avLst/>
          </a:prstGeom>
          <a:noFill/>
        </p:spPr>
        <p:txBody>
          <a:bodyPr wrap="square" lIns="45720" rIns="45720">
            <a:spAutoFit/>
          </a:bodyPr>
          <a:lstStyle/>
          <a:p>
            <a:pPr>
              <a:defRPr sz="1600" b="0">
                <a:solidFill>
                  <a:srgbClr val="5F5B67"/>
                </a:solidFill>
                <a:latin typeface="Aptos"/>
              </a:defRPr>
            </a:pPr>
            <a:r>
              <a:t>No actual forward or swap positions were priced. The 85.44% variance reduction is not an 85.44% reduction in electricity bills.</a:t>
            </a:r>
          </a:p>
        </p:txBody>
      </p:sp>
      <p:sp>
        <p:nvSpPr>
          <p:cNvPr id="17" name="TextBox 16"/>
          <p:cNvSpPr txBox="1"/>
          <p:nvPr/>
        </p:nvSpPr>
        <p:spPr>
          <a:xfrm>
            <a:off x="868680" y="5687568"/>
            <a:ext cx="10698480" cy="548640"/>
          </a:xfrm>
          <a:prstGeom prst="rect">
            <a:avLst/>
          </a:prstGeom>
          <a:noFill/>
        </p:spPr>
        <p:txBody>
          <a:bodyPr wrap="square" lIns="45720" rIns="45720">
            <a:spAutoFit/>
          </a:bodyPr>
          <a:lstStyle/>
          <a:p>
            <a:pPr algn="ctr">
              <a:defRPr sz="1900" b="1">
                <a:solidFill>
                  <a:srgbClr val="2E1B4C"/>
                </a:solidFill>
                <a:latin typeface="Aptos"/>
              </a:defRPr>
            </a:pPr>
            <a:r>
              <a:t>Management implication: promising proxy-hedge signal; additional validation is required before execution.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320040"/>
            <a:ext cx="10058400" cy="274320"/>
          </a:xfrm>
          <a:prstGeom prst="rect">
            <a:avLst/>
          </a:prstGeom>
          <a:noFill/>
        </p:spPr>
        <p:txBody>
          <a:bodyPr wrap="square" lIns="45720" rIns="45720">
            <a:spAutoFit/>
          </a:bodyPr>
          <a:lstStyle/>
          <a:p>
            <a:pPr>
              <a:defRPr sz="1200" b="1">
                <a:solidFill>
                  <a:srgbClr val="4E287F"/>
                </a:solidFill>
                <a:latin typeface="Aptos"/>
              </a:defRPr>
            </a:pPr>
            <a:r>
              <a:t>CONCLUSION AND LIMITATIONS</a:t>
            </a:r>
          </a:p>
        </p:txBody>
      </p:sp>
      <p:sp>
        <p:nvSpPr>
          <p:cNvPr id="4" name="TextBox 3"/>
          <p:cNvSpPr txBox="1"/>
          <p:nvPr/>
        </p:nvSpPr>
        <p:spPr>
          <a:xfrm>
            <a:off x="594360" y="786384"/>
            <a:ext cx="10972800" cy="694944"/>
          </a:xfrm>
          <a:prstGeom prst="rect">
            <a:avLst/>
          </a:prstGeom>
          <a:noFill/>
        </p:spPr>
        <p:txBody>
          <a:bodyPr wrap="square" lIns="45720" rIns="45720">
            <a:spAutoFit/>
          </a:bodyPr>
          <a:lstStyle/>
          <a:p>
            <a:pPr>
              <a:defRPr sz="3000" b="1">
                <a:solidFill>
                  <a:srgbClr val="2E1B4C"/>
                </a:solidFill>
                <a:latin typeface="Aptos"/>
              </a:defRPr>
            </a:pPr>
            <a:r>
              <a:t>From statistical proxy to implementable hedge</a:t>
            </a:r>
          </a:p>
        </p:txBody>
      </p:sp>
      <p:sp>
        <p:nvSpPr>
          <p:cNvPr id="5" name="TextBox 4"/>
          <p:cNvSpPr txBox="1"/>
          <p:nvPr/>
        </p:nvSpPr>
        <p:spPr>
          <a:xfrm>
            <a:off x="612648" y="1508760"/>
            <a:ext cx="10789920" cy="457200"/>
          </a:xfrm>
          <a:prstGeom prst="rect">
            <a:avLst/>
          </a:prstGeom>
          <a:noFill/>
        </p:spPr>
        <p:txBody>
          <a:bodyPr wrap="square" lIns="45720" rIns="45720">
            <a:spAutoFit/>
          </a:bodyPr>
          <a:lstStyle/>
          <a:p>
            <a:pPr>
              <a:defRPr sz="1500" b="0">
                <a:solidFill>
                  <a:srgbClr val="5F5B67"/>
                </a:solidFill>
                <a:latin typeface="Aptos"/>
              </a:defRPr>
            </a:pPr>
            <a:r>
              <a:t>A staged validation plan for the company’s treasury and risk teams</a:t>
            </a:r>
          </a:p>
        </p:txBody>
      </p:sp>
      <p:sp>
        <p:nvSpPr>
          <p:cNvPr id="6" name="Rectangle 5"/>
          <p:cNvSpPr/>
          <p:nvPr/>
        </p:nvSpPr>
        <p:spPr>
          <a:xfrm>
            <a:off x="594360" y="6519672"/>
            <a:ext cx="11018520" cy="13716"/>
          </a:xfrm>
          <a:prstGeom prst="rect">
            <a:avLst/>
          </a:prstGeom>
          <a:solidFill>
            <a:srgbClr val="D7D2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6583680"/>
            <a:ext cx="9144000" cy="182880"/>
          </a:xfrm>
          <a:prstGeom prst="rect">
            <a:avLst/>
          </a:prstGeom>
          <a:noFill/>
        </p:spPr>
        <p:txBody>
          <a:bodyPr wrap="square" lIns="45720" rIns="45720">
            <a:spAutoFit/>
          </a:bodyPr>
          <a:lstStyle/>
          <a:p>
            <a:pPr>
              <a:defRPr sz="900" b="0">
                <a:solidFill>
                  <a:srgbClr val="5F5B67"/>
                </a:solidFill>
                <a:latin typeface="Aptos"/>
              </a:defRPr>
            </a:pPr>
            <a:r>
              <a:t>NEOMA  |  Minimum-Variance Electricity Price Hedging</a:t>
            </a:r>
          </a:p>
        </p:txBody>
      </p:sp>
      <p:sp>
        <p:nvSpPr>
          <p:cNvPr id="8" name="TextBox 7"/>
          <p:cNvSpPr txBox="1"/>
          <p:nvPr/>
        </p:nvSpPr>
        <p:spPr>
          <a:xfrm>
            <a:off x="11109960" y="6565392"/>
            <a:ext cx="457200" cy="182880"/>
          </a:xfrm>
          <a:prstGeom prst="rect">
            <a:avLst/>
          </a:prstGeom>
          <a:noFill/>
        </p:spPr>
        <p:txBody>
          <a:bodyPr wrap="square" lIns="45720" rIns="45720">
            <a:spAutoFit/>
          </a:bodyPr>
          <a:lstStyle/>
          <a:p>
            <a:pPr algn="r">
              <a:defRPr sz="900" b="0">
                <a:solidFill>
                  <a:srgbClr val="5F5B67"/>
                </a:solidFill>
                <a:latin typeface="Aptos"/>
              </a:defRPr>
            </a:pPr>
            <a:r>
              <a:t>14</a:t>
            </a:r>
          </a:p>
        </p:txBody>
      </p:sp>
      <p:sp>
        <p:nvSpPr>
          <p:cNvPr id="9" name="Rounded Rectangle 8"/>
          <p:cNvSpPr/>
          <p:nvPr/>
        </p:nvSpPr>
        <p:spPr>
          <a:xfrm>
            <a:off x="822960" y="1965960"/>
            <a:ext cx="10561320" cy="786384"/>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950976" y="2084831"/>
            <a:ext cx="512064" cy="512064"/>
          </a:xfrm>
          <a:prstGeom prst="round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78408" y="2176272"/>
            <a:ext cx="457200" cy="228600"/>
          </a:xfrm>
          <a:prstGeom prst="rect">
            <a:avLst/>
          </a:prstGeom>
          <a:noFill/>
        </p:spPr>
        <p:txBody>
          <a:bodyPr wrap="square" lIns="45720" rIns="45720">
            <a:spAutoFit/>
          </a:bodyPr>
          <a:lstStyle/>
          <a:p>
            <a:pPr algn="ctr">
              <a:defRPr sz="1300" b="1">
                <a:solidFill>
                  <a:srgbClr val="FFFFFF"/>
                </a:solidFill>
                <a:latin typeface="Aptos"/>
              </a:defRPr>
            </a:pPr>
            <a:r>
              <a:t>01</a:t>
            </a:r>
          </a:p>
        </p:txBody>
      </p:sp>
      <p:sp>
        <p:nvSpPr>
          <p:cNvPr id="12" name="TextBox 11"/>
          <p:cNvSpPr txBox="1"/>
          <p:nvPr/>
        </p:nvSpPr>
        <p:spPr>
          <a:xfrm>
            <a:off x="1691640" y="2084831"/>
            <a:ext cx="3017520" cy="365760"/>
          </a:xfrm>
          <a:prstGeom prst="rect">
            <a:avLst/>
          </a:prstGeom>
          <a:noFill/>
        </p:spPr>
        <p:txBody>
          <a:bodyPr wrap="square" lIns="45720" rIns="45720">
            <a:spAutoFit/>
          </a:bodyPr>
          <a:lstStyle/>
          <a:p>
            <a:pPr>
              <a:defRPr sz="1800" b="1">
                <a:solidFill>
                  <a:srgbClr val="2E1B4C"/>
                </a:solidFill>
                <a:latin typeface="Aptos"/>
              </a:defRPr>
            </a:pPr>
            <a:r>
              <a:t>Validate robustness</a:t>
            </a:r>
          </a:p>
        </p:txBody>
      </p:sp>
      <p:sp>
        <p:nvSpPr>
          <p:cNvPr id="13" name="TextBox 12"/>
          <p:cNvSpPr txBox="1"/>
          <p:nvPr/>
        </p:nvSpPr>
        <p:spPr>
          <a:xfrm>
            <a:off x="4663440" y="2130552"/>
            <a:ext cx="6355080" cy="411480"/>
          </a:xfrm>
          <a:prstGeom prst="rect">
            <a:avLst/>
          </a:prstGeom>
          <a:noFill/>
        </p:spPr>
        <p:txBody>
          <a:bodyPr wrap="square" lIns="45720" rIns="45720">
            <a:spAutoFit/>
          </a:bodyPr>
          <a:lstStyle/>
          <a:p>
            <a:pPr>
              <a:defRPr sz="1500" b="0">
                <a:solidFill>
                  <a:srgbClr val="5F5B67"/>
                </a:solidFill>
                <a:latin typeface="Aptos"/>
              </a:defRPr>
            </a:pPr>
            <a:r>
              <a:t>Rolling 3-, 6- and 12-month windows; assess regime dependence.</a:t>
            </a:r>
          </a:p>
        </p:txBody>
      </p:sp>
      <p:sp>
        <p:nvSpPr>
          <p:cNvPr id="14" name="Rounded Rectangle 13"/>
          <p:cNvSpPr/>
          <p:nvPr/>
        </p:nvSpPr>
        <p:spPr>
          <a:xfrm>
            <a:off x="822960" y="2916936"/>
            <a:ext cx="10561320" cy="786384"/>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50976" y="3035808"/>
            <a:ext cx="512064" cy="512064"/>
          </a:xfrm>
          <a:prstGeom prst="round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78408" y="3127248"/>
            <a:ext cx="457200" cy="228600"/>
          </a:xfrm>
          <a:prstGeom prst="rect">
            <a:avLst/>
          </a:prstGeom>
          <a:noFill/>
        </p:spPr>
        <p:txBody>
          <a:bodyPr wrap="square" lIns="45720" rIns="45720">
            <a:spAutoFit/>
          </a:bodyPr>
          <a:lstStyle/>
          <a:p>
            <a:pPr algn="ctr">
              <a:defRPr sz="1300" b="1">
                <a:solidFill>
                  <a:srgbClr val="FFFFFF"/>
                </a:solidFill>
                <a:latin typeface="Aptos"/>
              </a:defRPr>
            </a:pPr>
            <a:r>
              <a:t>02</a:t>
            </a:r>
          </a:p>
        </p:txBody>
      </p:sp>
      <p:sp>
        <p:nvSpPr>
          <p:cNvPr id="17" name="TextBox 16"/>
          <p:cNvSpPr txBox="1"/>
          <p:nvPr/>
        </p:nvSpPr>
        <p:spPr>
          <a:xfrm>
            <a:off x="1691640" y="3035808"/>
            <a:ext cx="3017520" cy="365760"/>
          </a:xfrm>
          <a:prstGeom prst="rect">
            <a:avLst/>
          </a:prstGeom>
          <a:noFill/>
        </p:spPr>
        <p:txBody>
          <a:bodyPr wrap="square" lIns="45720" rIns="45720">
            <a:spAutoFit/>
          </a:bodyPr>
          <a:lstStyle/>
          <a:p>
            <a:pPr>
              <a:defRPr sz="1800" b="1">
                <a:solidFill>
                  <a:srgbClr val="2E1B4C"/>
                </a:solidFill>
                <a:latin typeface="Aptos"/>
              </a:defRPr>
            </a:pPr>
            <a:r>
              <a:t>Model actual exposure</a:t>
            </a:r>
          </a:p>
        </p:txBody>
      </p:sp>
      <p:sp>
        <p:nvSpPr>
          <p:cNvPr id="18" name="TextBox 17"/>
          <p:cNvSpPr txBox="1"/>
          <p:nvPr/>
        </p:nvSpPr>
        <p:spPr>
          <a:xfrm>
            <a:off x="4663440" y="3081528"/>
            <a:ext cx="6355080" cy="411480"/>
          </a:xfrm>
          <a:prstGeom prst="rect">
            <a:avLst/>
          </a:prstGeom>
          <a:noFill/>
        </p:spPr>
        <p:txBody>
          <a:bodyPr wrap="square" lIns="45720" rIns="45720">
            <a:spAutoFit/>
          </a:bodyPr>
          <a:lstStyle/>
          <a:p>
            <a:pPr>
              <a:defRPr sz="1500" b="0">
                <a:solidFill>
                  <a:srgbClr val="5F5B67"/>
                </a:solidFill>
                <a:latin typeface="Aptos"/>
              </a:defRPr>
            </a:pPr>
            <a:r>
              <a:t>Add hourly consumption profiles and procurement contracts.</a:t>
            </a:r>
          </a:p>
        </p:txBody>
      </p:sp>
      <p:sp>
        <p:nvSpPr>
          <p:cNvPr id="19" name="Rounded Rectangle 18"/>
          <p:cNvSpPr/>
          <p:nvPr/>
        </p:nvSpPr>
        <p:spPr>
          <a:xfrm>
            <a:off x="822960" y="3867912"/>
            <a:ext cx="10561320" cy="786384"/>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950976" y="3986784"/>
            <a:ext cx="512064" cy="512064"/>
          </a:xfrm>
          <a:prstGeom prst="round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78408" y="4078224"/>
            <a:ext cx="457200" cy="228600"/>
          </a:xfrm>
          <a:prstGeom prst="rect">
            <a:avLst/>
          </a:prstGeom>
          <a:noFill/>
        </p:spPr>
        <p:txBody>
          <a:bodyPr wrap="square" lIns="45720" rIns="45720">
            <a:spAutoFit/>
          </a:bodyPr>
          <a:lstStyle/>
          <a:p>
            <a:pPr algn="ctr">
              <a:defRPr sz="1300" b="1">
                <a:solidFill>
                  <a:srgbClr val="FFFFFF"/>
                </a:solidFill>
                <a:latin typeface="Aptos"/>
              </a:defRPr>
            </a:pPr>
            <a:r>
              <a:t>03</a:t>
            </a:r>
          </a:p>
        </p:txBody>
      </p:sp>
      <p:sp>
        <p:nvSpPr>
          <p:cNvPr id="22" name="TextBox 21"/>
          <p:cNvSpPr txBox="1"/>
          <p:nvPr/>
        </p:nvSpPr>
        <p:spPr>
          <a:xfrm>
            <a:off x="1691640" y="3986784"/>
            <a:ext cx="3017520" cy="365760"/>
          </a:xfrm>
          <a:prstGeom prst="rect">
            <a:avLst/>
          </a:prstGeom>
          <a:noFill/>
        </p:spPr>
        <p:txBody>
          <a:bodyPr wrap="square" lIns="45720" rIns="45720">
            <a:spAutoFit/>
          </a:bodyPr>
          <a:lstStyle/>
          <a:p>
            <a:pPr>
              <a:defRPr sz="1800" b="1">
                <a:solidFill>
                  <a:srgbClr val="2E1B4C"/>
                </a:solidFill>
                <a:latin typeface="Aptos"/>
              </a:defRPr>
            </a:pPr>
            <a:r>
              <a:t>Test instruments</a:t>
            </a:r>
          </a:p>
        </p:txBody>
      </p:sp>
      <p:sp>
        <p:nvSpPr>
          <p:cNvPr id="23" name="TextBox 22"/>
          <p:cNvSpPr txBox="1"/>
          <p:nvPr/>
        </p:nvSpPr>
        <p:spPr>
          <a:xfrm>
            <a:off x="4663440" y="4032504"/>
            <a:ext cx="6355080" cy="411480"/>
          </a:xfrm>
          <a:prstGeom prst="rect">
            <a:avLst/>
          </a:prstGeom>
          <a:noFill/>
        </p:spPr>
        <p:txBody>
          <a:bodyPr wrap="square" lIns="45720" rIns="45720">
            <a:spAutoFit/>
          </a:bodyPr>
          <a:lstStyle/>
          <a:p>
            <a:pPr>
              <a:defRPr sz="1500" b="0">
                <a:solidFill>
                  <a:srgbClr val="5F5B67"/>
                </a:solidFill>
                <a:latin typeface="Aptos"/>
              </a:defRPr>
            </a:pPr>
            <a:r>
              <a:t>Use tradable futures/swaps; account for basis and liquidity risk.</a:t>
            </a:r>
          </a:p>
        </p:txBody>
      </p:sp>
      <p:sp>
        <p:nvSpPr>
          <p:cNvPr id="24" name="Rounded Rectangle 23"/>
          <p:cNvSpPr/>
          <p:nvPr/>
        </p:nvSpPr>
        <p:spPr>
          <a:xfrm>
            <a:off x="822960" y="4818888"/>
            <a:ext cx="10561320" cy="786384"/>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950976" y="4937759"/>
            <a:ext cx="512064" cy="512064"/>
          </a:xfrm>
          <a:prstGeom prst="roundRect">
            <a:avLst/>
          </a:prstGeom>
          <a:solidFill>
            <a:srgbClr val="4E28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 y="5029200"/>
            <a:ext cx="457200" cy="228600"/>
          </a:xfrm>
          <a:prstGeom prst="rect">
            <a:avLst/>
          </a:prstGeom>
          <a:noFill/>
        </p:spPr>
        <p:txBody>
          <a:bodyPr wrap="square" lIns="45720" rIns="45720">
            <a:spAutoFit/>
          </a:bodyPr>
          <a:lstStyle/>
          <a:p>
            <a:pPr algn="ctr">
              <a:defRPr sz="1300" b="1">
                <a:solidFill>
                  <a:srgbClr val="FFFFFF"/>
                </a:solidFill>
                <a:latin typeface="Aptos"/>
              </a:defRPr>
            </a:pPr>
            <a:r>
              <a:t>04</a:t>
            </a:r>
          </a:p>
        </p:txBody>
      </p:sp>
      <p:sp>
        <p:nvSpPr>
          <p:cNvPr id="27" name="TextBox 26"/>
          <p:cNvSpPr txBox="1"/>
          <p:nvPr/>
        </p:nvSpPr>
        <p:spPr>
          <a:xfrm>
            <a:off x="1691640" y="4937759"/>
            <a:ext cx="3017520" cy="365760"/>
          </a:xfrm>
          <a:prstGeom prst="rect">
            <a:avLst/>
          </a:prstGeom>
          <a:noFill/>
        </p:spPr>
        <p:txBody>
          <a:bodyPr wrap="square" lIns="45720" rIns="45720">
            <a:spAutoFit/>
          </a:bodyPr>
          <a:lstStyle/>
          <a:p>
            <a:pPr>
              <a:defRPr sz="1800" b="1">
                <a:solidFill>
                  <a:srgbClr val="2E1B4C"/>
                </a:solidFill>
                <a:latin typeface="Aptos"/>
              </a:defRPr>
            </a:pPr>
            <a:r>
              <a:t>Assess economics</a:t>
            </a:r>
          </a:p>
        </p:txBody>
      </p:sp>
      <p:sp>
        <p:nvSpPr>
          <p:cNvPr id="28" name="TextBox 27"/>
          <p:cNvSpPr txBox="1"/>
          <p:nvPr/>
        </p:nvSpPr>
        <p:spPr>
          <a:xfrm>
            <a:off x="4663440" y="4983479"/>
            <a:ext cx="6355080" cy="411480"/>
          </a:xfrm>
          <a:prstGeom prst="rect">
            <a:avLst/>
          </a:prstGeom>
          <a:noFill/>
        </p:spPr>
        <p:txBody>
          <a:bodyPr wrap="square" lIns="45720" rIns="45720">
            <a:spAutoFit/>
          </a:bodyPr>
          <a:lstStyle/>
          <a:p>
            <a:pPr>
              <a:defRPr sz="1500" b="0">
                <a:solidFill>
                  <a:srgbClr val="5F5B67"/>
                </a:solidFill>
                <a:latin typeface="Aptos"/>
              </a:defRPr>
            </a:pPr>
            <a:r>
              <a:t>Include transaction costs, collateral and realized cash flows.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0" y="0"/>
            <a:ext cx="12191695" cy="118872"/>
          </a:xfrm>
          <a:prstGeom prst="roundRect">
            <a:avLst/>
          </a:prstGeom>
          <a:solidFill>
            <a:srgbClr val="4D28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10896"/>
            <a:ext cx="10972800" cy="320040"/>
          </a:xfrm>
          <a:prstGeom prst="rect">
            <a:avLst/>
          </a:prstGeom>
          <a:noFill/>
        </p:spPr>
        <p:txBody>
          <a:bodyPr wrap="square">
            <a:spAutoFit/>
          </a:bodyPr>
          <a:lstStyle/>
          <a:p>
            <a:pPr>
              <a:defRPr sz="1200" b="1">
                <a:solidFill>
                  <a:srgbClr val="4D287D"/>
                </a:solidFill>
              </a:defRPr>
            </a:pPr>
            <a:r>
              <a:t>CONCLUSION AND LIMITATIONS</a:t>
            </a:r>
          </a:p>
        </p:txBody>
      </p:sp>
      <p:sp>
        <p:nvSpPr>
          <p:cNvPr id="4" name="TextBox 3"/>
          <p:cNvSpPr txBox="1"/>
          <p:nvPr/>
        </p:nvSpPr>
        <p:spPr>
          <a:xfrm>
            <a:off x="548640" y="777240"/>
            <a:ext cx="10972800" cy="594360"/>
          </a:xfrm>
          <a:prstGeom prst="rect">
            <a:avLst/>
          </a:prstGeom>
          <a:noFill/>
        </p:spPr>
        <p:txBody>
          <a:bodyPr wrap="square">
            <a:spAutoFit/>
          </a:bodyPr>
          <a:lstStyle/>
          <a:p>
            <a:pPr>
              <a:defRPr sz="2900" b="1">
                <a:solidFill>
                  <a:srgbClr val="25193D"/>
                </a:solidFill>
              </a:defRPr>
            </a:pPr>
            <a:r>
              <a:t>Which strategy should management choose?</a:t>
            </a:r>
          </a:p>
        </p:txBody>
      </p:sp>
      <p:sp>
        <p:nvSpPr>
          <p:cNvPr id="5" name="TextBox 4"/>
          <p:cNvSpPr txBox="1"/>
          <p:nvPr/>
        </p:nvSpPr>
        <p:spPr>
          <a:xfrm>
            <a:off x="548640" y="1417320"/>
            <a:ext cx="10972800" cy="457200"/>
          </a:xfrm>
          <a:prstGeom prst="rect">
            <a:avLst/>
          </a:prstGeom>
          <a:noFill/>
        </p:spPr>
        <p:txBody>
          <a:bodyPr wrap="square">
            <a:spAutoFit/>
          </a:bodyPr>
          <a:lstStyle/>
          <a:p>
            <a:pPr>
              <a:defRPr sz="1500" b="0">
                <a:solidFill>
                  <a:srgbClr val="65646B"/>
                </a:solidFill>
              </a:defRPr>
            </a:pPr>
            <a:r>
              <a:t>The choice of objective changes allocations more than realized out-of-sample risk</a:t>
            </a:r>
          </a:p>
        </p:txBody>
      </p:sp>
      <p:sp>
        <p:nvSpPr>
          <p:cNvPr id="6" name="TextBox 5"/>
          <p:cNvSpPr txBox="1"/>
          <p:nvPr/>
        </p:nvSpPr>
        <p:spPr>
          <a:xfrm>
            <a:off x="548640" y="6446520"/>
            <a:ext cx="10058400" cy="182880"/>
          </a:xfrm>
          <a:prstGeom prst="rect">
            <a:avLst/>
          </a:prstGeom>
          <a:noFill/>
        </p:spPr>
        <p:txBody>
          <a:bodyPr wrap="square">
            <a:spAutoFit/>
          </a:bodyPr>
          <a:lstStyle/>
          <a:p>
            <a:pPr>
              <a:defRPr sz="1000" b="0">
                <a:solidFill>
                  <a:srgbClr val="65646B"/>
                </a:solidFill>
              </a:defRPr>
            </a:pPr>
            <a:r>
              <a:t>NEOMA  |  Electricity Price Risk Hedging  •  Statistical spot-price proxy</a:t>
            </a:r>
          </a:p>
        </p:txBody>
      </p:sp>
      <p:sp>
        <p:nvSpPr>
          <p:cNvPr id="7" name="TextBox 6"/>
          <p:cNvSpPr txBox="1"/>
          <p:nvPr/>
        </p:nvSpPr>
        <p:spPr>
          <a:xfrm>
            <a:off x="11201400" y="6419088"/>
            <a:ext cx="411480" cy="228600"/>
          </a:xfrm>
          <a:prstGeom prst="rect">
            <a:avLst/>
          </a:prstGeom>
          <a:noFill/>
        </p:spPr>
        <p:txBody>
          <a:bodyPr wrap="square">
            <a:spAutoFit/>
          </a:bodyPr>
          <a:lstStyle/>
          <a:p>
            <a:pPr>
              <a:defRPr sz="1000" b="0">
                <a:solidFill>
                  <a:srgbClr val="65646B"/>
                </a:solidFill>
              </a:defRPr>
            </a:pPr>
            <a:r>
              <a:t>19</a:t>
            </a:r>
          </a:p>
        </p:txBody>
      </p:sp>
      <p:sp>
        <p:nvSpPr>
          <p:cNvPr id="8" name="Rounded Rectangle 7"/>
          <p:cNvSpPr/>
          <p:nvPr/>
        </p:nvSpPr>
        <p:spPr>
          <a:xfrm>
            <a:off x="640080" y="2011680"/>
            <a:ext cx="5303520" cy="329184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263640" y="2011680"/>
            <a:ext cx="5303520" cy="3291840"/>
          </a:xfrm>
          <a:prstGeom prst="roundRect">
            <a:avLst/>
          </a:prstGeom>
          <a:solidFill>
            <a:srgbClr val="F6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2331720"/>
            <a:ext cx="4754880" cy="457200"/>
          </a:xfrm>
          <a:prstGeom prst="rect">
            <a:avLst/>
          </a:prstGeom>
          <a:noFill/>
        </p:spPr>
        <p:txBody>
          <a:bodyPr wrap="square">
            <a:spAutoFit/>
          </a:bodyPr>
          <a:lstStyle/>
          <a:p>
            <a:pPr>
              <a:defRPr sz="1900" b="1">
                <a:solidFill>
                  <a:srgbClr val="4D287D"/>
                </a:solidFill>
              </a:defRPr>
            </a:pPr>
            <a:r>
              <a:t>CVaR 95% : slight advantage</a:t>
            </a:r>
          </a:p>
        </p:txBody>
      </p:sp>
      <p:sp>
        <p:nvSpPr>
          <p:cNvPr id="11" name="TextBox 10"/>
          <p:cNvSpPr txBox="1"/>
          <p:nvPr/>
        </p:nvSpPr>
        <p:spPr>
          <a:xfrm>
            <a:off x="960120" y="3017520"/>
            <a:ext cx="4572000" cy="1737360"/>
          </a:xfrm>
          <a:prstGeom prst="rect">
            <a:avLst/>
          </a:prstGeom>
          <a:noFill/>
        </p:spPr>
        <p:txBody>
          <a:bodyPr wrap="square">
            <a:spAutoFit/>
          </a:bodyPr>
          <a:lstStyle/>
          <a:p>
            <a:pPr>
              <a:defRPr sz="1600" b="0">
                <a:solidFill>
                  <a:srgbClr val="25193D"/>
                </a:solidFill>
              </a:defRPr>
            </a:pPr>
            <a:r>
              <a:t>Lowest observed CVaR 95% (18.250) and standard deviation (7.318).</a:t>
            </a:r>
          </a:p>
          <a:p>
            <a:pPr>
              <a:defRPr sz="1600" b="0">
                <a:solidFill>
                  <a:srgbClr val="25193D"/>
                </a:solidFill>
              </a:defRPr>
            </a:pPr>
            <a:endParaRPr/>
          </a:p>
          <a:p>
            <a:pPr>
              <a:defRPr sz="1600" b="0">
                <a:solidFill>
                  <a:srgbClr val="25193D"/>
                </a:solidFill>
              </a:defRPr>
            </a:pPr>
            <a:r>
              <a:t>Only 0.072 EUR/MWh below minimum variance on CVaR 95%.</a:t>
            </a:r>
          </a:p>
        </p:txBody>
      </p:sp>
      <p:sp>
        <p:nvSpPr>
          <p:cNvPr id="12" name="TextBox 11"/>
          <p:cNvSpPr txBox="1"/>
          <p:nvPr/>
        </p:nvSpPr>
        <p:spPr>
          <a:xfrm>
            <a:off x="6583680" y="2331720"/>
            <a:ext cx="4572000" cy="457200"/>
          </a:xfrm>
          <a:prstGeom prst="rect">
            <a:avLst/>
          </a:prstGeom>
          <a:noFill/>
        </p:spPr>
        <p:txBody>
          <a:bodyPr wrap="square">
            <a:spAutoFit/>
          </a:bodyPr>
          <a:lstStyle/>
          <a:p>
            <a:pPr>
              <a:defRPr sz="1900" b="1">
                <a:solidFill>
                  <a:srgbClr val="4D287D"/>
                </a:solidFill>
              </a:defRPr>
            </a:pPr>
            <a:r>
              <a:t>Minimum variance : robust benchmark</a:t>
            </a:r>
          </a:p>
        </p:txBody>
      </p:sp>
      <p:sp>
        <p:nvSpPr>
          <p:cNvPr id="13" name="TextBox 12"/>
          <p:cNvSpPr txBox="1"/>
          <p:nvPr/>
        </p:nvSpPr>
        <p:spPr>
          <a:xfrm>
            <a:off x="6583680" y="3017520"/>
            <a:ext cx="4572000" cy="1737360"/>
          </a:xfrm>
          <a:prstGeom prst="rect">
            <a:avLst/>
          </a:prstGeom>
          <a:noFill/>
        </p:spPr>
        <p:txBody>
          <a:bodyPr wrap="square">
            <a:spAutoFit/>
          </a:bodyPr>
          <a:lstStyle/>
          <a:p>
            <a:pPr>
              <a:defRPr sz="1600" b="0">
                <a:solidFill>
                  <a:srgbClr val="25193D"/>
                </a:solidFill>
              </a:defRPr>
            </a:pPr>
            <a:r>
              <a:t>Lowest observed CVaR 99% (34.620).</a:t>
            </a:r>
          </a:p>
          <a:p>
            <a:pPr>
              <a:defRPr sz="1600" b="0">
                <a:solidFill>
                  <a:srgbClr val="25193D"/>
                </a:solidFill>
              </a:defRPr>
            </a:pPr>
            <a:endParaRPr/>
          </a:p>
          <a:p>
            <a:pPr>
              <a:defRPr sz="1600" b="0">
                <a:solidFill>
                  <a:srgbClr val="25193D"/>
                </a:solidFill>
              </a:defRPr>
            </a:pPr>
            <a:r>
              <a:t>Simple objective and nearly identical out-of-sample protection.</a:t>
            </a:r>
          </a:p>
        </p:txBody>
      </p:sp>
      <p:sp>
        <p:nvSpPr>
          <p:cNvPr id="14" name="TextBox 13"/>
          <p:cNvSpPr txBox="1"/>
          <p:nvPr/>
        </p:nvSpPr>
        <p:spPr>
          <a:xfrm>
            <a:off x="777240" y="5623560"/>
            <a:ext cx="10881360" cy="548640"/>
          </a:xfrm>
          <a:prstGeom prst="rect">
            <a:avLst/>
          </a:prstGeom>
          <a:noFill/>
        </p:spPr>
        <p:txBody>
          <a:bodyPr wrap="square">
            <a:spAutoFit/>
          </a:bodyPr>
          <a:lstStyle/>
          <a:p>
            <a:pPr>
              <a:defRPr sz="1600" b="1">
                <a:solidFill>
                  <a:srgbClr val="20856B"/>
                </a:solidFill>
              </a:defRPr>
            </a:pPr>
            <a:r>
              <a:t>Recommendation: validate rolling stability and tradable hedge cash flows before implementation.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2813</TotalTime>
  <Words>2473</Words>
  <Application>Microsoft Office PowerPoint</Application>
  <PresentationFormat>Grand écran</PresentationFormat>
  <Paragraphs>203</Paragraphs>
  <Slides>20</Slides>
  <Notes>20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20</vt:i4>
      </vt:variant>
    </vt:vector>
  </HeadingPairs>
  <TitlesOfParts>
    <vt:vector size="28" baseType="lpstr">
      <vt:lpstr>Arial</vt:lpstr>
      <vt:lpstr>Calibri</vt:lpstr>
      <vt:lpstr>Calibri Light</vt:lpstr>
      <vt:lpstr>Cambria</vt:lpstr>
      <vt:lpstr>LMRoman12-Regular</vt:lpstr>
      <vt:lpstr>Open Sans</vt:lpstr>
      <vt:lpstr>Times New Roman</vt:lpstr>
      <vt:lpstr>Thème Office</vt:lpstr>
      <vt:lpstr>Présentation PowerPoint</vt:lpstr>
      <vt:lpstr>Présentation PowerPoint</vt:lpstr>
      <vt:lpstr>Motivation and Research Questions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Akram Sohaib Benaissa</dc:creator>
  <cp:lastModifiedBy>Akram Sohaib Benaissa</cp:lastModifiedBy>
  <cp:revision>5</cp:revision>
  <dcterms:created xsi:type="dcterms:W3CDTF">2026-10-26T10:56:49Z</dcterms:created>
  <dcterms:modified xsi:type="dcterms:W3CDTF">2026-10-28T10:25:46Z</dcterms:modified>
</cp:coreProperties>
</file>